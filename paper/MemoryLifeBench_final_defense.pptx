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value</c:v>
                </c:pt>
              </c:strCache>
            </c:strRef>
          </c:tx>
          <c:dPt>
            <c:idx val="0"/>
            <c:spPr>
              <a:solidFill>
                <a:srgbClr val="2A78D6"/>
              </a:solidFill>
              <a:ln>
                <a:noFill/>
              </a:ln>
            </c:spPr>
          </c:dPt>
          <c:dPt>
            <c:idx val="1"/>
            <c:spPr>
              <a:solidFill>
                <a:srgbClr val="EB6834"/>
              </a:solidFill>
              <a:ln>
                <a:noFill/>
              </a:ln>
            </c:spPr>
          </c:dPt>
          <c:dPt>
            <c:idx val="2"/>
            <c:spPr>
              <a:solidFill>
                <a:srgbClr val="1BAF7A"/>
              </a:solidFill>
              <a:ln>
                <a:noFill/>
              </a:ln>
            </c:spPr>
          </c:dPt>
          <c:dPt>
            <c:idx val="3"/>
            <c:spPr>
              <a:solidFill>
                <a:srgbClr val="EDA100"/>
              </a:solidFill>
              <a:ln>
                <a:noFill/>
              </a:ln>
            </c:spPr>
          </c:dPt>
          <c:dPt>
            <c:idx val="4"/>
            <c:spPr>
              <a:solidFill>
                <a:srgbClr val="E87BA4"/>
              </a:solidFill>
              <a:ln>
                <a:noFill/>
              </a:ln>
            </c:spPr>
          </c:dPt>
          <c:dPt>
            <c:idx val="5"/>
            <c:spPr>
              <a:solidFill>
                <a:srgbClr val="008300"/>
              </a:solidFill>
              <a:ln>
                <a:noFill/>
              </a:ln>
            </c:spPr>
          </c:dPt>
          <c:dLbls>
            <c:numFmt formatCode="0.00" sourceLinked="0"/>
            <c:txPr>
              <a:bodyPr/>
              <a:lstStyle/>
              <a:p>
                <a:pPr>
                  <a:defRPr sz="1200" b="1">
                    <a:solidFill>
                      <a:srgbClr val="0B0B0B"/>
                    </a:solidFill>
                  </a:defRPr>
                </a:pPr>
              </a:p>
            </c:txPr>
            <c:showLegendKey val="0"/>
            <c:showVal val="1"/>
            <c:showCatName val="0"/>
            <c:showSerName val="0"/>
            <c:showPercent val="0"/>
            <c:showBubbleSize val="0"/>
            <c:showLeaderLines val="1"/>
          </c:dLbls>
          <c:cat>
            <c:strRef>
              <c:f>Sheet1!$A$2:$A$7</c:f>
              <c:strCache>
                <c:ptCount val="6"/>
                <c:pt idx="0">
                  <c:v>Our model</c:v>
                </c:pt>
                <c:pt idx="1">
                  <c:v>Bucket
classifier</c:v>
                </c:pt>
                <c:pt idx="2">
                  <c:v>GPT-4o</c:v>
                </c:pt>
                <c:pt idx="3">
                  <c:v>Qwen2.5-7B</c:v>
                </c:pt>
                <c:pt idx="4">
                  <c:v>Gemini
2.5 Pro</c:v>
                </c:pt>
                <c:pt idx="5">
                  <c:v>Recency
heuristic</c:v>
                </c:pt>
              </c:strCache>
            </c:strRef>
          </c:cat>
          <c:val>
            <c:numRef>
              <c:f>Sheet1!$B$2:$B$7</c:f>
              <c:numCache>
                <c:formatCode>General</c:formatCode>
                <c:ptCount val="6"/>
                <c:pt idx="0">
                  <c:v>0.7218</c:v>
                </c:pt>
                <c:pt idx="1">
                  <c:v>0.6298</c:v>
                </c:pt>
                <c:pt idx="2">
                  <c:v>0.5411</c:v>
                </c:pt>
                <c:pt idx="3">
                  <c:v>0.5207</c:v>
                </c:pt>
                <c:pt idx="4">
                  <c:v>0.4806</c:v>
                </c:pt>
                <c:pt idx="5">
                  <c:v>0.4753</c:v>
                </c:pt>
              </c:numCache>
            </c:numRef>
          </c:val>
        </c:ser>
        <c:gapWidth val="60"/>
        <c:axId val="-2068027336"/>
        <c:axId val="-2113994440"/>
      </c:barChart>
      <c:catAx>
        <c:axId val="-2068027336"/>
        <c:scaling>
          <c:orientation val="minMax"/>
        </c:scaling>
        <c:delete val="0"/>
        <c:axPos val="b"/>
        <c:majorTickMark val="none"/>
        <c:minorTickMark val="none"/>
        <c:tickLblPos val="nextTo"/>
        <c:spPr>
          <a:ln>
            <a:solidFill>
              <a:srgbClr val="E1E0D9"/>
            </a:solidFill>
          </a:ln>
        </c:spPr>
        <c:txPr>
          <a:bodyPr/>
          <a:lstStyle/>
          <a:p>
            <a:pPr>
              <a:defRPr sz="1200">
                <a:solidFill>
                  <a:srgbClr val="52514E"/>
                </a:solidFill>
              </a:defRPr>
            </a:pPr>
          </a:p>
        </c:txPr>
        <c:crossAx val="-2113994440"/>
        <c:crosses val="autoZero"/>
        <c:auto val="1"/>
        <c:lblAlgn val="ctr"/>
        <c:lblOffset val="100"/>
        <c:noMultiLvlLbl val="0"/>
      </c:catAx>
      <c:valAx>
        <c:axId val="-2113994440"/>
        <c:scaling>
          <c:max val="0.8"/>
        </c:scaling>
        <c:delete val="0"/>
        <c:axPos val="l"/>
        <c:majorGridlines>
          <c:spPr>
            <a:ln w="6350">
              <a:solidFill>
                <a:srgbClr val="E1E0D9"/>
              </a:solidFill>
            </a:ln>
          </c:spPr>
        </c:majorGridlines>
        <c:numFmt formatCode="0.00" sourceLinked="0"/>
        <c:majorTickMark val="out"/>
        <c:minorTickMark val="none"/>
        <c:tickLblPos val="nextTo"/>
        <c:spPr>
          <a:ln>
            <a:noFill/>
          </a:ln>
        </c:spPr>
        <c:txPr>
          <a:bodyPr/>
          <a:lstStyle/>
          <a:p>
            <a:pPr>
              <a:defRPr sz="1000">
                <a:solidFill>
                  <a:srgbClr val="898781"/>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value</c:v>
                </c:pt>
              </c:strCache>
            </c:strRef>
          </c:tx>
          <c:dPt>
            <c:idx val="0"/>
            <c:spPr>
              <a:solidFill>
                <a:srgbClr val="2A78D6"/>
              </a:solidFill>
              <a:ln>
                <a:noFill/>
              </a:ln>
            </c:spPr>
          </c:dPt>
          <c:dPt>
            <c:idx val="1"/>
            <c:spPr>
              <a:solidFill>
                <a:srgbClr val="1BAF7A"/>
              </a:solidFill>
              <a:ln>
                <a:noFill/>
              </a:ln>
            </c:spPr>
          </c:dPt>
          <c:dPt>
            <c:idx val="2"/>
            <c:spPr>
              <a:solidFill>
                <a:srgbClr val="EDA100"/>
              </a:solidFill>
              <a:ln>
                <a:noFill/>
              </a:ln>
            </c:spPr>
          </c:dPt>
          <c:dPt>
            <c:idx val="3"/>
            <c:spPr>
              <a:solidFill>
                <a:srgbClr val="E87BA4"/>
              </a:solidFill>
              <a:ln>
                <a:noFill/>
              </a:ln>
            </c:spPr>
          </c:dPt>
          <c:dLbls>
            <c:numFmt formatCode="0.00" sourceLinked="0"/>
            <c:txPr>
              <a:bodyPr/>
              <a:lstStyle/>
              <a:p>
                <a:pPr>
                  <a:defRPr sz="1200" b="1">
                    <a:solidFill>
                      <a:srgbClr val="0B0B0B"/>
                    </a:solidFill>
                  </a:defRPr>
                </a:pPr>
              </a:p>
            </c:txPr>
            <c:showLegendKey val="0"/>
            <c:showVal val="1"/>
            <c:showCatName val="0"/>
            <c:showSerName val="0"/>
            <c:showPercent val="0"/>
            <c:showBubbleSize val="0"/>
            <c:showLeaderLines val="1"/>
          </c:dLbls>
          <c:cat>
            <c:strRef>
              <c:f>Sheet1!$A$2:$A$5</c:f>
              <c:strCache>
                <c:ptCount val="4"/>
                <c:pt idx="0">
                  <c:v>Single-task
(5 seeds)</c:v>
                </c:pt>
                <c:pt idx="1">
                  <c:v>+ BGE-large
encoder</c:v>
                </c:pt>
                <c:pt idx="2">
                  <c:v>Joint model,
gated fusion</c:v>
                </c:pt>
                <c:pt idx="3">
                  <c:v>Joint model,
concat fusion</c:v>
                </c:pt>
              </c:strCache>
            </c:strRef>
          </c:cat>
          <c:val>
            <c:numRef>
              <c:f>Sheet1!$B$2:$B$5</c:f>
              <c:numCache>
                <c:formatCode>General</c:formatCode>
                <c:ptCount val="4"/>
                <c:pt idx="0">
                  <c:v>0.7312</c:v>
                </c:pt>
                <c:pt idx="1">
                  <c:v>0.7382</c:v>
                </c:pt>
                <c:pt idx="2">
                  <c:v>0.7304</c:v>
                </c:pt>
                <c:pt idx="3">
                  <c:v>0.7553</c:v>
                </c:pt>
              </c:numCache>
            </c:numRef>
          </c:val>
        </c:ser>
        <c:gapWidth val="60"/>
        <c:axId val="-2068027336"/>
        <c:axId val="-2113994440"/>
      </c:barChart>
      <c:catAx>
        <c:axId val="-2068027336"/>
        <c:scaling>
          <c:orientation val="minMax"/>
        </c:scaling>
        <c:delete val="0"/>
        <c:axPos val="b"/>
        <c:majorTickMark val="none"/>
        <c:minorTickMark val="none"/>
        <c:tickLblPos val="nextTo"/>
        <c:spPr>
          <a:ln>
            <a:solidFill>
              <a:srgbClr val="E1E0D9"/>
            </a:solidFill>
          </a:ln>
        </c:spPr>
        <c:txPr>
          <a:bodyPr/>
          <a:lstStyle/>
          <a:p>
            <a:pPr>
              <a:defRPr sz="1200">
                <a:solidFill>
                  <a:srgbClr val="52514E"/>
                </a:solidFill>
              </a:defRPr>
            </a:pPr>
          </a:p>
        </c:txPr>
        <c:crossAx val="-2113994440"/>
        <c:crosses val="autoZero"/>
        <c:auto val="1"/>
        <c:lblAlgn val="ctr"/>
        <c:lblOffset val="100"/>
        <c:noMultiLvlLbl val="0"/>
      </c:catAx>
      <c:valAx>
        <c:axId val="-2113994440"/>
        <c:scaling>
          <c:max val="0.85"/>
        </c:scaling>
        <c:delete val="0"/>
        <c:axPos val="l"/>
        <c:majorGridlines>
          <c:spPr>
            <a:ln w="6350">
              <a:solidFill>
                <a:srgbClr val="E1E0D9"/>
              </a:solidFill>
            </a:ln>
          </c:spPr>
        </c:majorGridlines>
        <c:numFmt formatCode="0.00" sourceLinked="0"/>
        <c:majorTickMark val="out"/>
        <c:minorTickMark val="none"/>
        <c:tickLblPos val="nextTo"/>
        <c:spPr>
          <a:ln>
            <a:noFill/>
          </a:ln>
        </c:spPr>
        <c:txPr>
          <a:bodyPr/>
          <a:lstStyle/>
          <a:p>
            <a:pPr>
              <a:defRPr sz="1000">
                <a:solidFill>
                  <a:srgbClr val="898781"/>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Mean EM</c:v>
                </c:pt>
              </c:strCache>
            </c:strRef>
          </c:tx>
          <c:spPr>
            <a:solidFill>
              <a:srgbClr val="2A78D6"/>
            </a:solidFill>
            <a:ln>
              <a:noFill/>
            </a:ln>
          </c:spPr>
          <c:dLbls>
            <c:numFmt formatCode="0.00" sourceLinked="0"/>
            <c:txPr>
              <a:bodyPr/>
              <a:lstStyle/>
              <a:p>
                <a:pPr>
                  <a:defRPr sz="1050" b="1">
                    <a:solidFill>
                      <a:srgbClr val="0B0B0B"/>
                    </a:solidFill>
                  </a:defRPr>
                </a:pPr>
              </a:p>
            </c:txPr>
            <c:showLegendKey val="0"/>
            <c:showVal val="1"/>
            <c:showCatName val="0"/>
            <c:showSerName val="0"/>
            <c:showPercent val="0"/>
            <c:showBubbleSize val="0"/>
            <c:showLeaderLines val="1"/>
          </c:dLbls>
          <c:cat>
            <c:strRef>
              <c:f>Sheet1!$A$2:$A$5</c:f>
              <c:strCache>
                <c:ptCount val="4"/>
                <c:pt idx="0">
                  <c:v>no_forget
(ceiling)</c:v>
                </c:pt>
                <c:pt idx="1">
                  <c:v>fifo</c:v>
                </c:pt>
                <c:pt idx="2">
                  <c:v>lru</c:v>
                </c:pt>
                <c:pt idx="3">
                  <c:v>ours</c:v>
                </c:pt>
              </c:strCache>
            </c:strRef>
          </c:cat>
          <c:val>
            <c:numRef>
              <c:f>Sheet1!$B$2:$B$5</c:f>
              <c:numCache>
                <c:formatCode>General</c:formatCode>
                <c:ptCount val="4"/>
                <c:pt idx="0">
                  <c:v>0.1706</c:v>
                </c:pt>
                <c:pt idx="1">
                  <c:v>0.1316</c:v>
                </c:pt>
                <c:pt idx="2">
                  <c:v>0.1245</c:v>
                </c:pt>
                <c:pt idx="3">
                  <c:v>0.1102</c:v>
                </c:pt>
              </c:numCache>
            </c:numRef>
          </c:val>
        </c:ser>
        <c:ser>
          <c:idx val="1"/>
          <c:order val="1"/>
          <c:tx>
            <c:strRef>
              <c:f>Sheet1!$C$1</c:f>
              <c:strCache>
                <c:ptCount val="1"/>
                <c:pt idx="0">
                  <c:v>Mean F1</c:v>
                </c:pt>
              </c:strCache>
            </c:strRef>
          </c:tx>
          <c:spPr>
            <a:solidFill>
              <a:srgbClr val="EB6834"/>
            </a:solidFill>
            <a:ln>
              <a:noFill/>
            </a:ln>
          </c:spPr>
          <c:dLbls>
            <c:numFmt formatCode="0.00" sourceLinked="0"/>
            <c:txPr>
              <a:bodyPr/>
              <a:lstStyle/>
              <a:p>
                <a:pPr>
                  <a:defRPr sz="1050" b="1">
                    <a:solidFill>
                      <a:srgbClr val="0B0B0B"/>
                    </a:solidFill>
                  </a:defRPr>
                </a:pPr>
              </a:p>
            </c:txPr>
            <c:showLegendKey val="0"/>
            <c:showVal val="1"/>
            <c:showCatName val="0"/>
            <c:showSerName val="0"/>
            <c:showPercent val="0"/>
            <c:showBubbleSize val="0"/>
            <c:showLeaderLines val="1"/>
          </c:dLbls>
          <c:cat>
            <c:strRef>
              <c:f>Sheet1!$A$2:$A$5</c:f>
              <c:strCache>
                <c:ptCount val="4"/>
                <c:pt idx="0">
                  <c:v>no_forget
(ceiling)</c:v>
                </c:pt>
                <c:pt idx="1">
                  <c:v>fifo</c:v>
                </c:pt>
                <c:pt idx="2">
                  <c:v>lru</c:v>
                </c:pt>
                <c:pt idx="3">
                  <c:v>ours</c:v>
                </c:pt>
              </c:strCache>
            </c:strRef>
          </c:cat>
          <c:val>
            <c:numRef>
              <c:f>Sheet1!$C$2:$C$5</c:f>
              <c:numCache>
                <c:formatCode>General</c:formatCode>
                <c:ptCount val="4"/>
                <c:pt idx="0">
                  <c:v>0.3007</c:v>
                </c:pt>
                <c:pt idx="1">
                  <c:v>0.2347</c:v>
                </c:pt>
                <c:pt idx="2">
                  <c:v>0.2319</c:v>
                </c:pt>
                <c:pt idx="3">
                  <c:v>0.2054</c:v>
                </c:pt>
              </c:numCache>
            </c:numRef>
          </c:val>
        </c:ser>
        <c:gapWidth val="90"/>
        <c:overlap val="-10"/>
        <c:axId val="-2068027336"/>
        <c:axId val="-2113994440"/>
      </c:barChart>
      <c:catAx>
        <c:axId val="-2068027336"/>
        <c:scaling>
          <c:orientation val="minMax"/>
        </c:scaling>
        <c:delete val="0"/>
        <c:axPos val="b"/>
        <c:majorTickMark val="none"/>
        <c:minorTickMark val="none"/>
        <c:tickLblPos val="nextTo"/>
        <c:spPr>
          <a:ln>
            <a:solidFill>
              <a:srgbClr val="E1E0D9"/>
            </a:solidFill>
          </a:ln>
        </c:spPr>
        <c:txPr>
          <a:bodyPr/>
          <a:lstStyle/>
          <a:p>
            <a:pPr>
              <a:defRPr sz="1200">
                <a:solidFill>
                  <a:srgbClr val="52514E"/>
                </a:solidFill>
              </a:defRPr>
            </a:pPr>
          </a:p>
        </c:txPr>
        <c:crossAx val="-2113994440"/>
        <c:crosses val="autoZero"/>
        <c:auto val="1"/>
        <c:lblAlgn val="ctr"/>
        <c:lblOffset val="100"/>
        <c:noMultiLvlLbl val="0"/>
      </c:catAx>
      <c:valAx>
        <c:axId val="-2113994440"/>
        <c:scaling>
          <c:max val="0.35"/>
        </c:scaling>
        <c:delete val="0"/>
        <c:axPos val="l"/>
        <c:majorGridlines>
          <c:spPr>
            <a:ln w="6350">
              <a:solidFill>
                <a:srgbClr val="E1E0D9"/>
              </a:solidFill>
            </a:ln>
          </c:spPr>
        </c:majorGridlines>
        <c:numFmt formatCode="0.00" sourceLinked="0"/>
        <c:majorTickMark val="out"/>
        <c:minorTickMark val="none"/>
        <c:tickLblPos val="nextTo"/>
        <c:spPr>
          <a:ln>
            <a:noFill/>
          </a:ln>
        </c:spPr>
        <c:txPr>
          <a:bodyPr/>
          <a:lstStyle/>
          <a:p>
            <a:pPr>
              <a:defRPr sz="1000">
                <a:solidFill>
                  <a:srgbClr val="898781"/>
                </a:solidFill>
              </a:defRPr>
            </a:pPr>
          </a:p>
        </c:txPr>
        <c:crossAx val="-2068027336"/>
        <c:crosses val="autoZero"/>
      </c:valAx>
    </c:plotArea>
    <c:legend>
      <c:legendPos val="b"/>
      <c:overlay val="0"/>
      <c:txPr>
        <a:bodyPr/>
        <a:lstStyle/>
        <a:p>
          <a:pPr>
            <a:defRPr sz="1200">
              <a:solidFill>
                <a:srgbClr val="52514E"/>
              </a:solidFill>
            </a:defRPr>
          </a:pPr>
        </a:p>
      </c:txPr>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value</c:v>
                </c:pt>
              </c:strCache>
            </c:strRef>
          </c:tx>
          <c:dPt>
            <c:idx val="0"/>
            <c:spPr>
              <a:solidFill>
                <a:srgbClr val="2A78D6"/>
              </a:solidFill>
              <a:ln>
                <a:noFill/>
              </a:ln>
            </c:spPr>
          </c:dPt>
          <c:dPt>
            <c:idx val="1"/>
            <c:spPr>
              <a:solidFill>
                <a:srgbClr val="1BAF7A"/>
              </a:solidFill>
              <a:ln>
                <a:noFill/>
              </a:ln>
            </c:spPr>
          </c:dPt>
          <c:dPt>
            <c:idx val="2"/>
            <c:spPr>
              <a:solidFill>
                <a:srgbClr val="EB6834"/>
              </a:solidFill>
              <a:ln>
                <a:noFill/>
              </a:ln>
            </c:spPr>
          </c:dPt>
          <c:dPt>
            <c:idx val="3"/>
            <c:spPr>
              <a:solidFill>
                <a:srgbClr val="EDA100"/>
              </a:solidFill>
              <a:ln>
                <a:noFill/>
              </a:ln>
            </c:spPr>
          </c:dPt>
          <c:dLbls>
            <c:numFmt formatCode="0.00" sourceLinked="0"/>
            <c:txPr>
              <a:bodyPr/>
              <a:lstStyle/>
              <a:p>
                <a:pPr>
                  <a:defRPr sz="1200" b="1">
                    <a:solidFill>
                      <a:srgbClr val="0B0B0B"/>
                    </a:solidFill>
                  </a:defRPr>
                </a:pPr>
              </a:p>
            </c:txPr>
            <c:showLegendKey val="0"/>
            <c:showVal val="1"/>
            <c:showCatName val="0"/>
            <c:showSerName val="0"/>
            <c:showPercent val="0"/>
            <c:showBubbleSize val="0"/>
            <c:showLeaderLines val="1"/>
          </c:dLbls>
          <c:cat>
            <c:strRef>
              <c:f>Sheet1!$A$2:$A$5</c:f>
              <c:strCache>
                <c:ptCount val="4"/>
                <c:pt idx="0">
                  <c:v>no_forget</c:v>
                </c:pt>
                <c:pt idx="1">
                  <c:v>lru</c:v>
                </c:pt>
                <c:pt idx="2">
                  <c:v>fifo</c:v>
                </c:pt>
                <c:pt idx="3">
                  <c:v>ours</c:v>
                </c:pt>
              </c:strCache>
            </c:strRef>
          </c:cat>
          <c:val>
            <c:numRef>
              <c:f>Sheet1!$B$2:$B$5</c:f>
              <c:numCache>
                <c:formatCode>General</c:formatCode>
                <c:ptCount val="4"/>
                <c:pt idx="0">
                  <c:v>1.0</c:v>
                </c:pt>
                <c:pt idx="1">
                  <c:v>0.7676</c:v>
                </c:pt>
                <c:pt idx="2">
                  <c:v>0.7247</c:v>
                </c:pt>
                <c:pt idx="3">
                  <c:v>0.6687</c:v>
                </c:pt>
              </c:numCache>
            </c:numRef>
          </c:val>
        </c:ser>
        <c:gapWidth val="60"/>
        <c:axId val="-2068027336"/>
        <c:axId val="-2113994440"/>
      </c:barChart>
      <c:catAx>
        <c:axId val="-2068027336"/>
        <c:scaling>
          <c:orientation val="minMax"/>
        </c:scaling>
        <c:delete val="0"/>
        <c:axPos val="b"/>
        <c:majorTickMark val="none"/>
        <c:minorTickMark val="none"/>
        <c:tickLblPos val="nextTo"/>
        <c:spPr>
          <a:ln>
            <a:solidFill>
              <a:srgbClr val="E1E0D9"/>
            </a:solidFill>
          </a:ln>
        </c:spPr>
        <c:txPr>
          <a:bodyPr/>
          <a:lstStyle/>
          <a:p>
            <a:pPr>
              <a:defRPr sz="1200">
                <a:solidFill>
                  <a:srgbClr val="52514E"/>
                </a:solidFill>
              </a:defRPr>
            </a:pPr>
          </a:p>
        </c:txPr>
        <c:crossAx val="-2113994440"/>
        <c:crosses val="autoZero"/>
        <c:auto val="1"/>
        <c:lblAlgn val="ctr"/>
        <c:lblOffset val="100"/>
        <c:noMultiLvlLbl val="0"/>
      </c:catAx>
      <c:valAx>
        <c:axId val="-2113994440"/>
        <c:scaling>
          <c:max val="1.15"/>
        </c:scaling>
        <c:delete val="0"/>
        <c:axPos val="l"/>
        <c:majorGridlines>
          <c:spPr>
            <a:ln w="6350">
              <a:solidFill>
                <a:srgbClr val="E1E0D9"/>
              </a:solidFill>
            </a:ln>
          </c:spPr>
        </c:majorGridlines>
        <c:numFmt formatCode="0.00" sourceLinked="0"/>
        <c:majorTickMark val="out"/>
        <c:minorTickMark val="none"/>
        <c:tickLblPos val="nextTo"/>
        <c:spPr>
          <a:ln>
            <a:noFill/>
          </a:ln>
        </c:spPr>
        <c:txPr>
          <a:bodyPr/>
          <a:lstStyle/>
          <a:p>
            <a:pPr>
              <a:defRPr sz="1000">
                <a:solidFill>
                  <a:srgbClr val="898781"/>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fifo</c:v>
                </c:pt>
              </c:strCache>
            </c:strRef>
          </c:tx>
          <c:spPr>
            <a:solidFill>
              <a:srgbClr val="EB6834"/>
            </a:solidFill>
            <a:ln>
              <a:noFill/>
            </a:ln>
          </c:spPr>
          <c:dLbls>
            <c:numFmt formatCode="0.00" sourceLinked="0"/>
            <c:txPr>
              <a:bodyPr/>
              <a:lstStyle/>
              <a:p>
                <a:pPr>
                  <a:defRPr sz="1050" b="1">
                    <a:solidFill>
                      <a:srgbClr val="0B0B0B"/>
                    </a:solidFill>
                  </a:defRPr>
                </a:pPr>
              </a:p>
            </c:txPr>
            <c:showLegendKey val="0"/>
            <c:showVal val="1"/>
            <c:showCatName val="0"/>
            <c:showSerName val="0"/>
            <c:showPercent val="0"/>
            <c:showBubbleSize val="0"/>
            <c:showLeaderLines val="1"/>
          </c:dLbls>
          <c:cat>
            <c:strRef>
              <c:f>Sheet1!$A$2:$A$4</c:f>
              <c:strCache>
                <c:ptCount val="3"/>
                <c:pt idx="0">
                  <c:v>0.5
(original)</c:v>
                </c:pt>
                <c:pt idx="1">
                  <c:v>0.2</c:v>
                </c:pt>
                <c:pt idx="2">
                  <c:v>0.1</c:v>
                </c:pt>
              </c:strCache>
            </c:strRef>
          </c:cat>
          <c:val>
            <c:numRef>
              <c:f>Sheet1!$B$2:$B$4</c:f>
              <c:numCache>
                <c:formatCode>General</c:formatCode>
                <c:ptCount val="3"/>
                <c:pt idx="0">
                  <c:v>0.7247</c:v>
                </c:pt>
                <c:pt idx="1">
                  <c:v>0.9225</c:v>
                </c:pt>
                <c:pt idx="2">
                  <c:v>0.967</c:v>
                </c:pt>
              </c:numCache>
            </c:numRef>
          </c:val>
        </c:ser>
        <c:ser>
          <c:idx val="1"/>
          <c:order val="1"/>
          <c:tx>
            <c:strRef>
              <c:f>Sheet1!$C$1</c:f>
              <c:strCache>
                <c:ptCount val="1"/>
                <c:pt idx="0">
                  <c:v>lru</c:v>
                </c:pt>
              </c:strCache>
            </c:strRef>
          </c:tx>
          <c:spPr>
            <a:solidFill>
              <a:srgbClr val="1BAF7A"/>
            </a:solidFill>
            <a:ln>
              <a:noFill/>
            </a:ln>
          </c:spPr>
          <c:dLbls>
            <c:numFmt formatCode="0.00" sourceLinked="0"/>
            <c:txPr>
              <a:bodyPr/>
              <a:lstStyle/>
              <a:p>
                <a:pPr>
                  <a:defRPr sz="1050" b="1">
                    <a:solidFill>
                      <a:srgbClr val="0B0B0B"/>
                    </a:solidFill>
                  </a:defRPr>
                </a:pPr>
              </a:p>
            </c:txPr>
            <c:showLegendKey val="0"/>
            <c:showVal val="1"/>
            <c:showCatName val="0"/>
            <c:showSerName val="0"/>
            <c:showPercent val="0"/>
            <c:showBubbleSize val="0"/>
            <c:showLeaderLines val="1"/>
          </c:dLbls>
          <c:cat>
            <c:strRef>
              <c:f>Sheet1!$A$2:$A$4</c:f>
              <c:strCache>
                <c:ptCount val="3"/>
                <c:pt idx="0">
                  <c:v>0.5
(original)</c:v>
                </c:pt>
                <c:pt idx="1">
                  <c:v>0.2</c:v>
                </c:pt>
                <c:pt idx="2">
                  <c:v>0.1</c:v>
                </c:pt>
              </c:strCache>
            </c:strRef>
          </c:cat>
          <c:val>
            <c:numRef>
              <c:f>Sheet1!$C$2:$C$4</c:f>
              <c:numCache>
                <c:formatCode>General</c:formatCode>
                <c:ptCount val="3"/>
                <c:pt idx="0">
                  <c:v>0.7676</c:v>
                </c:pt>
                <c:pt idx="1">
                  <c:v>0.9517</c:v>
                </c:pt>
                <c:pt idx="2">
                  <c:v>0.9709</c:v>
                </c:pt>
              </c:numCache>
            </c:numRef>
          </c:val>
        </c:ser>
        <c:ser>
          <c:idx val="2"/>
          <c:order val="2"/>
          <c:tx>
            <c:strRef>
              <c:f>Sheet1!$D$1</c:f>
              <c:strCache>
                <c:ptCount val="1"/>
                <c:pt idx="0">
                  <c:v>ours (original)</c:v>
                </c:pt>
              </c:strCache>
            </c:strRef>
          </c:tx>
          <c:spPr>
            <a:solidFill>
              <a:srgbClr val="EDA100"/>
            </a:solidFill>
            <a:ln>
              <a:noFill/>
            </a:ln>
          </c:spPr>
          <c:dLbls>
            <c:numFmt formatCode="0.00" sourceLinked="0"/>
            <c:txPr>
              <a:bodyPr/>
              <a:lstStyle/>
              <a:p>
                <a:pPr>
                  <a:defRPr sz="1050" b="1">
                    <a:solidFill>
                      <a:srgbClr val="0B0B0B"/>
                    </a:solidFill>
                  </a:defRPr>
                </a:pPr>
              </a:p>
            </c:txPr>
            <c:showLegendKey val="0"/>
            <c:showVal val="1"/>
            <c:showCatName val="0"/>
            <c:showSerName val="0"/>
            <c:showPercent val="0"/>
            <c:showBubbleSize val="0"/>
            <c:showLeaderLines val="1"/>
          </c:dLbls>
          <c:cat>
            <c:strRef>
              <c:f>Sheet1!$A$2:$A$4</c:f>
              <c:strCache>
                <c:ptCount val="3"/>
                <c:pt idx="0">
                  <c:v>0.5
(original)</c:v>
                </c:pt>
                <c:pt idx="1">
                  <c:v>0.2</c:v>
                </c:pt>
                <c:pt idx="2">
                  <c:v>0.1</c:v>
                </c:pt>
              </c:strCache>
            </c:strRef>
          </c:cat>
          <c:val>
            <c:numRef>
              <c:f>Sheet1!$D$2:$D$4</c:f>
              <c:numCache>
                <c:formatCode>General</c:formatCode>
                <c:ptCount val="3"/>
                <c:pt idx="0">
                  <c:v>0.6687</c:v>
                </c:pt>
                <c:pt idx="1">
                  <c:v>0.908</c:v>
                </c:pt>
                <c:pt idx="2">
                  <c:v>0.9502</c:v>
                </c:pt>
              </c:numCache>
            </c:numRef>
          </c:val>
        </c:ser>
        <c:ser>
          <c:idx val="3"/>
          <c:order val="3"/>
          <c:tx>
            <c:strRef>
              <c:f>Sheet1!$E$1</c:f>
              <c:strCache>
                <c:ptCount val="1"/>
                <c:pt idx="0">
                  <c:v>ours_utility (fix)</c:v>
                </c:pt>
              </c:strCache>
            </c:strRef>
          </c:tx>
          <c:spPr>
            <a:solidFill>
              <a:srgbClr val="E87BA4"/>
            </a:solidFill>
            <a:ln>
              <a:noFill/>
            </a:ln>
          </c:spPr>
          <c:dLbls>
            <c:numFmt formatCode="0.00" sourceLinked="0"/>
            <c:txPr>
              <a:bodyPr/>
              <a:lstStyle/>
              <a:p>
                <a:pPr>
                  <a:defRPr sz="1050" b="1">
                    <a:solidFill>
                      <a:srgbClr val="0B0B0B"/>
                    </a:solidFill>
                  </a:defRPr>
                </a:pPr>
              </a:p>
            </c:txPr>
            <c:showLegendKey val="0"/>
            <c:showVal val="1"/>
            <c:showCatName val="0"/>
            <c:showSerName val="0"/>
            <c:showPercent val="0"/>
            <c:showBubbleSize val="0"/>
            <c:showLeaderLines val="1"/>
          </c:dLbls>
          <c:cat>
            <c:strRef>
              <c:f>Sheet1!$A$2:$A$4</c:f>
              <c:strCache>
                <c:ptCount val="3"/>
                <c:pt idx="0">
                  <c:v>0.5
(original)</c:v>
                </c:pt>
                <c:pt idx="1">
                  <c:v>0.2</c:v>
                </c:pt>
                <c:pt idx="2">
                  <c:v>0.1</c:v>
                </c:pt>
              </c:strCache>
            </c:strRef>
          </c:cat>
          <c:val>
            <c:numRef>
              <c:f>Sheet1!$E$2:$E$4</c:f>
              <c:numCache>
                <c:formatCode>General</c:formatCode>
                <c:ptCount val="3"/>
                <c:pt idx="0">
                  <c:v>0.8765</c:v>
                </c:pt>
                <c:pt idx="1">
                  <c:v>0.9663</c:v>
                </c:pt>
                <c:pt idx="2">
                  <c:v>0.9877</c:v>
                </c:pt>
              </c:numCache>
            </c:numRef>
          </c:val>
        </c:ser>
        <c:gapWidth val="90"/>
        <c:overlap val="-10"/>
        <c:axId val="-2068027336"/>
        <c:axId val="-2113994440"/>
      </c:barChart>
      <c:catAx>
        <c:axId val="-2068027336"/>
        <c:scaling>
          <c:orientation val="minMax"/>
        </c:scaling>
        <c:delete val="0"/>
        <c:axPos val="b"/>
        <c:majorTickMark val="none"/>
        <c:minorTickMark val="none"/>
        <c:tickLblPos val="nextTo"/>
        <c:spPr>
          <a:ln>
            <a:solidFill>
              <a:srgbClr val="E1E0D9"/>
            </a:solidFill>
          </a:ln>
        </c:spPr>
        <c:txPr>
          <a:bodyPr/>
          <a:lstStyle/>
          <a:p>
            <a:pPr>
              <a:defRPr sz="1200">
                <a:solidFill>
                  <a:srgbClr val="52514E"/>
                </a:solidFill>
              </a:defRPr>
            </a:pPr>
          </a:p>
        </c:txPr>
        <c:crossAx val="-2113994440"/>
        <c:crosses val="autoZero"/>
        <c:auto val="1"/>
        <c:lblAlgn val="ctr"/>
        <c:lblOffset val="100"/>
        <c:noMultiLvlLbl val="0"/>
      </c:catAx>
      <c:valAx>
        <c:axId val="-2113994440"/>
        <c:scaling>
          <c:max val="1.15"/>
        </c:scaling>
        <c:delete val="0"/>
        <c:axPos val="l"/>
        <c:majorGridlines>
          <c:spPr>
            <a:ln w="6350">
              <a:solidFill>
                <a:srgbClr val="E1E0D9"/>
              </a:solidFill>
            </a:ln>
          </c:spPr>
        </c:majorGridlines>
        <c:numFmt formatCode="0.00" sourceLinked="0"/>
        <c:majorTickMark val="out"/>
        <c:minorTickMark val="none"/>
        <c:tickLblPos val="nextTo"/>
        <c:spPr>
          <a:ln>
            <a:noFill/>
          </a:ln>
        </c:spPr>
        <c:txPr>
          <a:bodyPr/>
          <a:lstStyle/>
          <a:p>
            <a:pPr>
              <a:defRPr sz="1000">
                <a:solidFill>
                  <a:srgbClr val="898781"/>
                </a:solidFill>
              </a:defRPr>
            </a:pPr>
          </a:p>
        </c:txPr>
        <c:crossAx val="-2068027336"/>
        <c:crosses val="autoZero"/>
      </c:valAx>
    </c:plotArea>
    <c:legend>
      <c:legendPos val="b"/>
      <c:overlay val="0"/>
      <c:txPr>
        <a:bodyPr/>
        <a:lstStyle/>
        <a:p>
          <a:pPr>
            <a:defRPr sz="1200">
              <a:solidFill>
                <a:srgbClr val="52514E"/>
              </a:solidFill>
            </a:defRPr>
          </a:pPr>
        </a:p>
      </c:txPr>
    </c:legend>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value</c:v>
                </c:pt>
              </c:strCache>
            </c:strRef>
          </c:tx>
          <c:dPt>
            <c:idx val="0"/>
            <c:spPr>
              <a:solidFill>
                <a:srgbClr val="E87BA4"/>
              </a:solidFill>
              <a:ln>
                <a:noFill/>
              </a:ln>
            </c:spPr>
          </c:dPt>
          <c:dPt>
            <c:idx val="1"/>
            <c:spPr>
              <a:solidFill>
                <a:srgbClr val="EDA100"/>
              </a:solidFill>
              <a:ln>
                <a:noFill/>
              </a:ln>
            </c:spPr>
          </c:dPt>
          <c:dLbls>
            <c:numFmt formatCode="0.00" sourceLinked="0"/>
            <c:txPr>
              <a:bodyPr/>
              <a:lstStyle/>
              <a:p>
                <a:pPr>
                  <a:defRPr sz="1200" b="1">
                    <a:solidFill>
                      <a:srgbClr val="0B0B0B"/>
                    </a:solidFill>
                  </a:defRPr>
                </a:pPr>
              </a:p>
            </c:txPr>
            <c:showLegendKey val="0"/>
            <c:showVal val="1"/>
            <c:showCatName val="0"/>
            <c:showSerName val="0"/>
            <c:showPercent val="0"/>
            <c:showBubbleSize val="0"/>
            <c:showLeaderLines val="1"/>
          </c:dLbls>
          <c:cat>
            <c:strRef>
              <c:f>Sheet1!$A$2:$A$3</c:f>
              <c:strCache>
                <c:ptCount val="2"/>
                <c:pt idx="0">
                  <c:v>utility_prob
(Future-Utility head)</c:v>
                </c:pt>
                <c:pt idx="1">
                  <c:v>predicted_ttl_days
(Lifetime head, median)</c:v>
                </c:pt>
              </c:strCache>
            </c:strRef>
          </c:cat>
          <c:val>
            <c:numRef>
              <c:f>Sheet1!$B$2:$B$3</c:f>
              <c:numCache>
                <c:formatCode>General</c:formatCode>
                <c:ptCount val="2"/>
                <c:pt idx="0">
                  <c:v>0.6709</c:v>
                </c:pt>
                <c:pt idx="1">
                  <c:v>0.2852</c:v>
                </c:pt>
              </c:numCache>
            </c:numRef>
          </c:val>
        </c:ser>
        <c:gapWidth val="60"/>
        <c:axId val="-2068027336"/>
        <c:axId val="-2113994440"/>
      </c:barChart>
      <c:catAx>
        <c:axId val="-2068027336"/>
        <c:scaling>
          <c:orientation val="minMax"/>
        </c:scaling>
        <c:delete val="0"/>
        <c:axPos val="b"/>
        <c:majorTickMark val="none"/>
        <c:minorTickMark val="none"/>
        <c:tickLblPos val="nextTo"/>
        <c:spPr>
          <a:ln>
            <a:solidFill>
              <a:srgbClr val="E1E0D9"/>
            </a:solidFill>
          </a:ln>
        </c:spPr>
        <c:txPr>
          <a:bodyPr/>
          <a:lstStyle/>
          <a:p>
            <a:pPr>
              <a:defRPr sz="1200">
                <a:solidFill>
                  <a:srgbClr val="52514E"/>
                </a:solidFill>
              </a:defRPr>
            </a:pPr>
          </a:p>
        </c:txPr>
        <c:crossAx val="-2113994440"/>
        <c:crosses val="autoZero"/>
        <c:auto val="1"/>
        <c:lblAlgn val="ctr"/>
        <c:lblOffset val="100"/>
        <c:noMultiLvlLbl val="0"/>
      </c:catAx>
      <c:valAx>
        <c:axId val="-2113994440"/>
        <c:scaling>
          <c:max val="1.0"/>
        </c:scaling>
        <c:delete val="0"/>
        <c:axPos val="l"/>
        <c:majorGridlines>
          <c:spPr>
            <a:ln w="6350">
              <a:solidFill>
                <a:srgbClr val="E1E0D9"/>
              </a:solidFill>
            </a:ln>
          </c:spPr>
        </c:majorGridlines>
        <c:numFmt formatCode="0.00" sourceLinked="0"/>
        <c:majorTickMark val="out"/>
        <c:minorTickMark val="none"/>
        <c:tickLblPos val="nextTo"/>
        <c:spPr>
          <a:ln>
            <a:noFill/>
          </a:ln>
        </c:spPr>
        <c:txPr>
          <a:bodyPr/>
          <a:lstStyle/>
          <a:p>
            <a:pPr>
              <a:defRPr sz="1000">
                <a:solidFill>
                  <a:srgbClr val="898781"/>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value</c:v>
                </c:pt>
              </c:strCache>
            </c:strRef>
          </c:tx>
          <c:dPt>
            <c:idx val="0"/>
            <c:spPr>
              <a:solidFill>
                <a:srgbClr val="D03B3B"/>
              </a:solidFill>
              <a:ln>
                <a:noFill/>
              </a:ln>
            </c:spPr>
          </c:dPt>
          <c:dPt>
            <c:idx val="1"/>
            <c:spPr>
              <a:solidFill>
                <a:srgbClr val="EB6834"/>
              </a:solidFill>
              <a:ln>
                <a:noFill/>
              </a:ln>
            </c:spPr>
          </c:dPt>
          <c:dPt>
            <c:idx val="2"/>
            <c:spPr>
              <a:solidFill>
                <a:srgbClr val="EDA100"/>
              </a:solidFill>
              <a:ln>
                <a:noFill/>
              </a:ln>
            </c:spPr>
          </c:dPt>
          <c:dPt>
            <c:idx val="3"/>
            <c:spPr>
              <a:solidFill>
                <a:srgbClr val="1BAF7A"/>
              </a:solidFill>
              <a:ln>
                <a:noFill/>
              </a:ln>
            </c:spPr>
          </c:dPt>
          <c:dPt>
            <c:idx val="4"/>
            <c:spPr>
              <a:solidFill>
                <a:srgbClr val="4A3AA7"/>
              </a:solidFill>
              <a:ln>
                <a:noFill/>
              </a:ln>
            </c:spPr>
          </c:dPt>
          <c:dPt>
            <c:idx val="5"/>
            <c:spPr>
              <a:solidFill>
                <a:srgbClr val="898781"/>
              </a:solidFill>
              <a:ln>
                <a:noFill/>
              </a:ln>
            </c:spPr>
          </c:dPt>
          <c:dLbls>
            <c:numFmt formatCode="0%" sourceLinked="0"/>
            <c:txPr>
              <a:bodyPr/>
              <a:lstStyle/>
              <a:p>
                <a:pPr>
                  <a:defRPr sz="1200" b="1">
                    <a:solidFill>
                      <a:srgbClr val="0B0B0B"/>
                    </a:solidFill>
                  </a:defRPr>
                </a:pPr>
              </a:p>
            </c:txPr>
            <c:showLegendKey val="0"/>
            <c:showVal val="1"/>
            <c:showCatName val="0"/>
            <c:showSerName val="0"/>
            <c:showPercent val="0"/>
            <c:showBubbleSize val="0"/>
            <c:showLeaderLines val="1"/>
          </c:dLbls>
          <c:cat>
            <c:strRef>
              <c:f>Sheet1!$A$2:$A$7</c:f>
              <c:strCache>
                <c:ptCount val="6"/>
                <c:pt idx="0">
                  <c:v>False refusal</c:v>
                </c:pt>
                <c:pt idx="1">
                  <c:v>Wrong value</c:v>
                </c:pt>
                <c:pt idx="2">
                  <c:v>Incomplete answer</c:v>
                </c:pt>
                <c:pt idx="3">
                  <c:v>Date off-by-one</c:v>
                </c:pt>
                <c:pt idx="4">
                  <c:v>Reasoning error</c:v>
                </c:pt>
                <c:pt idx="5">
                  <c:v>Likely judge error</c:v>
                </c:pt>
              </c:strCache>
            </c:strRef>
          </c:cat>
          <c:val>
            <c:numRef>
              <c:f>Sheet1!$B$2:$B$7</c:f>
              <c:numCache>
                <c:formatCode>General</c:formatCode>
                <c:ptCount val="6"/>
                <c:pt idx="0">
                  <c:v>0.54</c:v>
                </c:pt>
                <c:pt idx="1">
                  <c:v>0.21</c:v>
                </c:pt>
                <c:pt idx="2">
                  <c:v>0.15</c:v>
                </c:pt>
                <c:pt idx="3">
                  <c:v>0.05</c:v>
                </c:pt>
                <c:pt idx="4">
                  <c:v>0.02</c:v>
                </c:pt>
                <c:pt idx="5">
                  <c:v>0.03</c:v>
                </c:pt>
              </c:numCache>
            </c:numRef>
          </c:val>
        </c:ser>
        <c:gapWidth val="50"/>
        <c:axId val="-2068027336"/>
        <c:axId val="-2113994440"/>
      </c:barChart>
      <c:catAx>
        <c:axId val="-2068027336"/>
        <c:scaling>
          <c:orientation val="minMax"/>
        </c:scaling>
        <c:delete val="0"/>
        <c:axPos val="l"/>
        <c:majorTickMark val="out"/>
        <c:minorTickMark val="none"/>
        <c:tickLblPos val="nextTo"/>
        <c:spPr>
          <a:ln>
            <a:solidFill>
              <a:srgbClr val="E1E0D9"/>
            </a:solidFill>
          </a:ln>
        </c:spPr>
        <c:txPr>
          <a:bodyPr/>
          <a:lstStyle/>
          <a:p>
            <a:pPr>
              <a:defRPr sz="1300">
                <a:solidFill>
                  <a:srgbClr val="0B0B0B"/>
                </a:solidFill>
              </a:defRPr>
            </a:pPr>
          </a:p>
        </c:txPr>
        <c:crossAx val="-2113994440"/>
        <c:crosses val="autoZero"/>
        <c:auto val="1"/>
        <c:lblAlgn val="ctr"/>
        <c:lblOffset val="100"/>
        <c:noMultiLvlLbl val="0"/>
      </c:catAx>
      <c:valAx>
        <c:axId val="-2113994440"/>
        <c:scaling/>
        <c:delete/>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fifo</c:v>
                </c:pt>
              </c:strCache>
            </c:strRef>
          </c:tx>
          <c:spPr>
            <a:solidFill>
              <a:srgbClr val="EB6834"/>
            </a:solidFill>
            <a:ln>
              <a:noFill/>
            </a:ln>
          </c:spPr>
          <c:dLbls>
            <c:numFmt formatCode="0.00" sourceLinked="0"/>
            <c:txPr>
              <a:bodyPr/>
              <a:lstStyle/>
              <a:p>
                <a:pPr>
                  <a:defRPr sz="1050" b="1">
                    <a:solidFill>
                      <a:srgbClr val="0B0B0B"/>
                    </a:solidFill>
                  </a:defRPr>
                </a:pPr>
              </a:p>
            </c:txPr>
            <c:showLegendKey val="0"/>
            <c:showVal val="1"/>
            <c:showCatName val="0"/>
            <c:showSerName val="0"/>
            <c:showPercent val="0"/>
            <c:showBubbleSize val="0"/>
            <c:showLeaderLines val="1"/>
          </c:dLbls>
          <c:cat>
            <c:strRef>
              <c:f>Sheet1!$A$2:$A$4</c:f>
              <c:strCache>
                <c:ptCount val="3"/>
                <c:pt idx="0">
                  <c:v>Single-Hop
(N=54, judge score)</c:v>
                </c:pt>
                <c:pt idx="1">
                  <c:v>Multi-Hop
(N=48, EM)</c:v>
                </c:pt>
                <c:pt idx="2">
                  <c:v>Temporal
(N=16, EM)</c:v>
                </c:pt>
              </c:strCache>
            </c:strRef>
          </c:cat>
          <c:val>
            <c:numRef>
              <c:f>Sheet1!$B$2:$B$4</c:f>
              <c:numCache>
                <c:formatCode>General</c:formatCode>
                <c:ptCount val="3"/>
                <c:pt idx="0">
                  <c:v>0.204</c:v>
                </c:pt>
                <c:pt idx="1">
                  <c:v>0.021</c:v>
                </c:pt>
                <c:pt idx="2">
                  <c:v>0.1875</c:v>
                </c:pt>
              </c:numCache>
            </c:numRef>
          </c:val>
        </c:ser>
        <c:ser>
          <c:idx val="1"/>
          <c:order val="1"/>
          <c:tx>
            <c:strRef>
              <c:f>Sheet1!$C$1</c:f>
              <c:strCache>
                <c:ptCount val="1"/>
                <c:pt idx="0">
                  <c:v>ours (original)</c:v>
                </c:pt>
              </c:strCache>
            </c:strRef>
          </c:tx>
          <c:spPr>
            <a:solidFill>
              <a:srgbClr val="EDA100"/>
            </a:solidFill>
            <a:ln>
              <a:noFill/>
            </a:ln>
          </c:spPr>
          <c:dLbls>
            <c:numFmt formatCode="0.00" sourceLinked="0"/>
            <c:txPr>
              <a:bodyPr/>
              <a:lstStyle/>
              <a:p>
                <a:pPr>
                  <a:defRPr sz="1050" b="1">
                    <a:solidFill>
                      <a:srgbClr val="0B0B0B"/>
                    </a:solidFill>
                  </a:defRPr>
                </a:pPr>
              </a:p>
            </c:txPr>
            <c:showLegendKey val="0"/>
            <c:showVal val="1"/>
            <c:showCatName val="0"/>
            <c:showSerName val="0"/>
            <c:showPercent val="0"/>
            <c:showBubbleSize val="0"/>
            <c:showLeaderLines val="1"/>
          </c:dLbls>
          <c:cat>
            <c:strRef>
              <c:f>Sheet1!$A$2:$A$4</c:f>
              <c:strCache>
                <c:ptCount val="3"/>
                <c:pt idx="0">
                  <c:v>Single-Hop
(N=54, judge score)</c:v>
                </c:pt>
                <c:pt idx="1">
                  <c:v>Multi-Hop
(N=48, EM)</c:v>
                </c:pt>
                <c:pt idx="2">
                  <c:v>Temporal
(N=16, EM)</c:v>
                </c:pt>
              </c:strCache>
            </c:strRef>
          </c:cat>
          <c:val>
            <c:numRef>
              <c:f>Sheet1!$C$2:$C$4</c:f>
              <c:numCache>
                <c:formatCode>General</c:formatCode>
                <c:ptCount val="3"/>
                <c:pt idx="0">
                  <c:v>0.259</c:v>
                </c:pt>
                <c:pt idx="1">
                  <c:v>0.021</c:v>
                </c:pt>
                <c:pt idx="2">
                  <c:v>0.1875</c:v>
                </c:pt>
              </c:numCache>
            </c:numRef>
          </c:val>
        </c:ser>
        <c:ser>
          <c:idx val="2"/>
          <c:order val="2"/>
          <c:tx>
            <c:strRef>
              <c:f>Sheet1!$D$1</c:f>
              <c:strCache>
                <c:ptCount val="1"/>
                <c:pt idx="0">
                  <c:v>ours_utility (fix)</c:v>
                </c:pt>
              </c:strCache>
            </c:strRef>
          </c:tx>
          <c:spPr>
            <a:solidFill>
              <a:srgbClr val="E87BA4"/>
            </a:solidFill>
            <a:ln>
              <a:noFill/>
            </a:ln>
          </c:spPr>
          <c:dLbls>
            <c:numFmt formatCode="0.00" sourceLinked="0"/>
            <c:txPr>
              <a:bodyPr/>
              <a:lstStyle/>
              <a:p>
                <a:pPr>
                  <a:defRPr sz="1050" b="1">
                    <a:solidFill>
                      <a:srgbClr val="0B0B0B"/>
                    </a:solidFill>
                  </a:defRPr>
                </a:pPr>
              </a:p>
            </c:txPr>
            <c:showLegendKey val="0"/>
            <c:showVal val="1"/>
            <c:showCatName val="0"/>
            <c:showSerName val="0"/>
            <c:showPercent val="0"/>
            <c:showBubbleSize val="0"/>
            <c:showLeaderLines val="1"/>
          </c:dLbls>
          <c:cat>
            <c:strRef>
              <c:f>Sheet1!$A$2:$A$4</c:f>
              <c:strCache>
                <c:ptCount val="3"/>
                <c:pt idx="0">
                  <c:v>Single-Hop
(N=54, judge score)</c:v>
                </c:pt>
                <c:pt idx="1">
                  <c:v>Multi-Hop
(N=48, EM)</c:v>
                </c:pt>
                <c:pt idx="2">
                  <c:v>Temporal
(N=16, EM)</c:v>
                </c:pt>
              </c:strCache>
            </c:strRef>
          </c:cat>
          <c:val>
            <c:numRef>
              <c:f>Sheet1!$D$2:$D$4</c:f>
              <c:numCache>
                <c:formatCode>General</c:formatCode>
                <c:ptCount val="3"/>
                <c:pt idx="0">
                  <c:v>0.537</c:v>
                </c:pt>
                <c:pt idx="1">
                  <c:v>0.083</c:v>
                </c:pt>
                <c:pt idx="2">
                  <c:v>0.1875</c:v>
                </c:pt>
              </c:numCache>
            </c:numRef>
          </c:val>
        </c:ser>
        <c:gapWidth val="90"/>
        <c:overlap val="-10"/>
        <c:axId val="-2068027336"/>
        <c:axId val="-2113994440"/>
      </c:barChart>
      <c:catAx>
        <c:axId val="-2068027336"/>
        <c:scaling>
          <c:orientation val="minMax"/>
        </c:scaling>
        <c:delete val="0"/>
        <c:axPos val="b"/>
        <c:majorTickMark val="none"/>
        <c:minorTickMark val="none"/>
        <c:tickLblPos val="nextTo"/>
        <c:spPr>
          <a:ln>
            <a:solidFill>
              <a:srgbClr val="E1E0D9"/>
            </a:solidFill>
          </a:ln>
        </c:spPr>
        <c:txPr>
          <a:bodyPr/>
          <a:lstStyle/>
          <a:p>
            <a:pPr>
              <a:defRPr sz="1200">
                <a:solidFill>
                  <a:srgbClr val="52514E"/>
                </a:solidFill>
              </a:defRPr>
            </a:pPr>
          </a:p>
        </c:txPr>
        <c:crossAx val="-2113994440"/>
        <c:crosses val="autoZero"/>
        <c:auto val="1"/>
        <c:lblAlgn val="ctr"/>
        <c:lblOffset val="100"/>
        <c:noMultiLvlLbl val="0"/>
      </c:catAx>
      <c:valAx>
        <c:axId val="-2113994440"/>
        <c:scaling>
          <c:max val="0.65"/>
        </c:scaling>
        <c:delete val="0"/>
        <c:axPos val="l"/>
        <c:majorGridlines>
          <c:spPr>
            <a:ln w="6350">
              <a:solidFill>
                <a:srgbClr val="E1E0D9"/>
              </a:solidFill>
            </a:ln>
          </c:spPr>
        </c:majorGridlines>
        <c:numFmt formatCode="0.00" sourceLinked="0"/>
        <c:majorTickMark val="out"/>
        <c:minorTickMark val="none"/>
        <c:tickLblPos val="nextTo"/>
        <c:spPr>
          <a:ln>
            <a:noFill/>
          </a:ln>
        </c:spPr>
        <c:txPr>
          <a:bodyPr/>
          <a:lstStyle/>
          <a:p>
            <a:pPr>
              <a:defRPr sz="1000">
                <a:solidFill>
                  <a:srgbClr val="898781"/>
                </a:solidFill>
              </a:defRPr>
            </a:pPr>
          </a:p>
        </c:txPr>
        <c:crossAx val="-2068027336"/>
        <c:crosses val="autoZero"/>
      </c:valAx>
    </c:plotArea>
    <c:legend>
      <c:legendPos val="b"/>
      <c:overlay val="0"/>
      <c:txPr>
        <a:bodyPr/>
        <a:lstStyle/>
        <a:p>
          <a:pPr>
            <a:defRPr sz="1200">
              <a:solidFill>
                <a:srgbClr val="52514E"/>
              </a:solidFill>
            </a:defRPr>
          </a:pPr>
        </a:p>
      </c:txPr>
    </c:legend>
    <c:dispBlanksAs val="gap"/>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Mean EM</c:v>
                </c:pt>
              </c:strCache>
            </c:strRef>
          </c:tx>
          <c:spPr>
            <a:solidFill>
              <a:srgbClr val="4A3AA7"/>
            </a:solidFill>
            <a:ln>
              <a:noFill/>
            </a:ln>
          </c:spPr>
          <c:dLbls>
            <c:numFmt formatCode="0.00" sourceLinked="0"/>
            <c:txPr>
              <a:bodyPr/>
              <a:lstStyle/>
              <a:p>
                <a:pPr>
                  <a:defRPr sz="1050" b="1">
                    <a:solidFill>
                      <a:srgbClr val="0B0B0B"/>
                    </a:solidFill>
                  </a:defRPr>
                </a:pPr>
              </a:p>
            </c:txPr>
            <c:showLegendKey val="0"/>
            <c:showVal val="1"/>
            <c:showCatName val="0"/>
            <c:showSerName val="0"/>
            <c:showPercent val="0"/>
            <c:showBubbleSize val="0"/>
            <c:showLeaderLines val="1"/>
          </c:dLbls>
          <c:cat>
            <c:strRef>
              <c:f>Sheet1!$A$2:$A$4</c:f>
              <c:strCache>
                <c:ptCount val="3"/>
                <c:pt idx="0">
                  <c:v>oracle
(gold evidence only)</c:v>
                </c:pt>
                <c:pt idx="1">
                  <c:v>full_context
(uncapped retrieval)</c:v>
                </c:pt>
                <c:pt idx="2">
                  <c:v>no_forget
(for reference)</c:v>
                </c:pt>
              </c:strCache>
            </c:strRef>
          </c:cat>
          <c:val>
            <c:numRef>
              <c:f>Sheet1!$B$2:$B$4</c:f>
              <c:numCache>
                <c:formatCode>General</c:formatCode>
                <c:ptCount val="3"/>
                <c:pt idx="0">
                  <c:v>0.1589</c:v>
                </c:pt>
                <c:pt idx="1">
                  <c:v>0.1333</c:v>
                </c:pt>
                <c:pt idx="2">
                  <c:v>0.0917</c:v>
                </c:pt>
              </c:numCache>
            </c:numRef>
          </c:val>
        </c:ser>
        <c:ser>
          <c:idx val="1"/>
          <c:order val="1"/>
          <c:tx>
            <c:strRef>
              <c:f>Sheet1!$C$1</c:f>
              <c:strCache>
                <c:ptCount val="1"/>
                <c:pt idx="0">
                  <c:v>Mean F1</c:v>
                </c:pt>
              </c:strCache>
            </c:strRef>
          </c:tx>
          <c:spPr>
            <a:solidFill>
              <a:srgbClr val="2A78D6"/>
            </a:solidFill>
            <a:ln>
              <a:noFill/>
            </a:ln>
          </c:spPr>
          <c:dLbls>
            <c:numFmt formatCode="0.00" sourceLinked="0"/>
            <c:txPr>
              <a:bodyPr/>
              <a:lstStyle/>
              <a:p>
                <a:pPr>
                  <a:defRPr sz="1050" b="1">
                    <a:solidFill>
                      <a:srgbClr val="0B0B0B"/>
                    </a:solidFill>
                  </a:defRPr>
                </a:pPr>
              </a:p>
            </c:txPr>
            <c:showLegendKey val="0"/>
            <c:showVal val="1"/>
            <c:showCatName val="0"/>
            <c:showSerName val="0"/>
            <c:showPercent val="0"/>
            <c:showBubbleSize val="0"/>
            <c:showLeaderLines val="1"/>
          </c:dLbls>
          <c:cat>
            <c:strRef>
              <c:f>Sheet1!$A$2:$A$4</c:f>
              <c:strCache>
                <c:ptCount val="3"/>
                <c:pt idx="0">
                  <c:v>oracle
(gold evidence only)</c:v>
                </c:pt>
                <c:pt idx="1">
                  <c:v>full_context
(uncapped retrieval)</c:v>
                </c:pt>
                <c:pt idx="2">
                  <c:v>no_forget
(for reference)</c:v>
                </c:pt>
              </c:strCache>
            </c:strRef>
          </c:cat>
          <c:val>
            <c:numRef>
              <c:f>Sheet1!$C$2:$C$4</c:f>
              <c:numCache>
                <c:formatCode>General</c:formatCode>
                <c:ptCount val="3"/>
                <c:pt idx="0">
                  <c:v>0.3473</c:v>
                </c:pt>
                <c:pt idx="1">
                  <c:v>0.298</c:v>
                </c:pt>
                <c:pt idx="2">
                  <c:v>0.1957</c:v>
                </c:pt>
              </c:numCache>
            </c:numRef>
          </c:val>
        </c:ser>
        <c:gapWidth val="90"/>
        <c:overlap val="-10"/>
        <c:axId val="-2068027336"/>
        <c:axId val="-2113994440"/>
      </c:barChart>
      <c:catAx>
        <c:axId val="-2068027336"/>
        <c:scaling>
          <c:orientation val="minMax"/>
        </c:scaling>
        <c:delete val="0"/>
        <c:axPos val="b"/>
        <c:majorTickMark val="none"/>
        <c:minorTickMark val="none"/>
        <c:tickLblPos val="nextTo"/>
        <c:spPr>
          <a:ln>
            <a:solidFill>
              <a:srgbClr val="E1E0D9"/>
            </a:solidFill>
          </a:ln>
        </c:spPr>
        <c:txPr>
          <a:bodyPr/>
          <a:lstStyle/>
          <a:p>
            <a:pPr>
              <a:defRPr sz="1200">
                <a:solidFill>
                  <a:srgbClr val="52514E"/>
                </a:solidFill>
              </a:defRPr>
            </a:pPr>
          </a:p>
        </c:txPr>
        <c:crossAx val="-2113994440"/>
        <c:crosses val="autoZero"/>
        <c:auto val="1"/>
        <c:lblAlgn val="ctr"/>
        <c:lblOffset val="100"/>
        <c:noMultiLvlLbl val="0"/>
      </c:catAx>
      <c:valAx>
        <c:axId val="-2113994440"/>
        <c:scaling>
          <c:max val="0.45"/>
        </c:scaling>
        <c:delete val="0"/>
        <c:axPos val="l"/>
        <c:majorGridlines>
          <c:spPr>
            <a:ln w="6350">
              <a:solidFill>
                <a:srgbClr val="E1E0D9"/>
              </a:solidFill>
            </a:ln>
          </c:spPr>
        </c:majorGridlines>
        <c:numFmt formatCode="0.00" sourceLinked="0"/>
        <c:majorTickMark val="out"/>
        <c:minorTickMark val="none"/>
        <c:tickLblPos val="nextTo"/>
        <c:spPr>
          <a:ln>
            <a:noFill/>
          </a:ln>
        </c:spPr>
        <c:txPr>
          <a:bodyPr/>
          <a:lstStyle/>
          <a:p>
            <a:pPr>
              <a:defRPr sz="1000">
                <a:solidFill>
                  <a:srgbClr val="898781"/>
                </a:solidFill>
              </a:defRPr>
            </a:pPr>
          </a:p>
        </c:txPr>
        <c:crossAx val="-2068027336"/>
        <c:crosses val="autoZero"/>
      </c:valAx>
    </c:plotArea>
    <c:legend>
      <c:legendPos val="b"/>
      <c:overlay val="0"/>
      <c:txPr>
        <a:bodyPr/>
        <a:lstStyle/>
        <a:p>
          <a:pPr>
            <a:defRPr sz="1200">
              <a:solidFill>
                <a:srgbClr val="52514E"/>
              </a:solidFill>
            </a:defRPr>
          </a:pPr>
        </a:p>
      </c:txPr>
    </c:legend>
    <c:dispBlanksAs val="gap"/>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value</c:v>
                </c:pt>
              </c:strCache>
            </c:strRef>
          </c:tx>
          <c:dPt>
            <c:idx val="0"/>
            <c:spPr>
              <a:solidFill>
                <a:srgbClr val="008300"/>
              </a:solidFill>
              <a:ln>
                <a:noFill/>
              </a:ln>
            </c:spPr>
          </c:dPt>
          <c:dPt>
            <c:idx val="1"/>
            <c:spPr>
              <a:solidFill>
                <a:srgbClr val="2A78D6"/>
              </a:solidFill>
              <a:ln>
                <a:noFill/>
              </a:ln>
            </c:spPr>
          </c:dPt>
          <c:dPt>
            <c:idx val="2"/>
            <c:spPr>
              <a:solidFill>
                <a:srgbClr val="E87BA4"/>
              </a:solidFill>
              <a:ln>
                <a:noFill/>
              </a:ln>
            </c:spPr>
          </c:dPt>
          <c:dPt>
            <c:idx val="3"/>
            <c:spPr>
              <a:solidFill>
                <a:srgbClr val="1BAF7A"/>
              </a:solidFill>
              <a:ln>
                <a:noFill/>
              </a:ln>
            </c:spPr>
          </c:dPt>
          <c:dPt>
            <c:idx val="4"/>
            <c:spPr>
              <a:solidFill>
                <a:srgbClr val="EDA100"/>
              </a:solidFill>
              <a:ln>
                <a:noFill/>
              </a:ln>
            </c:spPr>
          </c:dPt>
          <c:dPt>
            <c:idx val="5"/>
            <c:spPr>
              <a:solidFill>
                <a:srgbClr val="EB6834"/>
              </a:solidFill>
              <a:ln>
                <a:noFill/>
              </a:ln>
            </c:spPr>
          </c:dPt>
          <c:dLbls>
            <c:numFmt formatCode="0.00" sourceLinked="0"/>
            <c:txPr>
              <a:bodyPr/>
              <a:lstStyle/>
              <a:p>
                <a:pPr>
                  <a:defRPr sz="1200" b="1">
                    <a:solidFill>
                      <a:srgbClr val="0B0B0B"/>
                    </a:solidFill>
                  </a:defRPr>
                </a:pPr>
              </a:p>
            </c:txPr>
            <c:showLegendKey val="0"/>
            <c:showVal val="1"/>
            <c:showCatName val="0"/>
            <c:showSerName val="0"/>
            <c:showPercent val="0"/>
            <c:showBubbleSize val="0"/>
            <c:showLeaderLines val="1"/>
          </c:dLbls>
          <c:cat>
            <c:strRef>
              <c:f>Sheet1!$A$2:$A$7</c:f>
              <c:strCache>
                <c:ptCount val="6"/>
                <c:pt idx="0">
                  <c:v>mem0</c:v>
                </c:pt>
                <c:pt idx="1">
                  <c:v>no_forget</c:v>
                </c:pt>
                <c:pt idx="2">
                  <c:v>ours_utility</c:v>
                </c:pt>
                <c:pt idx="3">
                  <c:v>lru</c:v>
                </c:pt>
                <c:pt idx="4">
                  <c:v>ours</c:v>
                </c:pt>
                <c:pt idx="5">
                  <c:v>fifo</c:v>
                </c:pt>
              </c:strCache>
            </c:strRef>
          </c:cat>
          <c:val>
            <c:numRef>
              <c:f>Sheet1!$B$2:$B$7</c:f>
              <c:numCache>
                <c:formatCode>General</c:formatCode>
                <c:ptCount val="6"/>
                <c:pt idx="0">
                  <c:v>0.2275</c:v>
                </c:pt>
                <c:pt idx="1">
                  <c:v>0.1957</c:v>
                </c:pt>
                <c:pt idx="2">
                  <c:v>0.1949</c:v>
                </c:pt>
                <c:pt idx="3">
                  <c:v>0.1998</c:v>
                </c:pt>
                <c:pt idx="4">
                  <c:v>0.1575</c:v>
                </c:pt>
                <c:pt idx="5">
                  <c:v>0.1294</c:v>
                </c:pt>
              </c:numCache>
            </c:numRef>
          </c:val>
        </c:ser>
        <c:gapWidth val="60"/>
        <c:axId val="-2068027336"/>
        <c:axId val="-2113994440"/>
      </c:barChart>
      <c:catAx>
        <c:axId val="-2068027336"/>
        <c:scaling>
          <c:orientation val="minMax"/>
        </c:scaling>
        <c:delete val="0"/>
        <c:axPos val="b"/>
        <c:majorTickMark val="none"/>
        <c:minorTickMark val="none"/>
        <c:tickLblPos val="nextTo"/>
        <c:spPr>
          <a:ln>
            <a:solidFill>
              <a:srgbClr val="E1E0D9"/>
            </a:solidFill>
          </a:ln>
        </c:spPr>
        <c:txPr>
          <a:bodyPr/>
          <a:lstStyle/>
          <a:p>
            <a:pPr>
              <a:defRPr sz="1200">
                <a:solidFill>
                  <a:srgbClr val="52514E"/>
                </a:solidFill>
              </a:defRPr>
            </a:pPr>
          </a:p>
        </c:txPr>
        <c:crossAx val="-2113994440"/>
        <c:crosses val="autoZero"/>
        <c:auto val="1"/>
        <c:lblAlgn val="ctr"/>
        <c:lblOffset val="100"/>
        <c:noMultiLvlLbl val="0"/>
      </c:catAx>
      <c:valAx>
        <c:axId val="-2113994440"/>
        <c:scaling>
          <c:max val="0.28"/>
        </c:scaling>
        <c:delete val="0"/>
        <c:axPos val="l"/>
        <c:majorGridlines>
          <c:spPr>
            <a:ln w="6350">
              <a:solidFill>
                <a:srgbClr val="E1E0D9"/>
              </a:solidFill>
            </a:ln>
          </c:spPr>
        </c:majorGridlines>
        <c:numFmt formatCode="0.00" sourceLinked="0"/>
        <c:majorTickMark val="out"/>
        <c:minorTickMark val="none"/>
        <c:tickLblPos val="nextTo"/>
        <c:spPr>
          <a:ln>
            <a:noFill/>
          </a:ln>
        </c:spPr>
        <c:txPr>
          <a:bodyPr/>
          <a:lstStyle/>
          <a:p>
            <a:pPr>
              <a:defRPr sz="1000">
                <a:solidFill>
                  <a:srgbClr val="898781"/>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Today I'm presenting my final post-graduation project: reframing memory-lifetime prediction for AI assistants as a survival-analysis problem, not a heuristic importance score. I'll walk through the full arc -- a model that wins on its own metric, a real deployment test that shows that isn't enough, the root-cause diagnosis, the fix, and two honesty checks that kept the final conclusion from overselling itself.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roadmap: I'll move through the problem, the dataset, the method, then the two-part results story -- ranking quality first, then whether that ranking quality actually helps -- and close with limitations and two checks that kept the conclusions honest.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Personal AI assistants keep extracting facts about you across sessions -- where you live, what you're working on. That store keeps growing, and you can't just keep everything: retrieval gets noisier, and stale facts don't just sit there, they actively produce wrong answers when they contradict something newer. At some point the system has to decide what to forget and when -- and existing systems answer a slightly different, weaker question than the one that actually matters.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existing memory system answers this with some flavor of scalar importance -- a recency-weighted heuristic, a paging scheme, a consolidation rule, or a graph structure. None of them predict an actual time: none say 'this fact will likely stop mattering in about three weeks.' REMem, the closest ICLR 2026 paper, is time-aware in its representation but doesn't train an evaluable lifetime target the way this project does.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reframe this as survival analysis -- the same statistical framework used for patient survival times and equipment failure times. Every memory is born when stated, and dies when it's invalidated or never referenced again. Often we don't observe the death within our data window -- that's censoring, handled correctly rather than ignored. This buys us a mature toolkit for free. And it draws a sharp distinction I want you to hold onto: a model can rank very well and still be badly calibrated on an absolute cutoff. That distinction is the hinge the second half of this talk turns 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contributions in total: the benchmark itself, the lightweight survival model, the joint multi-task extension, and -- the part I'd argue matters most -- an honest downstream test that catches a real failure, diagnoses it, fixes it, and then checks the fix against two more honesty tests rather than stopping at the first result that looked good.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Just over 10,000 memory records with time-to-event labels, combining synthetic dialogues with a known true lifetime with real conversations from two published benchmarks. Everything is split by conversation, not by record, and verified to have no leakage. Worth flagging now, since it's an honest limitation: the censoring convention for real conversations is a judgment call, not a ground-truth fact -- I'll come back to that.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model is deliberately small. A frozen sentence embedding feeds a 214-thousand-parameter MLP that outputs a single hazard score, trained with the standard Cox partial-likelihood objective, which correctly handles the censored records rather than throwing them away. No fine-tuning, no generation -- which matters, because this model costs zero tokens to run, versus real metered API spend for the LLM baselines I'll show shortly.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joint version fuses six off-the-shelf frozen feature extractors with the embedding, feeding three heads that share one representation: the same Lifetime head, an Action head classifying store, update, merge, or forget, and a Future-Utility head predicting whether a memory gets used again. All trained jointly with a custom loop, still under half a million trainable parameters total. Keep an eye on the Future-Utility head -- it becomes the hero of the second half of this talk.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trained heads feed a real memory-lifecycle system, not just an offline evaluation: extraction, storage in a vector store, a forgetting step driven by TTL and Action-head predictions, compaction, a reflection step that decays utility past predicted TTL, and a retriever that reranks before the final grounded-QA call. Everything is logged, append-only, for auditability.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baselines, all on the same held-out splits: a recency-frequency heuristic, a bucket classifier, and three LLM-prompted baselines using the exact same prompt so the model is the only variable being compared. Real, metered token spend for the two frontier baselines is reported directly. Our own pipeline costs zero tokens by construction.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headline result of Part 1. Our model beats every baseline -- including prompting GPT-4o and Gemini 2.5 Pro directly -- by a wide, statistically significant margin. Every comparison clears p less than 0.001. Against GPT-4o alone that's an 18-point C-index gap, and it costs zero tokens.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the headline C-index, richer metrics agree: better time-dependent AUC, lower Brier score. And a second, orthogonal argument: paraphrase determinism. Reword the same fact three ways and our model gives the identical answer every time. GPT-4o and especially the local Qwen model vary substantially on semantically identical inputs -- a real liability for a deployed system.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isn't a lucky single seed -- five seeds land in a tight band. Swapping in a larger encoder gives a small, within-noise difference. The joint multi-task model improves further, to 0.7553, with an even tighter spread. Interestingly, simple concatenation beats a learned gating mechanism -- we note that rather than over-explain it, since the gap is plausible overfitting at this dataset's scale, not a settled finding.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more heads worth a beat. The Action head hits 86.4% aggregate accuracy, but recall is exactly 1.0 on the rare update, merge, and forget classes across every checkpoint -- it never misses a true case, at the cost of some false positives. That precision gap becomes directly relevant in a moment. The Future-Utility head is genuinely predictive too, though noisier -- it's about to become the most important signal in this whole talk.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far, everything has been validated on the model's own ranking metric. But a memory system doesn't rank memories -- it deletes some of them. Does good ranking actually translate into a good deployed policy? That's the harder, and much more honest, question the rest of this talk answers.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test this honestly, every policy is matched to the same final storage budget per conversation. fifo and lru get exactly the same capacity our own policy naturally settles at -- so this is a fair, apples-to-apples comparison, not an arbitrary fixed budget. Real questions, answered by GPT-4o over whatever memories survived, scored by exact match and F1.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moment the talk turns. On real downstream questions, our original policy -- the one built on the model that just won every ranking comparison -- was the worst policy tested. Worse than first-in-first-out. Worse than least-recently-used. That is the opposite of what the C-index results predicted, and we chased it down rather than smoothing it over.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built a free diagnostic -- no LLM calls -- checking whether the gold-evidence memory literally survives eviction. Our policy kept only two-thirds of what it needed. Two causes, both verified directly. One: the TTL cutoff was the survival curve's median -- a coin-flip cutoff by definition. Two, the deeper one: our policy makes an independent per-memory decision, while fifo and lru always keep their best N by a ranked score.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Making the TTL cutoff a configurable quantile instead of a hardcoded median lets us trade storage for retention, and the sweep confirms the fix direction. But it does not close the gap against lru at any quantile we tested -- lru retains evidence at least as well as our policy at every single row. That confirms cause one is real, but it leaves cause two, the decision structure, unresolved.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fix wasn't a bigger model -- it was a better use of a model we already had. We already had a Future-Utility head, previously only used to rerank retrieval, never consulted by eviction. Switching eviction to rank by that score and keep the top N -- the same structure fifo and lru already use -- beats every baseline at every storage budget tested, including the original unfixed setting.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didn't stop at 'it works' -- we checked why. utility_prob has real predictive power for whether a memory is actual QA evidence, AUC 0.67. The old TTL-based signal scores 0.29 -- below chance, literally pointing the wrong direction. That's a complete causal explanation, not a correlation we're hoping holds.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 real sample of 120 GPT-4o-scored questions, with proper paired bootstrap testing, the fixed policy significantly beats fifo and the original policy, and is statistically tied with the no-forget ceiling. It is not significantly better than lru at this sample size, and we say that plainly rather than dress it up. It's also confirmed on a fourth metric family, BLEU-1, and via refusal precision, following REMem's own methodology for exactly this purpose.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sampled 100 wrong predictions across every policy and categorized each one, following REMem's own error-analysis methodology. False refusal is the dominant failure mode by a wide margin -- not wrong guesses, not date-arithmetic mistakes. Most of what looks like 'the model got it wrong' is, on inspection, 'the eviction policy removed the evidence, and the model correctly reported that.'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improvement isn't uniform across question types. It's a clear win on Single-Hop and Multi-Hop questions -- Multi-Hop actually matches the no-forget ceiling exactly. On Temporal questions, though, this sample shows zero measured effect at all, identical across every policy. We flag the small sample size directly rather than over-interpreting either result.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'keep everything' really the best anything could do? No. An oracle given only the correct evidence, with no retrieval noise, significantly beats the no-forget ceiling. So ordinary top-5 retrieval over a large store is its own separate bottleneck -- one this paper's eviction fixes were never positioned to close.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integrated Mem0, a real independently-built memory system, end to end -- real indexing, real extraction, not just a discussion in related work. Our best policy is statistically tied with it, not superior, and we report that as measured rather than reframing it to sound better. Worth noting: Mem0 was handicapped here by a weaker local extraction model, purely a budget constraint, so a fair fight could only make its showing stronger.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Being direct about what this doesn't yet show: the Mem0 comparison used a weaker local model, purely a budget constraint. Retrieval quality is a real bottleneck this paper doesn't fix. The censoring convention is a judgment call. The lru comparison needs a bigger sample to clear significance. The Importance head is a heuristic, not learned. And no human has yet validated the extracted labels.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framing this as survival analysis gives a tiny, deterministic, zero-token model that beats prompting frontier LLMs at ranking memory lifetimes. But the real contribution is what happened next -- ranking quality did not automatically produce a good deployed policy, and the fix that worked was validating the actual decision a deployed system makes, not just the metric it was trained against. If there's one transferable lesson here, it's that one.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reference list of fourteen entries is in the accompanying manuscript; these are the six most load-bearing for this talk.</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 happy to take questions. I have backup slides ready on the formal notation, the full policy definitions, and the extra significance tables if it's useful to go deeper on any of this.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backup slides are for anticipated follow-up questions -- formal notation, the full policy definitions, and extra tables not needed for the core narrative.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formal Cox proportional-hazards notation, matching the actual implementation exactly, per Appendix A.1 of the manuscript.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formal definition of all six policies compared in this work, matching Appendix A.2 of the manuscript exactly.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disclosure of how the Mem0 baseline was made affordable, and the two real, measured confounds that resulted -- both handicapping Mem0 relative to its normal deployment, never our own policies.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needed to reproduce this work is committed: seeds, unit tests, verbatim prompts, and an open license on both code and data.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9984"/>
            <a:ext cx="12191695" cy="12801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148840"/>
            <a:ext cx="10332720" cy="365760"/>
          </a:xfrm>
          <a:prstGeom prst="rect">
            <a:avLst/>
          </a:prstGeom>
          <a:noFill/>
        </p:spPr>
        <p:txBody>
          <a:bodyPr wrap="square" anchor="t" lIns="0" rIns="0" tIns="0" bIns="0">
            <a:spAutoFit/>
          </a:bodyPr>
          <a:lstStyle/>
          <a:p>
            <a:r>
              <a:rPr sz="1300" i="0" b="1">
                <a:solidFill>
                  <a:srgbClr val="2A78D6"/>
                </a:solidFill>
                <a:latin typeface="Calibri"/>
              </a:rPr>
              <a:t>FINAL POST-GRADUATION PROJECT · DEFENSE PRESENTATION</a:t>
            </a:r>
          </a:p>
        </p:txBody>
      </p:sp>
      <p:sp>
        <p:nvSpPr>
          <p:cNvPr id="5" name="TextBox 4"/>
          <p:cNvSpPr txBox="1"/>
          <p:nvPr/>
        </p:nvSpPr>
        <p:spPr>
          <a:xfrm>
            <a:off x="914400" y="2606040"/>
            <a:ext cx="10332720" cy="1463040"/>
          </a:xfrm>
          <a:prstGeom prst="rect">
            <a:avLst/>
          </a:prstGeom>
          <a:noFill/>
        </p:spPr>
        <p:txBody>
          <a:bodyPr wrap="square" anchor="t" lIns="0" rIns="0" tIns="0" bIns="0">
            <a:spAutoFit/>
          </a:bodyPr>
          <a:lstStyle/>
          <a:p>
            <a:r>
              <a:rPr sz="4400" i="0" b="1">
                <a:solidFill>
                  <a:srgbClr val="0B0B0B"/>
                </a:solidFill>
                <a:latin typeface="Calibri"/>
              </a:rPr>
              <a:t>MemoryLifeBench</a:t>
            </a:r>
          </a:p>
          <a:p>
            <a:pPr>
              <a:spcBef>
                <a:spcPts val="600"/>
              </a:spcBef>
            </a:pPr>
            <a:r>
              <a:rPr sz="2200" i="0">
                <a:solidFill>
                  <a:srgbClr val="52514E"/>
                </a:solidFill>
                <a:latin typeface="Calibri"/>
              </a:rPr>
              <a:t>Memory Lifetime Prediction as a Time-to-Event Problem</a:t>
            </a:r>
          </a:p>
        </p:txBody>
      </p:sp>
      <p:sp>
        <p:nvSpPr>
          <p:cNvPr id="6" name="Rectangle 5"/>
          <p:cNvSpPr/>
          <p:nvPr/>
        </p:nvSpPr>
        <p:spPr>
          <a:xfrm>
            <a:off x="914400" y="4160520"/>
            <a:ext cx="128016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389120"/>
            <a:ext cx="8229600" cy="822960"/>
          </a:xfrm>
          <a:prstGeom prst="rect">
            <a:avLst/>
          </a:prstGeom>
          <a:noFill/>
        </p:spPr>
        <p:txBody>
          <a:bodyPr wrap="square" anchor="t" lIns="0" rIns="0" tIns="0" bIns="0">
            <a:spAutoFit/>
          </a:bodyPr>
          <a:lstStyle/>
          <a:p>
            <a:r>
              <a:rPr sz="1800" i="0" b="1">
                <a:solidFill>
                  <a:srgbClr val="0B0B0B"/>
                </a:solidFill>
                <a:latin typeface="Calibri"/>
              </a:rPr>
              <a:t>Bhargav Shendge</a:t>
            </a:r>
          </a:p>
          <a:p>
            <a:pPr>
              <a:spcBef>
                <a:spcPts val="200"/>
              </a:spcBef>
            </a:pPr>
            <a:r>
              <a:rPr sz="1400" i="0">
                <a:solidFill>
                  <a:srgbClr val="898781"/>
                </a:solidFill>
                <a:latin typeface="Calibri"/>
              </a:rPr>
              <a:t>6-Week Independent Research 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92608"/>
            <a:ext cx="10515600" cy="274320"/>
          </a:xfrm>
          <a:prstGeom prst="rect">
            <a:avLst/>
          </a:prstGeom>
          <a:noFill/>
        </p:spPr>
        <p:txBody>
          <a:bodyPr wrap="square" anchor="t" lIns="0" rIns="0" tIns="0" bIns="0">
            <a:spAutoFit/>
          </a:bodyPr>
          <a:lstStyle/>
          <a:p>
            <a:r>
              <a:rPr sz="1200" i="0" b="1">
                <a:solidFill>
                  <a:srgbClr val="2A78D6"/>
                </a:solidFill>
                <a:latin typeface="Calibri"/>
              </a:rPr>
              <a:t>OVERVIEW</a:t>
            </a:r>
          </a:p>
        </p:txBody>
      </p:sp>
      <p:sp>
        <p:nvSpPr>
          <p:cNvPr id="3" name="TextBox 2"/>
          <p:cNvSpPr txBox="1"/>
          <p:nvPr/>
        </p:nvSpPr>
        <p:spPr>
          <a:xfrm>
            <a:off x="502920" y="566928"/>
            <a:ext cx="11155680" cy="685800"/>
          </a:xfrm>
          <a:prstGeom prst="rect">
            <a:avLst/>
          </a:prstGeom>
          <a:noFill/>
        </p:spPr>
        <p:txBody>
          <a:bodyPr wrap="square" anchor="t" lIns="0" rIns="0" tIns="0" bIns="0">
            <a:spAutoFit/>
          </a:bodyPr>
          <a:lstStyle/>
          <a:p>
            <a:r>
              <a:rPr sz="2800" i="0" b="1">
                <a:solidFill>
                  <a:srgbClr val="0B0B0B"/>
                </a:solidFill>
                <a:latin typeface="Calibri"/>
              </a:rPr>
              <a:t>Agenda</a:t>
            </a:r>
          </a:p>
        </p:txBody>
      </p:sp>
      <p:sp>
        <p:nvSpPr>
          <p:cNvPr id="4" name="Rectangle 3"/>
          <p:cNvSpPr/>
          <p:nvPr/>
        </p:nvSpPr>
        <p:spPr>
          <a:xfrm>
            <a:off x="502920" y="1207008"/>
            <a:ext cx="100584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10515600" cy="4572000"/>
          </a:xfrm>
          <a:prstGeom prst="rect">
            <a:avLst/>
          </a:prstGeom>
          <a:noFill/>
        </p:spPr>
        <p:txBody>
          <a:bodyPr wrap="square" anchor="t" lIns="0" rIns="0" tIns="0" bIns="0">
            <a:spAutoFit/>
          </a:bodyPr>
          <a:lstStyle/>
          <a:p>
            <a:pPr>
              <a:spcAft>
                <a:spcPts val="1600"/>
              </a:spcAft>
            </a:pPr>
            <a:r>
              <a:rPr sz="1800" i="0">
                <a:solidFill>
                  <a:srgbClr val="0B0B0B"/>
                </a:solidFill>
                <a:latin typeface="Calibri"/>
              </a:rPr>
              <a:t>▪  </a:t>
            </a:r>
            <a:r>
              <a:rPr b="1" sz="1800" i="0">
                <a:solidFill>
                  <a:srgbClr val="0B0B0B"/>
                </a:solidFill>
                <a:latin typeface="Calibri"/>
              </a:rPr>
              <a:t>1.</a:t>
            </a:r>
            <a:r>
              <a:rPr sz="1800" i="0">
                <a:solidFill>
                  <a:srgbClr val="0B0B0B"/>
                </a:solidFill>
                <a:latin typeface="Calibri"/>
              </a:rPr>
              <a:t>  Motivation &amp; the gap in existing memory systems</a:t>
            </a:r>
          </a:p>
          <a:p>
            <a:pPr>
              <a:spcAft>
                <a:spcPts val="1600"/>
              </a:spcAft>
            </a:pPr>
            <a:r>
              <a:rPr sz="1800" i="0">
                <a:solidFill>
                  <a:srgbClr val="0B0B0B"/>
                </a:solidFill>
                <a:latin typeface="Calibri"/>
              </a:rPr>
              <a:t>▪  </a:t>
            </a:r>
            <a:r>
              <a:rPr b="1" sz="1800" i="0">
                <a:solidFill>
                  <a:srgbClr val="0B0B0B"/>
                </a:solidFill>
                <a:latin typeface="Calibri"/>
              </a:rPr>
              <a:t>2.</a:t>
            </a:r>
            <a:r>
              <a:rPr sz="1800" i="0">
                <a:solidFill>
                  <a:srgbClr val="0B0B0B"/>
                </a:solidFill>
                <a:latin typeface="Calibri"/>
              </a:rPr>
              <a:t>  MemoryLifeBench: dataset and problem framing</a:t>
            </a:r>
          </a:p>
          <a:p>
            <a:pPr>
              <a:spcAft>
                <a:spcPts val="1600"/>
              </a:spcAft>
            </a:pPr>
            <a:r>
              <a:rPr sz="1800" i="0">
                <a:solidFill>
                  <a:srgbClr val="0B0B0B"/>
                </a:solidFill>
                <a:latin typeface="Calibri"/>
              </a:rPr>
              <a:t>▪  </a:t>
            </a:r>
            <a:r>
              <a:rPr b="1" sz="1800" i="0">
                <a:solidFill>
                  <a:srgbClr val="0B0B0B"/>
                </a:solidFill>
                <a:latin typeface="Calibri"/>
              </a:rPr>
              <a:t>3.</a:t>
            </a:r>
            <a:r>
              <a:rPr sz="1800" i="0">
                <a:solidFill>
                  <a:srgbClr val="0B0B0B"/>
                </a:solidFill>
                <a:latin typeface="Calibri"/>
              </a:rPr>
              <a:t>  Method: the survival model and its joint multi-task extension</a:t>
            </a:r>
          </a:p>
          <a:p>
            <a:pPr>
              <a:spcAft>
                <a:spcPts val="1600"/>
              </a:spcAft>
            </a:pPr>
            <a:r>
              <a:rPr sz="1800" i="0">
                <a:solidFill>
                  <a:srgbClr val="0B0B0B"/>
                </a:solidFill>
                <a:latin typeface="Calibri"/>
              </a:rPr>
              <a:t>▪  </a:t>
            </a:r>
            <a:r>
              <a:rPr b="1" sz="1800" i="0">
                <a:solidFill>
                  <a:srgbClr val="0B0B0B"/>
                </a:solidFill>
                <a:latin typeface="Calibri"/>
              </a:rPr>
              <a:t>4.</a:t>
            </a:r>
            <a:r>
              <a:rPr sz="1800" i="0">
                <a:solidFill>
                  <a:srgbClr val="0B0B0B"/>
                </a:solidFill>
                <a:latin typeface="Calibri"/>
              </a:rPr>
              <a:t>  Part 1 results: does it rank memory lifetimes well?</a:t>
            </a:r>
          </a:p>
          <a:p>
            <a:pPr>
              <a:spcAft>
                <a:spcPts val="1600"/>
              </a:spcAft>
            </a:pPr>
            <a:r>
              <a:rPr sz="1800" i="0">
                <a:solidFill>
                  <a:srgbClr val="0B0B0B"/>
                </a:solidFill>
                <a:latin typeface="Calibri"/>
              </a:rPr>
              <a:t>▪  </a:t>
            </a:r>
            <a:r>
              <a:rPr b="1" sz="1800" i="0">
                <a:solidFill>
                  <a:srgbClr val="0B0B0B"/>
                </a:solidFill>
                <a:latin typeface="Calibri"/>
              </a:rPr>
              <a:t>5.</a:t>
            </a:r>
            <a:r>
              <a:rPr sz="1800" i="0">
                <a:solidFill>
                  <a:srgbClr val="0B0B0B"/>
                </a:solidFill>
                <a:latin typeface="Calibri"/>
              </a:rPr>
              <a:t>  Part 2: does that ranking translate into a good deployed policy?</a:t>
            </a:r>
          </a:p>
          <a:p>
            <a:pPr>
              <a:spcAft>
                <a:spcPts val="1600"/>
              </a:spcAft>
            </a:pPr>
            <a:r>
              <a:rPr sz="1800" i="0">
                <a:solidFill>
                  <a:srgbClr val="0B0B0B"/>
                </a:solidFill>
                <a:latin typeface="Calibri"/>
              </a:rPr>
              <a:t>▪  </a:t>
            </a:r>
            <a:r>
              <a:rPr b="1" sz="1800" i="0">
                <a:solidFill>
                  <a:srgbClr val="0B0B0B"/>
                </a:solidFill>
                <a:latin typeface="Calibri"/>
              </a:rPr>
              <a:t>6.</a:t>
            </a:r>
            <a:r>
              <a:rPr sz="1800" i="0">
                <a:solidFill>
                  <a:srgbClr val="0B0B0B"/>
                </a:solidFill>
                <a:latin typeface="Calibri"/>
              </a:rPr>
              <a:t>  The surprise negative result → root-cause diagnosis → the fix</a:t>
            </a:r>
          </a:p>
          <a:p>
            <a:pPr>
              <a:spcAft>
                <a:spcPts val="1600"/>
              </a:spcAft>
            </a:pPr>
            <a:r>
              <a:rPr sz="1800" i="0">
                <a:solidFill>
                  <a:srgbClr val="0B0B0B"/>
                </a:solidFill>
                <a:latin typeface="Calibri"/>
              </a:rPr>
              <a:t>▪  </a:t>
            </a:r>
            <a:r>
              <a:rPr b="1" sz="1800" i="0">
                <a:solidFill>
                  <a:srgbClr val="0B0B0B"/>
                </a:solidFill>
                <a:latin typeface="Calibri"/>
              </a:rPr>
              <a:t>7.</a:t>
            </a:r>
            <a:r>
              <a:rPr sz="1800" i="0">
                <a:solidFill>
                  <a:srgbClr val="0B0B0B"/>
                </a:solidFill>
                <a:latin typeface="Calibri"/>
              </a:rPr>
              <a:t>  Two honesty checks: an Oracle ceiling and a real Mem0 comparison</a:t>
            </a:r>
          </a:p>
          <a:p>
            <a:pPr>
              <a:spcAft>
                <a:spcPts val="1600"/>
              </a:spcAft>
            </a:pPr>
            <a:r>
              <a:rPr sz="1800" i="0">
                <a:solidFill>
                  <a:srgbClr val="0B0B0B"/>
                </a:solidFill>
                <a:latin typeface="Calibri"/>
              </a:rPr>
              <a:t>▪  </a:t>
            </a:r>
            <a:r>
              <a:rPr b="1" sz="1800" i="0">
                <a:solidFill>
                  <a:srgbClr val="0B0B0B"/>
                </a:solidFill>
                <a:latin typeface="Calibri"/>
              </a:rPr>
              <a:t>8.</a:t>
            </a:r>
            <a:r>
              <a:rPr sz="1800" i="0">
                <a:solidFill>
                  <a:srgbClr val="0B0B0B"/>
                </a:solidFill>
                <a:latin typeface="Calibri"/>
              </a:rPr>
              <a:t>  Limitations, conclusion, and questions</a:t>
            </a:r>
          </a:p>
        </p:txBody>
      </p:sp>
      <p:sp>
        <p:nvSpPr>
          <p:cNvPr id="6" name="Rectangle 5"/>
          <p:cNvSpPr/>
          <p:nvPr/>
        </p:nvSpPr>
        <p:spPr>
          <a:xfrm>
            <a:off x="0" y="6819900"/>
            <a:ext cx="1219169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486400" cy="274320"/>
          </a:xfrm>
          <a:prstGeom prst="rect">
            <a:avLst/>
          </a:prstGeom>
          <a:noFill/>
        </p:spPr>
        <p:txBody>
          <a:bodyPr wrap="square" anchor="t" lIns="0" rIns="0" tIns="0" bIns="0">
            <a:spAutoFit/>
          </a:bodyPr>
          <a:lstStyle/>
          <a:p>
            <a:r>
              <a:rPr sz="900" i="0">
                <a:solidFill>
                  <a:srgbClr val="898781"/>
                </a:solidFill>
                <a:latin typeface="Calibri"/>
              </a:rPr>
              <a:t>MemoryLifeBench  ·  Final Project Defense</a:t>
            </a:r>
          </a:p>
        </p:txBody>
      </p:sp>
      <p:sp>
        <p:nvSpPr>
          <p:cNvPr id="8" name="TextBox 7"/>
          <p:cNvSpPr txBox="1"/>
          <p:nvPr/>
        </p:nvSpPr>
        <p:spPr>
          <a:xfrm>
            <a:off x="11002975" y="6510528"/>
            <a:ext cx="731520" cy="274320"/>
          </a:xfrm>
          <a:prstGeom prst="rect">
            <a:avLst/>
          </a:prstGeom>
          <a:noFill/>
        </p:spPr>
        <p:txBody>
          <a:bodyPr wrap="square" anchor="t" lIns="0" rIns="0" tIns="0" bIns="0">
            <a:spAutoFit/>
          </a:bodyPr>
          <a:lstStyle/>
          <a:p>
            <a:pPr algn="r"/>
            <a:r>
              <a:rPr sz="900" i="0">
                <a:solidFill>
                  <a:srgbClr val="898781"/>
                </a:solidFill>
                <a:latin typeface="Calibri"/>
              </a:rPr>
              <a:t>2 / 36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92608"/>
            <a:ext cx="10515600" cy="274320"/>
          </a:xfrm>
          <a:prstGeom prst="rect">
            <a:avLst/>
          </a:prstGeom>
          <a:noFill/>
        </p:spPr>
        <p:txBody>
          <a:bodyPr wrap="square" anchor="t" lIns="0" rIns="0" tIns="0" bIns="0">
            <a:spAutoFit/>
          </a:bodyPr>
          <a:lstStyle/>
          <a:p>
            <a:r>
              <a:rPr sz="1200" i="0" b="1">
                <a:solidFill>
                  <a:srgbClr val="2A78D6"/>
                </a:solidFill>
                <a:latin typeface="Calibri"/>
              </a:rPr>
              <a:t>1 · MOTIVATION</a:t>
            </a:r>
          </a:p>
        </p:txBody>
      </p:sp>
      <p:sp>
        <p:nvSpPr>
          <p:cNvPr id="3" name="TextBox 2"/>
          <p:cNvSpPr txBox="1"/>
          <p:nvPr/>
        </p:nvSpPr>
        <p:spPr>
          <a:xfrm>
            <a:off x="502920" y="566928"/>
            <a:ext cx="11155680" cy="685800"/>
          </a:xfrm>
          <a:prstGeom prst="rect">
            <a:avLst/>
          </a:prstGeom>
          <a:noFill/>
        </p:spPr>
        <p:txBody>
          <a:bodyPr wrap="square" anchor="t" lIns="0" rIns="0" tIns="0" bIns="0">
            <a:spAutoFit/>
          </a:bodyPr>
          <a:lstStyle/>
          <a:p>
            <a:r>
              <a:rPr sz="2800" i="0" b="1">
                <a:solidFill>
                  <a:srgbClr val="0B0B0B"/>
                </a:solidFill>
                <a:latin typeface="Calibri"/>
              </a:rPr>
              <a:t>Why memory lifetime, and why now?</a:t>
            </a:r>
          </a:p>
        </p:txBody>
      </p:sp>
      <p:sp>
        <p:nvSpPr>
          <p:cNvPr id="4" name="Rectangle 3"/>
          <p:cNvSpPr/>
          <p:nvPr/>
        </p:nvSpPr>
        <p:spPr>
          <a:xfrm>
            <a:off x="502920" y="1207008"/>
            <a:ext cx="100584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54480"/>
            <a:ext cx="5577840" cy="4114800"/>
          </a:xfrm>
          <a:prstGeom prst="rect">
            <a:avLst/>
          </a:prstGeom>
          <a:noFill/>
        </p:spPr>
        <p:txBody>
          <a:bodyPr wrap="square" anchor="t" lIns="0" rIns="0" tIns="0" bIns="0">
            <a:spAutoFit/>
          </a:bodyPr>
          <a:lstStyle/>
          <a:p>
            <a:pPr>
              <a:spcAft>
                <a:spcPts val="1800"/>
              </a:spcAft>
            </a:pPr>
            <a:r>
              <a:rPr sz="1700" i="0">
                <a:solidFill>
                  <a:srgbClr val="0B0B0B"/>
                </a:solidFill>
                <a:latin typeface="Calibri"/>
              </a:rPr>
              <a:t>▪  Long-running AI assistants accumulate facts about the user across every session</a:t>
            </a:r>
          </a:p>
          <a:p>
            <a:pPr>
              <a:spcAft>
                <a:spcPts val="1800"/>
              </a:spcAft>
            </a:pPr>
            <a:r>
              <a:rPr sz="1700" i="0">
                <a:solidFill>
                  <a:srgbClr val="0B0B0B"/>
                </a:solidFill>
                <a:latin typeface="Calibri"/>
              </a:rPr>
              <a:t>▪  Storage isn't free, and unbounded context windows don't solve it</a:t>
            </a:r>
          </a:p>
          <a:p>
            <a:pPr>
              <a:spcAft>
                <a:spcPts val="1800"/>
              </a:spcAft>
            </a:pPr>
            <a:r>
              <a:rPr sz="1700" i="0">
                <a:solidFill>
                  <a:srgbClr val="0B0B0B"/>
                </a:solidFill>
                <a:latin typeface="Calibri"/>
              </a:rPr>
              <a:t>▪  Retrieval quality degrades as the memory store grows</a:t>
            </a:r>
          </a:p>
          <a:p>
            <a:pPr>
              <a:spcAft>
                <a:spcPts val="1800"/>
              </a:spcAft>
            </a:pPr>
            <a:r>
              <a:rPr sz="1700" i="0">
                <a:solidFill>
                  <a:srgbClr val="0B0B0B"/>
                </a:solidFill>
                <a:latin typeface="Calibri"/>
              </a:rPr>
              <a:t>▪  Stale or contradicted facts actively hurt answers if never removed</a:t>
            </a:r>
          </a:p>
        </p:txBody>
      </p:sp>
      <p:sp>
        <p:nvSpPr>
          <p:cNvPr id="6" name="Rectangle 5"/>
          <p:cNvSpPr/>
          <p:nvPr/>
        </p:nvSpPr>
        <p:spPr>
          <a:xfrm>
            <a:off x="6675120" y="1691640"/>
            <a:ext cx="4754880" cy="3566160"/>
          </a:xfrm>
          <a:prstGeom prst="rect">
            <a:avLst/>
          </a:prstGeom>
          <a:solidFill>
            <a:srgbClr val="FCFCFB"/>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0" y="1874519"/>
            <a:ext cx="4206240" cy="3200400"/>
          </a:xfrm>
          <a:prstGeom prst="rect">
            <a:avLst/>
          </a:prstGeom>
          <a:noFill/>
        </p:spPr>
        <p:txBody>
          <a:bodyPr wrap="square" anchor="t" lIns="0" rIns="0" tIns="0" bIns="0">
            <a:spAutoFit/>
          </a:bodyPr>
          <a:lstStyle/>
          <a:p>
            <a:r>
              <a:rPr sz="1500" i="0" b="1">
                <a:solidFill>
                  <a:srgbClr val="2A78D6"/>
                </a:solidFill>
                <a:latin typeface="Calibri"/>
              </a:rPr>
              <a:t>The core question</a:t>
            </a:r>
          </a:p>
          <a:p>
            <a:pPr>
              <a:spcBef>
                <a:spcPts val="1000"/>
              </a:spcBef>
            </a:pPr>
            <a:r>
              <a:rPr sz="1600" i="0">
                <a:solidFill>
                  <a:srgbClr val="0B0B0B"/>
                </a:solidFill>
                <a:latin typeface="Calibri"/>
              </a:rPr>
              <a:t>“Should this memory be forgotten?”</a:t>
            </a:r>
          </a:p>
          <a:p>
            <a:pPr>
              <a:spcBef>
                <a:spcPts val="200"/>
              </a:spcBef>
            </a:pPr>
            <a:r>
              <a:rPr sz="1600" i="1">
                <a:solidFill>
                  <a:srgbClr val="898781"/>
                </a:solidFill>
                <a:latin typeface="Calibri"/>
              </a:rPr>
              <a:t>is the wrong question.</a:t>
            </a:r>
          </a:p>
          <a:p>
            <a:pPr>
              <a:spcBef>
                <a:spcPts val="1400"/>
              </a:spcBef>
            </a:pPr>
            <a:r>
              <a:rPr sz="1600" i="0" b="1">
                <a:solidFill>
                  <a:srgbClr val="0B0B0B"/>
                </a:solidFill>
                <a:latin typeface="Calibri"/>
              </a:rPr>
              <a:t>“When will this memory stop being useful?”</a:t>
            </a:r>
          </a:p>
          <a:p>
            <a:pPr>
              <a:spcBef>
                <a:spcPts val="200"/>
              </a:spcBef>
            </a:pPr>
            <a:r>
              <a:rPr sz="1600" i="0">
                <a:solidFill>
                  <a:srgbClr val="898781"/>
                </a:solidFill>
                <a:latin typeface="Calibri"/>
              </a:rPr>
              <a:t>is the question this project answers directly.</a:t>
            </a:r>
          </a:p>
        </p:txBody>
      </p:sp>
      <p:sp>
        <p:nvSpPr>
          <p:cNvPr id="8" name="Rectangle 7"/>
          <p:cNvSpPr/>
          <p:nvPr/>
        </p:nvSpPr>
        <p:spPr>
          <a:xfrm>
            <a:off x="0" y="6819900"/>
            <a:ext cx="1219169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10528"/>
            <a:ext cx="5486400" cy="274320"/>
          </a:xfrm>
          <a:prstGeom prst="rect">
            <a:avLst/>
          </a:prstGeom>
          <a:noFill/>
        </p:spPr>
        <p:txBody>
          <a:bodyPr wrap="square" anchor="t" lIns="0" rIns="0" tIns="0" bIns="0">
            <a:spAutoFit/>
          </a:bodyPr>
          <a:lstStyle/>
          <a:p>
            <a:r>
              <a:rPr sz="900" i="0">
                <a:solidFill>
                  <a:srgbClr val="898781"/>
                </a:solidFill>
                <a:latin typeface="Calibri"/>
              </a:rPr>
              <a:t>MemoryLifeBench  ·  Final Project Defense</a:t>
            </a:r>
          </a:p>
        </p:txBody>
      </p:sp>
      <p:sp>
        <p:nvSpPr>
          <p:cNvPr id="10" name="TextBox 9"/>
          <p:cNvSpPr txBox="1"/>
          <p:nvPr/>
        </p:nvSpPr>
        <p:spPr>
          <a:xfrm>
            <a:off x="11002975" y="6510528"/>
            <a:ext cx="731520" cy="274320"/>
          </a:xfrm>
          <a:prstGeom prst="rect">
            <a:avLst/>
          </a:prstGeom>
          <a:noFill/>
        </p:spPr>
        <p:txBody>
          <a:bodyPr wrap="square" anchor="t" lIns="0" rIns="0" tIns="0" bIns="0">
            <a:spAutoFit/>
          </a:bodyPr>
          <a:lstStyle/>
          <a:p>
            <a:pPr algn="r"/>
            <a:r>
              <a:rPr sz="900" i="0">
                <a:solidFill>
                  <a:srgbClr val="898781"/>
                </a:solidFill>
                <a:latin typeface="Calibri"/>
              </a:rPr>
              <a:t>3 / 36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92608"/>
            <a:ext cx="10515600" cy="274320"/>
          </a:xfrm>
          <a:prstGeom prst="rect">
            <a:avLst/>
          </a:prstGeom>
          <a:noFill/>
        </p:spPr>
        <p:txBody>
          <a:bodyPr wrap="square" anchor="t" lIns="0" rIns="0" tIns="0" bIns="0">
            <a:spAutoFit/>
          </a:bodyPr>
          <a:lstStyle/>
          <a:p>
            <a:r>
              <a:rPr sz="1200" i="0" b="1">
                <a:solidFill>
                  <a:srgbClr val="2A78D6"/>
                </a:solidFill>
                <a:latin typeface="Calibri"/>
              </a:rPr>
              <a:t>1 · RELATED WORK</a:t>
            </a:r>
          </a:p>
        </p:txBody>
      </p:sp>
      <p:sp>
        <p:nvSpPr>
          <p:cNvPr id="3" name="TextBox 2"/>
          <p:cNvSpPr txBox="1"/>
          <p:nvPr/>
        </p:nvSpPr>
        <p:spPr>
          <a:xfrm>
            <a:off x="502920" y="566928"/>
            <a:ext cx="11155680" cy="685800"/>
          </a:xfrm>
          <a:prstGeom prst="rect">
            <a:avLst/>
          </a:prstGeom>
          <a:noFill/>
        </p:spPr>
        <p:txBody>
          <a:bodyPr wrap="square" anchor="t" lIns="0" rIns="0" tIns="0" bIns="0">
            <a:spAutoFit/>
          </a:bodyPr>
          <a:lstStyle/>
          <a:p>
            <a:r>
              <a:rPr sz="2800" i="0" b="1">
                <a:solidFill>
                  <a:srgbClr val="0B0B0B"/>
                </a:solidFill>
                <a:latin typeface="Calibri"/>
              </a:rPr>
              <a:t>How existing systems answer this</a:t>
            </a:r>
          </a:p>
        </p:txBody>
      </p:sp>
      <p:sp>
        <p:nvSpPr>
          <p:cNvPr id="4" name="Rectangle 3"/>
          <p:cNvSpPr/>
          <p:nvPr/>
        </p:nvSpPr>
        <p:spPr>
          <a:xfrm>
            <a:off x="502920" y="1207008"/>
            <a:ext cx="100584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508760"/>
          <a:ext cx="11155679" cy="3931920"/>
        </p:xfrm>
        <a:graphic>
          <a:graphicData uri="http://schemas.openxmlformats.org/drawingml/2006/table">
            <a:tbl>
              <a:tblPr firstRow="1" bandRow="1">
                <a:tableStyleId>{5C22544A-7EE6-4342-B048-85BDC9FD1C3A}</a:tableStyleId>
              </a:tblPr>
              <a:tblGrid>
                <a:gridCol w="3293581"/>
                <a:gridCol w="4674761"/>
                <a:gridCol w="3187337"/>
              </a:tblGrid>
              <a:tr h="561702">
                <a:tc>
                  <a:txBody>
                    <a:bodyPr/>
                    <a:lstStyle/>
                    <a:p>
                      <a:r>
                        <a:rPr sz="1300" i="0" b="1">
                          <a:solidFill>
                            <a:srgbClr val="FFFFFF"/>
                          </a:solidFill>
                          <a:latin typeface="Calibri"/>
                        </a:rPr>
                        <a:t>System</a:t>
                      </a:r>
                    </a:p>
                  </a:txBody>
                  <a:tcPr anchor="ctr" marL="73152" marT="27432" marB="27432">
                    <a:solidFill>
                      <a:srgbClr val="2A78D6"/>
                    </a:solidFill>
                  </a:tcPr>
                </a:tc>
                <a:tc>
                  <a:txBody>
                    <a:bodyPr/>
                    <a:lstStyle/>
                    <a:p>
                      <a:r>
                        <a:rPr sz="1300" i="0" b="1">
                          <a:solidFill>
                            <a:srgbClr val="FFFFFF"/>
                          </a:solidFill>
                          <a:latin typeface="Calibri"/>
                        </a:rPr>
                        <a:t>Approach</a:t>
                      </a:r>
                    </a:p>
                  </a:txBody>
                  <a:tcPr anchor="ctr" marL="73152" marT="27432" marB="27432">
                    <a:solidFill>
                      <a:srgbClr val="2A78D6"/>
                    </a:solidFill>
                  </a:tcPr>
                </a:tc>
                <a:tc>
                  <a:txBody>
                    <a:bodyPr/>
                    <a:lstStyle/>
                    <a:p>
                      <a:r>
                        <a:rPr sz="1300" i="0" b="1">
                          <a:solidFill>
                            <a:srgbClr val="FFFFFF"/>
                          </a:solidFill>
                          <a:latin typeface="Calibri"/>
                        </a:rPr>
                        <a:t>Predicts an explicit time-to-event?</a:t>
                      </a:r>
                    </a:p>
                  </a:txBody>
                  <a:tcPr anchor="ctr" marL="73152" marT="27432" marB="27432">
                    <a:solidFill>
                      <a:srgbClr val="2A78D6"/>
                    </a:solidFill>
                  </a:tcPr>
                </a:tc>
              </a:tr>
              <a:tr h="561702">
                <a:tc>
                  <a:txBody>
                    <a:bodyPr/>
                    <a:lstStyle/>
                    <a:p>
                      <a:r>
                        <a:rPr sz="1300" i="0">
                          <a:solidFill>
                            <a:srgbClr val="0B0B0B"/>
                          </a:solidFill>
                          <a:latin typeface="Calibri"/>
                        </a:rPr>
                        <a:t>Generative Agents (Park et al., 2023)</a:t>
                      </a:r>
                    </a:p>
                  </a:txBody>
                  <a:tcPr anchor="ctr" marL="73152" marT="18288" marB="18288">
                    <a:solidFill>
                      <a:srgbClr val="FFFFFF"/>
                    </a:solidFill>
                  </a:tcPr>
                </a:tc>
                <a:tc>
                  <a:txBody>
                    <a:bodyPr/>
                    <a:lstStyle/>
                    <a:p>
                      <a:r>
                        <a:rPr sz="1300" i="0">
                          <a:solidFill>
                            <a:srgbClr val="0B0B0B"/>
                          </a:solidFill>
                          <a:latin typeface="Calibri"/>
                        </a:rPr>
                        <a:t>Hand-tuned recency/importance/relevance score, decayed</a:t>
                      </a:r>
                    </a:p>
                  </a:txBody>
                  <a:tcPr anchor="ctr" marL="73152" marT="18288" marB="18288">
                    <a:solidFill>
                      <a:srgbClr val="FFFFFF"/>
                    </a:solidFill>
                  </a:tcPr>
                </a:tc>
                <a:tc>
                  <a:txBody>
                    <a:bodyPr/>
                    <a:lstStyle/>
                    <a:p>
                      <a:r>
                        <a:rPr sz="1300" i="0">
                          <a:solidFill>
                            <a:srgbClr val="0B0B0B"/>
                          </a:solidFill>
                          <a:latin typeface="Calibri"/>
                        </a:rPr>
                        <a:t>No</a:t>
                      </a:r>
                    </a:p>
                  </a:txBody>
                  <a:tcPr anchor="ctr" marL="73152" marT="18288" marB="18288">
                    <a:solidFill>
                      <a:srgbClr val="FFFFFF"/>
                    </a:solidFill>
                  </a:tcPr>
                </a:tc>
              </a:tr>
              <a:tr h="561702">
                <a:tc>
                  <a:txBody>
                    <a:bodyPr/>
                    <a:lstStyle/>
                    <a:p>
                      <a:r>
                        <a:rPr sz="1300" i="0">
                          <a:solidFill>
                            <a:srgbClr val="0B0B0B"/>
                          </a:solidFill>
                          <a:latin typeface="Calibri"/>
                        </a:rPr>
                        <a:t>MemGPT (Packer et al., 2023)</a:t>
                      </a:r>
                    </a:p>
                  </a:txBody>
                  <a:tcPr anchor="ctr" marL="73152" marT="18288" marB="18288">
                    <a:solidFill>
                      <a:srgbClr val="FCFCFB"/>
                    </a:solidFill>
                  </a:tcPr>
                </a:tc>
                <a:tc>
                  <a:txBody>
                    <a:bodyPr/>
                    <a:lstStyle/>
                    <a:p>
                      <a:r>
                        <a:rPr sz="1300" i="0">
                          <a:solidFill>
                            <a:srgbClr val="0B0B0B"/>
                          </a:solidFill>
                          <a:latin typeface="Calibri"/>
                        </a:rPr>
                        <a:t>OS-style paging between working set and external storage</a:t>
                      </a:r>
                    </a:p>
                  </a:txBody>
                  <a:tcPr anchor="ctr" marL="73152" marT="18288" marB="18288">
                    <a:solidFill>
                      <a:srgbClr val="FCFCFB"/>
                    </a:solidFill>
                  </a:tcPr>
                </a:tc>
                <a:tc>
                  <a:txBody>
                    <a:bodyPr/>
                    <a:lstStyle/>
                    <a:p>
                      <a:r>
                        <a:rPr sz="1300" i="0">
                          <a:solidFill>
                            <a:srgbClr val="0B0B0B"/>
                          </a:solidFill>
                          <a:latin typeface="Calibri"/>
                        </a:rPr>
                        <a:t>No</a:t>
                      </a:r>
                    </a:p>
                  </a:txBody>
                  <a:tcPr anchor="ctr" marL="73152" marT="18288" marB="18288">
                    <a:solidFill>
                      <a:srgbClr val="FCFCFB"/>
                    </a:solidFill>
                  </a:tcPr>
                </a:tc>
              </a:tr>
              <a:tr h="561702">
                <a:tc>
                  <a:txBody>
                    <a:bodyPr/>
                    <a:lstStyle/>
                    <a:p>
                      <a:r>
                        <a:rPr sz="1300" i="0">
                          <a:solidFill>
                            <a:srgbClr val="0B0B0B"/>
                          </a:solidFill>
                          <a:latin typeface="Calibri"/>
                        </a:rPr>
                        <a:t>Mem0 (Chhikara et al., 2025)</a:t>
                      </a:r>
                    </a:p>
                  </a:txBody>
                  <a:tcPr anchor="ctr" marL="73152" marT="18288" marB="18288">
                    <a:solidFill>
                      <a:srgbClr val="FFFFFF"/>
                    </a:solidFill>
                  </a:tcPr>
                </a:tc>
                <a:tc>
                  <a:txBody>
                    <a:bodyPr/>
                    <a:lstStyle/>
                    <a:p>
                      <a:r>
                        <a:rPr sz="1300" i="0">
                          <a:solidFill>
                            <a:srgbClr val="0B0B0B"/>
                          </a:solidFill>
                          <a:latin typeface="Calibri"/>
                        </a:rPr>
                        <a:t>Heuristic consolidation; frequently discards by internal rule</a:t>
                      </a:r>
                    </a:p>
                  </a:txBody>
                  <a:tcPr anchor="ctr" marL="73152" marT="18288" marB="18288">
                    <a:solidFill>
                      <a:srgbClr val="FFFFFF"/>
                    </a:solidFill>
                  </a:tcPr>
                </a:tc>
                <a:tc>
                  <a:txBody>
                    <a:bodyPr/>
                    <a:lstStyle/>
                    <a:p>
                      <a:r>
                        <a:rPr sz="1300" i="0">
                          <a:solidFill>
                            <a:srgbClr val="0B0B0B"/>
                          </a:solidFill>
                          <a:latin typeface="Calibri"/>
                        </a:rPr>
                        <a:t>No</a:t>
                      </a:r>
                    </a:p>
                  </a:txBody>
                  <a:tcPr anchor="ctr" marL="73152" marT="18288" marB="18288">
                    <a:solidFill>
                      <a:srgbClr val="FFFFFF"/>
                    </a:solidFill>
                  </a:tcPr>
                </a:tc>
              </a:tr>
              <a:tr h="561702">
                <a:tc>
                  <a:txBody>
                    <a:bodyPr/>
                    <a:lstStyle/>
                    <a:p>
                      <a:r>
                        <a:rPr sz="1300" i="0">
                          <a:solidFill>
                            <a:srgbClr val="0B0B0B"/>
                          </a:solidFill>
                          <a:latin typeface="Calibri"/>
                        </a:rPr>
                        <a:t>MemoryBank (Zhong et al., 2024)</a:t>
                      </a:r>
                    </a:p>
                  </a:txBody>
                  <a:tcPr anchor="ctr" marL="73152" marT="18288" marB="18288">
                    <a:solidFill>
                      <a:srgbClr val="FCFCFB"/>
                    </a:solidFill>
                  </a:tcPr>
                </a:tc>
                <a:tc>
                  <a:txBody>
                    <a:bodyPr/>
                    <a:lstStyle/>
                    <a:p>
                      <a:r>
                        <a:rPr sz="1300" i="0">
                          <a:solidFill>
                            <a:srgbClr val="0B0B0B"/>
                          </a:solidFill>
                          <a:latin typeface="Calibri"/>
                        </a:rPr>
                        <a:t>Fixed time-decay curve for consolidation/forgetting</a:t>
                      </a:r>
                    </a:p>
                  </a:txBody>
                  <a:tcPr anchor="ctr" marL="73152" marT="18288" marB="18288">
                    <a:solidFill>
                      <a:srgbClr val="FCFCFB"/>
                    </a:solidFill>
                  </a:tcPr>
                </a:tc>
                <a:tc>
                  <a:txBody>
                    <a:bodyPr/>
                    <a:lstStyle/>
                    <a:p>
                      <a:r>
                        <a:rPr sz="1300" i="0">
                          <a:solidFill>
                            <a:srgbClr val="0B0B0B"/>
                          </a:solidFill>
                          <a:latin typeface="Calibri"/>
                        </a:rPr>
                        <a:t>No</a:t>
                      </a:r>
                    </a:p>
                  </a:txBody>
                  <a:tcPr anchor="ctr" marL="73152" marT="18288" marB="18288">
                    <a:solidFill>
                      <a:srgbClr val="FCFCFB"/>
                    </a:solidFill>
                  </a:tcPr>
                </a:tc>
              </a:tr>
              <a:tr h="561702">
                <a:tc>
                  <a:txBody>
                    <a:bodyPr/>
                    <a:lstStyle/>
                    <a:p>
                      <a:r>
                        <a:rPr sz="1300" i="0">
                          <a:solidFill>
                            <a:srgbClr val="0B0B0B"/>
                          </a:solidFill>
                          <a:latin typeface="Calibri"/>
                        </a:rPr>
                        <a:t>HippoRAG / GraphRAG / Zep / A-Mem</a:t>
                      </a:r>
                    </a:p>
                  </a:txBody>
                  <a:tcPr anchor="ctr" marL="73152" marT="18288" marB="18288">
                    <a:solidFill>
                      <a:srgbClr val="FFFFFF"/>
                    </a:solidFill>
                  </a:tcPr>
                </a:tc>
                <a:tc>
                  <a:txBody>
                    <a:bodyPr/>
                    <a:lstStyle/>
                    <a:p>
                      <a:r>
                        <a:rPr sz="1300" i="0">
                          <a:solidFill>
                            <a:srgbClr val="0B0B0B"/>
                          </a:solidFill>
                          <a:latin typeface="Calibri"/>
                        </a:rPr>
                        <a:t>Graph-structured retrieval; no temporal-per-memory model</a:t>
                      </a:r>
                    </a:p>
                  </a:txBody>
                  <a:tcPr anchor="ctr" marL="73152" marT="18288" marB="18288">
                    <a:solidFill>
                      <a:srgbClr val="FFFFFF"/>
                    </a:solidFill>
                  </a:tcPr>
                </a:tc>
                <a:tc>
                  <a:txBody>
                    <a:bodyPr/>
                    <a:lstStyle/>
                    <a:p>
                      <a:r>
                        <a:rPr sz="1300" i="0">
                          <a:solidFill>
                            <a:srgbClr val="0B0B0B"/>
                          </a:solidFill>
                          <a:latin typeface="Calibri"/>
                        </a:rPr>
                        <a:t>No</a:t>
                      </a:r>
                    </a:p>
                  </a:txBody>
                  <a:tcPr anchor="ctr" marL="73152" marT="18288" marB="18288">
                    <a:solidFill>
                      <a:srgbClr val="FFFFFF"/>
                    </a:solidFill>
                  </a:tcPr>
                </a:tc>
              </a:tr>
              <a:tr h="561708">
                <a:tc>
                  <a:txBody>
                    <a:bodyPr/>
                    <a:lstStyle/>
                    <a:p>
                      <a:r>
                        <a:rPr sz="1300" i="0">
                          <a:solidFill>
                            <a:srgbClr val="0B0B0B"/>
                          </a:solidFill>
                          <a:latin typeface="Calibri"/>
                        </a:rPr>
                        <a:t>REMem (Shu et al., 2026, ICLR)</a:t>
                      </a:r>
                    </a:p>
                  </a:txBody>
                  <a:tcPr anchor="ctr" marL="73152" marT="18288" marB="18288">
                    <a:solidFill>
                      <a:srgbClr val="FCFCFB"/>
                    </a:solidFill>
                  </a:tcPr>
                </a:tc>
                <a:tc>
                  <a:txBody>
                    <a:bodyPr/>
                    <a:lstStyle/>
                    <a:p>
                      <a:r>
                        <a:rPr sz="1300" i="0">
                          <a:solidFill>
                            <a:srgbClr val="0B0B0B"/>
                          </a:solidFill>
                          <a:latin typeface="Calibri"/>
                        </a:rPr>
                        <a:t>Time-aware episodic graph + agentic retrieval</a:t>
                      </a:r>
                    </a:p>
                  </a:txBody>
                  <a:tcPr anchor="ctr" marL="73152" marT="18288" marB="18288">
                    <a:solidFill>
                      <a:srgbClr val="FCFCFB"/>
                    </a:solidFill>
                  </a:tcPr>
                </a:tc>
                <a:tc>
                  <a:txBody>
                    <a:bodyPr/>
                    <a:lstStyle/>
                    <a:p>
                      <a:r>
                        <a:rPr sz="1300" i="0">
                          <a:solidFill>
                            <a:srgbClr val="0B0B0B"/>
                          </a:solidFill>
                          <a:latin typeface="Calibri"/>
                        </a:rPr>
                        <a:t>Partially (representation, not a trained target)</a:t>
                      </a:r>
                    </a:p>
                  </a:txBody>
                  <a:tcPr anchor="ctr" marL="73152" marT="18288" marB="18288">
                    <a:solidFill>
                      <a:srgbClr val="FCFCFB"/>
                    </a:solidFill>
                  </a:tcPr>
                </a:tc>
              </a:tr>
            </a:tbl>
          </a:graphicData>
        </a:graphic>
      </p:graphicFrame>
      <p:sp>
        <p:nvSpPr>
          <p:cNvPr id="6" name="TextBox 5"/>
          <p:cNvSpPr txBox="1"/>
          <p:nvPr/>
        </p:nvSpPr>
        <p:spPr>
          <a:xfrm>
            <a:off x="502920" y="5623560"/>
            <a:ext cx="11155680" cy="457200"/>
          </a:xfrm>
          <a:prstGeom prst="rect">
            <a:avLst/>
          </a:prstGeom>
          <a:noFill/>
        </p:spPr>
        <p:txBody>
          <a:bodyPr wrap="square" anchor="t" lIns="0" rIns="0" tIns="0" bIns="0">
            <a:spAutoFit/>
          </a:bodyPr>
          <a:lstStyle/>
          <a:p>
            <a:r>
              <a:rPr b="1" sz="1450" i="0">
                <a:solidFill>
                  <a:srgbClr val="0B0B0B"/>
                </a:solidFill>
                <a:latin typeface="Calibri"/>
              </a:rPr>
              <a:t>None of these systems predict an explicit, evaluable time-to-event target for individual memories — the gap this work targets.</a:t>
            </a:r>
          </a:p>
        </p:txBody>
      </p:sp>
      <p:sp>
        <p:nvSpPr>
          <p:cNvPr id="7" name="Rectangle 6"/>
          <p:cNvSpPr/>
          <p:nvPr/>
        </p:nvSpPr>
        <p:spPr>
          <a:xfrm>
            <a:off x="0" y="6819900"/>
            <a:ext cx="1219169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5486400" cy="274320"/>
          </a:xfrm>
          <a:prstGeom prst="rect">
            <a:avLst/>
          </a:prstGeom>
          <a:noFill/>
        </p:spPr>
        <p:txBody>
          <a:bodyPr wrap="square" anchor="t" lIns="0" rIns="0" tIns="0" bIns="0">
            <a:spAutoFit/>
          </a:bodyPr>
          <a:lstStyle/>
          <a:p>
            <a:r>
              <a:rPr sz="900" i="0">
                <a:solidFill>
                  <a:srgbClr val="898781"/>
                </a:solidFill>
                <a:latin typeface="Calibri"/>
              </a:rPr>
              <a:t>MemoryLifeBench  ·  Final Project Defense</a:t>
            </a:r>
          </a:p>
        </p:txBody>
      </p:sp>
      <p:sp>
        <p:nvSpPr>
          <p:cNvPr id="9" name="TextBox 8"/>
          <p:cNvSpPr txBox="1"/>
          <p:nvPr/>
        </p:nvSpPr>
        <p:spPr>
          <a:xfrm>
            <a:off x="11002975" y="6510528"/>
            <a:ext cx="731520" cy="274320"/>
          </a:xfrm>
          <a:prstGeom prst="rect">
            <a:avLst/>
          </a:prstGeom>
          <a:noFill/>
        </p:spPr>
        <p:txBody>
          <a:bodyPr wrap="square" anchor="t" lIns="0" rIns="0" tIns="0" bIns="0">
            <a:spAutoFit/>
          </a:bodyPr>
          <a:lstStyle/>
          <a:p>
            <a:pPr algn="r"/>
            <a:r>
              <a:rPr sz="900" i="0">
                <a:solidFill>
                  <a:srgbClr val="898781"/>
                </a:solidFill>
                <a:latin typeface="Calibri"/>
              </a:rPr>
              <a:t>4 / 36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92608"/>
            <a:ext cx="10515600" cy="274320"/>
          </a:xfrm>
          <a:prstGeom prst="rect">
            <a:avLst/>
          </a:prstGeom>
          <a:noFill/>
        </p:spPr>
        <p:txBody>
          <a:bodyPr wrap="square" anchor="t" lIns="0" rIns="0" tIns="0" bIns="0">
            <a:spAutoFit/>
          </a:bodyPr>
          <a:lstStyle/>
          <a:p>
            <a:r>
              <a:rPr sz="1200" i="0" b="1">
                <a:solidFill>
                  <a:srgbClr val="2A78D6"/>
                </a:solidFill>
                <a:latin typeface="Calibri"/>
              </a:rPr>
              <a:t>1 · OUR REFRAMING</a:t>
            </a:r>
          </a:p>
        </p:txBody>
      </p:sp>
      <p:sp>
        <p:nvSpPr>
          <p:cNvPr id="3" name="TextBox 2"/>
          <p:cNvSpPr txBox="1"/>
          <p:nvPr/>
        </p:nvSpPr>
        <p:spPr>
          <a:xfrm>
            <a:off x="502920" y="566928"/>
            <a:ext cx="11155680" cy="685800"/>
          </a:xfrm>
          <a:prstGeom prst="rect">
            <a:avLst/>
          </a:prstGeom>
          <a:noFill/>
        </p:spPr>
        <p:txBody>
          <a:bodyPr wrap="square" anchor="t" lIns="0" rIns="0" tIns="0" bIns="0">
            <a:spAutoFit/>
          </a:bodyPr>
          <a:lstStyle/>
          <a:p>
            <a:r>
              <a:rPr sz="2800" i="0" b="1">
                <a:solidFill>
                  <a:srgbClr val="0B0B0B"/>
                </a:solidFill>
                <a:latin typeface="Calibri"/>
              </a:rPr>
              <a:t>Memory retention as survival analysis</a:t>
            </a:r>
          </a:p>
        </p:txBody>
      </p:sp>
      <p:sp>
        <p:nvSpPr>
          <p:cNvPr id="4" name="Rectangle 3"/>
          <p:cNvSpPr/>
          <p:nvPr/>
        </p:nvSpPr>
        <p:spPr>
          <a:xfrm>
            <a:off x="502920" y="1207008"/>
            <a:ext cx="100584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54480"/>
            <a:ext cx="10607040" cy="4572000"/>
          </a:xfrm>
          <a:prstGeom prst="rect">
            <a:avLst/>
          </a:prstGeom>
          <a:noFill/>
        </p:spPr>
        <p:txBody>
          <a:bodyPr wrap="square" anchor="t" lIns="0" rIns="0" tIns="0" bIns="0">
            <a:spAutoFit/>
          </a:bodyPr>
          <a:lstStyle/>
          <a:p>
            <a:pPr>
              <a:spcAft>
                <a:spcPts val="1400"/>
              </a:spcAft>
            </a:pPr>
            <a:r>
              <a:rPr sz="1800" i="0">
                <a:solidFill>
                  <a:srgbClr val="0B0B0B"/>
                </a:solidFill>
                <a:latin typeface="Calibri"/>
              </a:rPr>
              <a:t>▪  Treat every memory as a </a:t>
            </a:r>
            <a:r>
              <a:rPr b="1" sz="1800" i="0">
                <a:solidFill>
                  <a:srgbClr val="0B0B0B"/>
                </a:solidFill>
                <a:latin typeface="Calibri"/>
              </a:rPr>
              <a:t>survival-analysis subject</a:t>
            </a:r>
          </a:p>
          <a:p>
            <a:pPr lvl="1">
              <a:spcAft>
                <a:spcPts val="1400"/>
              </a:spcAft>
            </a:pPr>
            <a:r>
              <a:rPr sz="1700" i="0">
                <a:solidFill>
                  <a:srgbClr val="0B0B0B"/>
                </a:solidFill>
                <a:latin typeface="Calibri"/>
              </a:rPr>
              <a:t>–  Born when stated → dies when invalidated, contradicted, superseded, or never referenced again</a:t>
            </a:r>
          </a:p>
          <a:p>
            <a:pPr lvl="1">
              <a:spcAft>
                <a:spcPts val="1400"/>
              </a:spcAft>
            </a:pPr>
            <a:r>
              <a:rPr sz="1700" i="0">
                <a:solidFill>
                  <a:srgbClr val="0B0B0B"/>
                </a:solidFill>
                <a:latin typeface="Calibri"/>
              </a:rPr>
              <a:t>–  Right-censored if the “death” is never observed in the data window</a:t>
            </a:r>
          </a:p>
          <a:p>
            <a:pPr>
              <a:spcAft>
                <a:spcPts val="1400"/>
              </a:spcAft>
            </a:pPr>
            <a:r>
              <a:rPr sz="1800" i="0">
                <a:solidFill>
                  <a:srgbClr val="0B0B0B"/>
                </a:solidFill>
                <a:latin typeface="Calibri"/>
              </a:rPr>
              <a:t>▪  Inherits a mature, well-understood toolkit for free</a:t>
            </a:r>
          </a:p>
          <a:p>
            <a:pPr lvl="1">
              <a:spcAft>
                <a:spcPts val="1400"/>
              </a:spcAft>
            </a:pPr>
            <a:r>
              <a:rPr sz="1700" i="0">
                <a:solidFill>
                  <a:srgbClr val="0B0B0B"/>
                </a:solidFill>
                <a:latin typeface="Calibri"/>
              </a:rPr>
              <a:t>–  Cox proportional hazards · concordance index · time-dependent AUC · integrated Brier score</a:t>
            </a:r>
          </a:p>
          <a:p>
            <a:pPr lvl="1">
              <a:spcAft>
                <a:spcPts val="1400"/>
              </a:spcAft>
            </a:pPr>
            <a:r>
              <a:rPr sz="1700" i="0">
                <a:solidFill>
                  <a:srgbClr val="0B0B0B"/>
                </a:solidFill>
                <a:latin typeface="Calibri"/>
              </a:rPr>
              <a:t>–  A sharp distinction the field draws that this paper leans on: </a:t>
            </a:r>
            <a:r>
              <a:rPr b="1" sz="1700" i="0">
                <a:solidFill>
                  <a:srgbClr val="0B0B0B"/>
                </a:solidFill>
                <a:latin typeface="Calibri"/>
              </a:rPr>
              <a:t>ranking quality (discrimination) is not the same as calibration on an absolute cutoff</a:t>
            </a:r>
          </a:p>
        </p:txBody>
      </p:sp>
      <p:sp>
        <p:nvSpPr>
          <p:cNvPr id="6" name="Rectangle 5"/>
          <p:cNvSpPr/>
          <p:nvPr/>
        </p:nvSpPr>
        <p:spPr>
          <a:xfrm>
            <a:off x="0" y="6819900"/>
            <a:ext cx="1219169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486400" cy="274320"/>
          </a:xfrm>
          <a:prstGeom prst="rect">
            <a:avLst/>
          </a:prstGeom>
          <a:noFill/>
        </p:spPr>
        <p:txBody>
          <a:bodyPr wrap="square" anchor="t" lIns="0" rIns="0" tIns="0" bIns="0">
            <a:spAutoFit/>
          </a:bodyPr>
          <a:lstStyle/>
          <a:p>
            <a:r>
              <a:rPr sz="900" i="0">
                <a:solidFill>
                  <a:srgbClr val="898781"/>
                </a:solidFill>
                <a:latin typeface="Calibri"/>
              </a:rPr>
              <a:t>MemoryLifeBench  ·  Final Project Defense</a:t>
            </a:r>
          </a:p>
        </p:txBody>
      </p:sp>
      <p:sp>
        <p:nvSpPr>
          <p:cNvPr id="8" name="TextBox 7"/>
          <p:cNvSpPr txBox="1"/>
          <p:nvPr/>
        </p:nvSpPr>
        <p:spPr>
          <a:xfrm>
            <a:off x="11002975" y="6510528"/>
            <a:ext cx="731520" cy="274320"/>
          </a:xfrm>
          <a:prstGeom prst="rect">
            <a:avLst/>
          </a:prstGeom>
          <a:noFill/>
        </p:spPr>
        <p:txBody>
          <a:bodyPr wrap="square" anchor="t" lIns="0" rIns="0" tIns="0" bIns="0">
            <a:spAutoFit/>
          </a:bodyPr>
          <a:lstStyle/>
          <a:p>
            <a:pPr algn="r"/>
            <a:r>
              <a:rPr sz="900" i="0">
                <a:solidFill>
                  <a:srgbClr val="898781"/>
                </a:solidFill>
                <a:latin typeface="Calibri"/>
              </a:rPr>
              <a:t>5 / 36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92608"/>
            <a:ext cx="10515600" cy="274320"/>
          </a:xfrm>
          <a:prstGeom prst="rect">
            <a:avLst/>
          </a:prstGeom>
          <a:noFill/>
        </p:spPr>
        <p:txBody>
          <a:bodyPr wrap="square" anchor="t" lIns="0" rIns="0" tIns="0" bIns="0">
            <a:spAutoFit/>
          </a:bodyPr>
          <a:lstStyle/>
          <a:p>
            <a:r>
              <a:rPr sz="1200" i="0" b="1">
                <a:solidFill>
                  <a:srgbClr val="2A78D6"/>
                </a:solidFill>
                <a:latin typeface="Calibri"/>
              </a:rPr>
              <a:t>1 · CONTRIBUTIONS</a:t>
            </a:r>
          </a:p>
        </p:txBody>
      </p:sp>
      <p:sp>
        <p:nvSpPr>
          <p:cNvPr id="3" name="TextBox 2"/>
          <p:cNvSpPr txBox="1"/>
          <p:nvPr/>
        </p:nvSpPr>
        <p:spPr>
          <a:xfrm>
            <a:off x="502920" y="566928"/>
            <a:ext cx="11155680" cy="685800"/>
          </a:xfrm>
          <a:prstGeom prst="rect">
            <a:avLst/>
          </a:prstGeom>
          <a:noFill/>
        </p:spPr>
        <p:txBody>
          <a:bodyPr wrap="square" anchor="t" lIns="0" rIns="0" tIns="0" bIns="0">
            <a:spAutoFit/>
          </a:bodyPr>
          <a:lstStyle/>
          <a:p>
            <a:r>
              <a:rPr sz="2800" i="0" b="1">
                <a:solidFill>
                  <a:srgbClr val="0B0B0B"/>
                </a:solidFill>
                <a:latin typeface="Calibri"/>
              </a:rPr>
              <a:t>Four contributions</a:t>
            </a:r>
          </a:p>
        </p:txBody>
      </p:sp>
      <p:sp>
        <p:nvSpPr>
          <p:cNvPr id="4" name="Rectangle 3"/>
          <p:cNvSpPr/>
          <p:nvPr/>
        </p:nvSpPr>
        <p:spPr>
          <a:xfrm>
            <a:off x="502920" y="1207008"/>
            <a:ext cx="100584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508760"/>
            <a:ext cx="502920" cy="5029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508760"/>
            <a:ext cx="502920" cy="502920"/>
          </a:xfrm>
          <a:prstGeom prst="rect">
            <a:avLst/>
          </a:prstGeom>
          <a:noFill/>
        </p:spPr>
        <p:txBody>
          <a:bodyPr wrap="square" anchor="ctr" lIns="0" rIns="0" tIns="0" bIns="0">
            <a:spAutoFit/>
          </a:bodyPr>
          <a:lstStyle/>
          <a:p>
            <a:pPr algn="ctr"/>
            <a:r>
              <a:rPr sz="2000" i="0" b="1">
                <a:solidFill>
                  <a:srgbClr val="FFFFFF"/>
                </a:solidFill>
                <a:latin typeface="Calibri"/>
              </a:rPr>
              <a:t>1</a:t>
            </a:r>
          </a:p>
        </p:txBody>
      </p:sp>
      <p:sp>
        <p:nvSpPr>
          <p:cNvPr id="7" name="TextBox 6"/>
          <p:cNvSpPr txBox="1"/>
          <p:nvPr/>
        </p:nvSpPr>
        <p:spPr>
          <a:xfrm>
            <a:off x="1417320" y="1481328"/>
            <a:ext cx="9966960" cy="1051560"/>
          </a:xfrm>
          <a:prstGeom prst="rect">
            <a:avLst/>
          </a:prstGeom>
          <a:noFill/>
        </p:spPr>
        <p:txBody>
          <a:bodyPr wrap="square" anchor="t" lIns="0" rIns="0" tIns="0" bIns="0">
            <a:spAutoFit/>
          </a:bodyPr>
          <a:lstStyle/>
          <a:p>
            <a:r>
              <a:rPr sz="1700" i="0" b="1">
                <a:solidFill>
                  <a:srgbClr val="0B0B0B"/>
                </a:solidFill>
                <a:latin typeface="Calibri"/>
              </a:rPr>
              <a:t>MemoryLifeBench</a:t>
            </a:r>
          </a:p>
          <a:p>
            <a:pPr>
              <a:spcBef>
                <a:spcPts val="200"/>
              </a:spcBef>
            </a:pPr>
            <a:r>
              <a:rPr sz="1350" i="0">
                <a:solidFill>
                  <a:srgbClr val="52514E"/>
                </a:solidFill>
                <a:latin typeface="Calibri"/>
              </a:rPr>
              <a:t>A 10,152-record benchmark of memory statements with time-to-event labels — synthetic dialogues with provable lifetimes plus real conversations from LoCoMo and LongMemEval, split by conversation with verified no leakage.</a:t>
            </a:r>
          </a:p>
        </p:txBody>
      </p:sp>
      <p:sp>
        <p:nvSpPr>
          <p:cNvPr id="8" name="Rectangle 7"/>
          <p:cNvSpPr/>
          <p:nvPr/>
        </p:nvSpPr>
        <p:spPr>
          <a:xfrm>
            <a:off x="685800" y="2679192"/>
            <a:ext cx="502920" cy="5029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679192"/>
            <a:ext cx="502920" cy="502920"/>
          </a:xfrm>
          <a:prstGeom prst="rect">
            <a:avLst/>
          </a:prstGeom>
          <a:noFill/>
        </p:spPr>
        <p:txBody>
          <a:bodyPr wrap="square" anchor="ctr" lIns="0" rIns="0" tIns="0" bIns="0">
            <a:spAutoFit/>
          </a:bodyPr>
          <a:lstStyle/>
          <a:p>
            <a:pPr algn="ctr"/>
            <a:r>
              <a:rPr sz="2000" i="0" b="1">
                <a:solidFill>
                  <a:srgbClr val="FFFFFF"/>
                </a:solidFill>
                <a:latin typeface="Calibri"/>
              </a:rPr>
              <a:t>2</a:t>
            </a:r>
          </a:p>
        </p:txBody>
      </p:sp>
      <p:sp>
        <p:nvSpPr>
          <p:cNvPr id="10" name="TextBox 9"/>
          <p:cNvSpPr txBox="1"/>
          <p:nvPr/>
        </p:nvSpPr>
        <p:spPr>
          <a:xfrm>
            <a:off x="1417320" y="2651760"/>
            <a:ext cx="9966960" cy="1051560"/>
          </a:xfrm>
          <a:prstGeom prst="rect">
            <a:avLst/>
          </a:prstGeom>
          <a:noFill/>
        </p:spPr>
        <p:txBody>
          <a:bodyPr wrap="square" anchor="t" lIns="0" rIns="0" tIns="0" bIns="0">
            <a:spAutoFit/>
          </a:bodyPr>
          <a:lstStyle/>
          <a:p>
            <a:r>
              <a:rPr sz="1700" i="0" b="1">
                <a:solidFill>
                  <a:srgbClr val="0B0B0B"/>
                </a:solidFill>
                <a:latin typeface="Calibri"/>
              </a:rPr>
              <a:t>A lightweight survival model</a:t>
            </a:r>
          </a:p>
          <a:p>
            <a:pPr>
              <a:spcBef>
                <a:spcPts val="200"/>
              </a:spcBef>
            </a:pPr>
            <a:r>
              <a:rPr sz="1350" i="0">
                <a:solidFill>
                  <a:srgbClr val="52514E"/>
                </a:solidFill>
                <a:latin typeface="Calibri"/>
              </a:rPr>
              <a:t>213,889 parameters, frozen sentence embedding + a small MLP, that beats three frontier/local LLM baselines and two heuristics at ranking memory lifetimes.</a:t>
            </a:r>
          </a:p>
        </p:txBody>
      </p:sp>
      <p:sp>
        <p:nvSpPr>
          <p:cNvPr id="11" name="Rectangle 10"/>
          <p:cNvSpPr/>
          <p:nvPr/>
        </p:nvSpPr>
        <p:spPr>
          <a:xfrm>
            <a:off x="685800" y="3849624"/>
            <a:ext cx="502920" cy="5029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849624"/>
            <a:ext cx="502920" cy="502920"/>
          </a:xfrm>
          <a:prstGeom prst="rect">
            <a:avLst/>
          </a:prstGeom>
          <a:noFill/>
        </p:spPr>
        <p:txBody>
          <a:bodyPr wrap="square" anchor="ctr" lIns="0" rIns="0" tIns="0" bIns="0">
            <a:spAutoFit/>
          </a:bodyPr>
          <a:lstStyle/>
          <a:p>
            <a:pPr algn="ctr"/>
            <a:r>
              <a:rPr sz="2000" i="0" b="1">
                <a:solidFill>
                  <a:srgbClr val="FFFFFF"/>
                </a:solidFill>
                <a:latin typeface="Calibri"/>
              </a:rPr>
              <a:t>3</a:t>
            </a:r>
          </a:p>
        </p:txBody>
      </p:sp>
      <p:sp>
        <p:nvSpPr>
          <p:cNvPr id="13" name="TextBox 12"/>
          <p:cNvSpPr txBox="1"/>
          <p:nvPr/>
        </p:nvSpPr>
        <p:spPr>
          <a:xfrm>
            <a:off x="1417320" y="3822192"/>
            <a:ext cx="9966960" cy="1051560"/>
          </a:xfrm>
          <a:prstGeom prst="rect">
            <a:avLst/>
          </a:prstGeom>
          <a:noFill/>
        </p:spPr>
        <p:txBody>
          <a:bodyPr wrap="square" anchor="t" lIns="0" rIns="0" tIns="0" bIns="0">
            <a:spAutoFit/>
          </a:bodyPr>
          <a:lstStyle/>
          <a:p>
            <a:r>
              <a:rPr sz="1700" i="0" b="1">
                <a:solidFill>
                  <a:srgbClr val="0B0B0B"/>
                </a:solidFill>
                <a:latin typeface="Calibri"/>
              </a:rPr>
              <a:t>A joint multi-task extension</a:t>
            </a:r>
          </a:p>
          <a:p>
            <a:pPr>
              <a:spcBef>
                <a:spcPts val="200"/>
              </a:spcBef>
            </a:pPr>
            <a:r>
              <a:rPr sz="1350" i="0">
                <a:solidFill>
                  <a:srgbClr val="52514E"/>
                </a:solidFill>
                <a:latin typeface="Calibri"/>
              </a:rPr>
              <a:t>Lifetime + Action + Future-Utility heads sharing one fused representation — still under 500K parameters — improving ranking further and adding two usable deployment signals.</a:t>
            </a:r>
          </a:p>
        </p:txBody>
      </p:sp>
      <p:sp>
        <p:nvSpPr>
          <p:cNvPr id="14" name="Rectangle 13"/>
          <p:cNvSpPr/>
          <p:nvPr/>
        </p:nvSpPr>
        <p:spPr>
          <a:xfrm>
            <a:off x="685800" y="5020056"/>
            <a:ext cx="502920" cy="5029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020056"/>
            <a:ext cx="502920" cy="502920"/>
          </a:xfrm>
          <a:prstGeom prst="rect">
            <a:avLst/>
          </a:prstGeom>
          <a:noFill/>
        </p:spPr>
        <p:txBody>
          <a:bodyPr wrap="square" anchor="ctr" lIns="0" rIns="0" tIns="0" bIns="0">
            <a:spAutoFit/>
          </a:bodyPr>
          <a:lstStyle/>
          <a:p>
            <a:pPr algn="ctr"/>
            <a:r>
              <a:rPr sz="2000" i="0" b="1">
                <a:solidFill>
                  <a:srgbClr val="FFFFFF"/>
                </a:solidFill>
                <a:latin typeface="Calibri"/>
              </a:rPr>
              <a:t>4</a:t>
            </a:r>
          </a:p>
        </p:txBody>
      </p:sp>
      <p:sp>
        <p:nvSpPr>
          <p:cNvPr id="16" name="TextBox 15"/>
          <p:cNvSpPr txBox="1"/>
          <p:nvPr/>
        </p:nvSpPr>
        <p:spPr>
          <a:xfrm>
            <a:off x="1417320" y="4992624"/>
            <a:ext cx="9966960" cy="1051560"/>
          </a:xfrm>
          <a:prstGeom prst="rect">
            <a:avLst/>
          </a:prstGeom>
          <a:noFill/>
        </p:spPr>
        <p:txBody>
          <a:bodyPr wrap="square" anchor="t" lIns="0" rIns="0" tIns="0" bIns="0">
            <a:spAutoFit/>
          </a:bodyPr>
          <a:lstStyle/>
          <a:p>
            <a:r>
              <a:rPr sz="1700" i="0" b="1">
                <a:solidFill>
                  <a:srgbClr val="0B0B0B"/>
                </a:solidFill>
                <a:latin typeface="Calibri"/>
              </a:rPr>
              <a:t>An honest downstream test</a:t>
            </a:r>
          </a:p>
          <a:p>
            <a:pPr>
              <a:spcBef>
                <a:spcPts val="200"/>
              </a:spcBef>
            </a:pPr>
            <a:r>
              <a:rPr sz="1350" i="0">
                <a:solidFill>
                  <a:srgbClr val="52514E"/>
                </a:solidFill>
                <a:latin typeface="Calibri"/>
              </a:rPr>
              <a:t>A matched-storage-budget QA evaluation that catches a real failure the ranking metric could not, a root-cause diagnosis, two fixes, and two honesty checks against an Oracle ceiling and a real independent memory system.</a:t>
            </a:r>
          </a:p>
        </p:txBody>
      </p:sp>
      <p:sp>
        <p:nvSpPr>
          <p:cNvPr id="17" name="Rectangle 16"/>
          <p:cNvSpPr/>
          <p:nvPr/>
        </p:nvSpPr>
        <p:spPr>
          <a:xfrm>
            <a:off x="0" y="6819900"/>
            <a:ext cx="1219169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510528"/>
            <a:ext cx="5486400" cy="274320"/>
          </a:xfrm>
          <a:prstGeom prst="rect">
            <a:avLst/>
          </a:prstGeom>
          <a:noFill/>
        </p:spPr>
        <p:txBody>
          <a:bodyPr wrap="square" anchor="t" lIns="0" rIns="0" tIns="0" bIns="0">
            <a:spAutoFit/>
          </a:bodyPr>
          <a:lstStyle/>
          <a:p>
            <a:r>
              <a:rPr sz="900" i="0">
                <a:solidFill>
                  <a:srgbClr val="898781"/>
                </a:solidFill>
                <a:latin typeface="Calibri"/>
              </a:rPr>
              <a:t>MemoryLifeBench  ·  Final Project Defense</a:t>
            </a:r>
          </a:p>
        </p:txBody>
      </p:sp>
      <p:sp>
        <p:nvSpPr>
          <p:cNvPr id="19" name="TextBox 18"/>
          <p:cNvSpPr txBox="1"/>
          <p:nvPr/>
        </p:nvSpPr>
        <p:spPr>
          <a:xfrm>
            <a:off x="11002975" y="6510528"/>
            <a:ext cx="731520" cy="274320"/>
          </a:xfrm>
          <a:prstGeom prst="rect">
            <a:avLst/>
          </a:prstGeom>
          <a:noFill/>
        </p:spPr>
        <p:txBody>
          <a:bodyPr wrap="square" anchor="t" lIns="0" rIns="0" tIns="0" bIns="0">
            <a:spAutoFit/>
          </a:bodyPr>
          <a:lstStyle/>
          <a:p>
            <a:pPr algn="r"/>
            <a:r>
              <a:rPr sz="900" i="0">
                <a:solidFill>
                  <a:srgbClr val="898781"/>
                </a:solidFill>
                <a:latin typeface="Calibri"/>
              </a:rPr>
              <a:t>6 / 36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92608"/>
            <a:ext cx="10515600" cy="274320"/>
          </a:xfrm>
          <a:prstGeom prst="rect">
            <a:avLst/>
          </a:prstGeom>
          <a:noFill/>
        </p:spPr>
        <p:txBody>
          <a:bodyPr wrap="square" anchor="t" lIns="0" rIns="0" tIns="0" bIns="0">
            <a:spAutoFit/>
          </a:bodyPr>
          <a:lstStyle/>
          <a:p>
            <a:r>
              <a:rPr sz="1200" i="0" b="1">
                <a:solidFill>
                  <a:srgbClr val="2A78D6"/>
                </a:solidFill>
                <a:latin typeface="Calibri"/>
              </a:rPr>
              <a:t>2 · DATASET</a:t>
            </a:r>
          </a:p>
        </p:txBody>
      </p:sp>
      <p:sp>
        <p:nvSpPr>
          <p:cNvPr id="3" name="TextBox 2"/>
          <p:cNvSpPr txBox="1"/>
          <p:nvPr/>
        </p:nvSpPr>
        <p:spPr>
          <a:xfrm>
            <a:off x="502920" y="566928"/>
            <a:ext cx="11155680" cy="685800"/>
          </a:xfrm>
          <a:prstGeom prst="rect">
            <a:avLst/>
          </a:prstGeom>
          <a:noFill/>
        </p:spPr>
        <p:txBody>
          <a:bodyPr wrap="square" anchor="t" lIns="0" rIns="0" tIns="0" bIns="0">
            <a:spAutoFit/>
          </a:bodyPr>
          <a:lstStyle/>
          <a:p>
            <a:r>
              <a:rPr sz="2800" i="0" b="1">
                <a:solidFill>
                  <a:srgbClr val="0B0B0B"/>
                </a:solidFill>
                <a:latin typeface="Calibri"/>
              </a:rPr>
              <a:t>MemoryLifeBench: composition</a:t>
            </a:r>
          </a:p>
        </p:txBody>
      </p:sp>
      <p:sp>
        <p:nvSpPr>
          <p:cNvPr id="4" name="Rectangle 3"/>
          <p:cNvSpPr/>
          <p:nvPr/>
        </p:nvSpPr>
        <p:spPr>
          <a:xfrm>
            <a:off x="502920" y="1207008"/>
            <a:ext cx="100584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508760"/>
          <a:ext cx="11155680" cy="2468880"/>
        </p:xfrm>
        <a:graphic>
          <a:graphicData uri="http://schemas.openxmlformats.org/drawingml/2006/table">
            <a:tbl>
              <a:tblPr firstRow="1" bandRow="1">
                <a:tableStyleId>{5C22544A-7EE6-4342-B048-85BDC9FD1C3A}</a:tableStyleId>
              </a:tblPr>
              <a:tblGrid>
                <a:gridCol w="1828800"/>
                <a:gridCol w="1188720"/>
                <a:gridCol w="1188720"/>
                <a:gridCol w="1188720"/>
                <a:gridCol w="5760720"/>
              </a:tblGrid>
              <a:tr h="493776">
                <a:tc>
                  <a:txBody>
                    <a:bodyPr/>
                    <a:lstStyle/>
                    <a:p>
                      <a:r>
                        <a:rPr sz="1350" i="0" b="1">
                          <a:solidFill>
                            <a:srgbClr val="FFFFFF"/>
                          </a:solidFill>
                          <a:latin typeface="Calibri"/>
                        </a:rPr>
                        <a:t>Source</a:t>
                      </a:r>
                    </a:p>
                  </a:txBody>
                  <a:tcPr anchor="ctr" marL="73152" marT="27432" marB="27432">
                    <a:solidFill>
                      <a:srgbClr val="2A78D6"/>
                    </a:solidFill>
                  </a:tcPr>
                </a:tc>
                <a:tc>
                  <a:txBody>
                    <a:bodyPr/>
                    <a:lstStyle/>
                    <a:p>
                      <a:r>
                        <a:rPr sz="1350" i="0" b="1">
                          <a:solidFill>
                            <a:srgbClr val="FFFFFF"/>
                          </a:solidFill>
                          <a:latin typeface="Calibri"/>
                        </a:rPr>
                        <a:t>Train</a:t>
                      </a:r>
                    </a:p>
                  </a:txBody>
                  <a:tcPr anchor="ctr" marL="73152" marT="27432" marB="27432">
                    <a:solidFill>
                      <a:srgbClr val="2A78D6"/>
                    </a:solidFill>
                  </a:tcPr>
                </a:tc>
                <a:tc>
                  <a:txBody>
                    <a:bodyPr/>
                    <a:lstStyle/>
                    <a:p>
                      <a:r>
                        <a:rPr sz="1350" i="0" b="1">
                          <a:solidFill>
                            <a:srgbClr val="FFFFFF"/>
                          </a:solidFill>
                          <a:latin typeface="Calibri"/>
                        </a:rPr>
                        <a:t>Val</a:t>
                      </a:r>
                    </a:p>
                  </a:txBody>
                  <a:tcPr anchor="ctr" marL="73152" marT="27432" marB="27432">
                    <a:solidFill>
                      <a:srgbClr val="2A78D6"/>
                    </a:solidFill>
                  </a:tcPr>
                </a:tc>
                <a:tc>
                  <a:txBody>
                    <a:bodyPr/>
                    <a:lstStyle/>
                    <a:p>
                      <a:r>
                        <a:rPr sz="1350" i="0" b="1">
                          <a:solidFill>
                            <a:srgbClr val="FFFFFF"/>
                          </a:solidFill>
                          <a:latin typeface="Calibri"/>
                        </a:rPr>
                        <a:t>Test</a:t>
                      </a:r>
                    </a:p>
                  </a:txBody>
                  <a:tcPr anchor="ctr" marL="73152" marT="27432" marB="27432">
                    <a:solidFill>
                      <a:srgbClr val="2A78D6"/>
                    </a:solidFill>
                  </a:tcPr>
                </a:tc>
                <a:tc>
                  <a:txBody>
                    <a:bodyPr/>
                    <a:lstStyle/>
                    <a:p>
                      <a:r>
                        <a:rPr sz="1350" i="0" b="1">
                          <a:solidFill>
                            <a:srgbClr val="FFFFFF"/>
                          </a:solidFill>
                          <a:latin typeface="Calibri"/>
                        </a:rPr>
                        <a:t>What it is</a:t>
                      </a:r>
                    </a:p>
                  </a:txBody>
                  <a:tcPr anchor="ctr" marL="73152" marT="27432" marB="27432">
                    <a:solidFill>
                      <a:srgbClr val="2A78D6"/>
                    </a:solidFill>
                  </a:tcPr>
                </a:tc>
              </a:tr>
              <a:tr h="493776">
                <a:tc>
                  <a:txBody>
                    <a:bodyPr/>
                    <a:lstStyle/>
                    <a:p>
                      <a:r>
                        <a:rPr sz="1350" i="0">
                          <a:solidFill>
                            <a:srgbClr val="0B0B0B"/>
                          </a:solidFill>
                          <a:latin typeface="Calibri"/>
                        </a:rPr>
                        <a:t>Synthetic</a:t>
                      </a:r>
                    </a:p>
                  </a:txBody>
                  <a:tcPr anchor="ctr" marL="73152" marT="18288" marB="18288">
                    <a:solidFill>
                      <a:srgbClr val="FFFFFF"/>
                    </a:solidFill>
                  </a:tcPr>
                </a:tc>
                <a:tc>
                  <a:txBody>
                    <a:bodyPr/>
                    <a:lstStyle/>
                    <a:p>
                      <a:r>
                        <a:rPr sz="1350" i="0">
                          <a:solidFill>
                            <a:srgbClr val="0B0B0B"/>
                          </a:solidFill>
                          <a:latin typeface="Calibri"/>
                        </a:rPr>
                        <a:t>3,199</a:t>
                      </a:r>
                    </a:p>
                  </a:txBody>
                  <a:tcPr anchor="ctr" marL="73152" marT="18288" marB="18288">
                    <a:solidFill>
                      <a:srgbClr val="FFFFFF"/>
                    </a:solidFill>
                  </a:tcPr>
                </a:tc>
                <a:tc>
                  <a:txBody>
                    <a:bodyPr/>
                    <a:lstStyle/>
                    <a:p>
                      <a:r>
                        <a:rPr sz="1350" i="0">
                          <a:solidFill>
                            <a:srgbClr val="0B0B0B"/>
                          </a:solidFill>
                          <a:latin typeface="Calibri"/>
                        </a:rPr>
                        <a:t>256</a:t>
                      </a:r>
                    </a:p>
                  </a:txBody>
                  <a:tcPr anchor="ctr" marL="73152" marT="18288" marB="18288">
                    <a:solidFill>
                      <a:srgbClr val="FFFFFF"/>
                    </a:solidFill>
                  </a:tcPr>
                </a:tc>
                <a:tc>
                  <a:txBody>
                    <a:bodyPr/>
                    <a:lstStyle/>
                    <a:p>
                      <a:r>
                        <a:rPr sz="1350" i="0">
                          <a:solidFill>
                            <a:srgbClr val="0B0B0B"/>
                          </a:solidFill>
                          <a:latin typeface="Calibri"/>
                        </a:rPr>
                        <a:t>265</a:t>
                      </a:r>
                    </a:p>
                  </a:txBody>
                  <a:tcPr anchor="ctr" marL="73152" marT="18288" marB="18288">
                    <a:solidFill>
                      <a:srgbClr val="FFFFFF"/>
                    </a:solidFill>
                  </a:tcPr>
                </a:tc>
                <a:tc>
                  <a:txBody>
                    <a:bodyPr/>
                    <a:lstStyle/>
                    <a:p>
                      <a:r>
                        <a:rPr sz="1350" i="0">
                          <a:solidFill>
                            <a:srgbClr val="0B0B0B"/>
                          </a:solidFill>
                          <a:latin typeface="Calibri"/>
                        </a:rPr>
                        <a:t>LLM-generated dialogues, exact provable lifetimes</a:t>
                      </a:r>
                    </a:p>
                  </a:txBody>
                  <a:tcPr anchor="ctr" marL="73152" marT="18288" marB="18288">
                    <a:solidFill>
                      <a:srgbClr val="FFFFFF"/>
                    </a:solidFill>
                  </a:tcPr>
                </a:tc>
              </a:tr>
              <a:tr h="493776">
                <a:tc>
                  <a:txBody>
                    <a:bodyPr/>
                    <a:lstStyle/>
                    <a:p>
                      <a:r>
                        <a:rPr sz="1350" i="0">
                          <a:solidFill>
                            <a:srgbClr val="0B0B0B"/>
                          </a:solidFill>
                          <a:latin typeface="Calibri"/>
                        </a:rPr>
                        <a:t>LongMemEval</a:t>
                      </a:r>
                    </a:p>
                  </a:txBody>
                  <a:tcPr anchor="ctr" marL="73152" marT="18288" marB="18288">
                    <a:solidFill>
                      <a:srgbClr val="FCFCFB"/>
                    </a:solidFill>
                  </a:tcPr>
                </a:tc>
                <a:tc>
                  <a:txBody>
                    <a:bodyPr/>
                    <a:lstStyle/>
                    <a:p>
                      <a:r>
                        <a:rPr sz="1350" i="0">
                          <a:solidFill>
                            <a:srgbClr val="0B0B0B"/>
                          </a:solidFill>
                          <a:latin typeface="Calibri"/>
                        </a:rPr>
                        <a:t>3,162</a:t>
                      </a:r>
                    </a:p>
                  </a:txBody>
                  <a:tcPr anchor="ctr" marL="73152" marT="18288" marB="18288">
                    <a:solidFill>
                      <a:srgbClr val="FCFCFB"/>
                    </a:solidFill>
                  </a:tcPr>
                </a:tc>
                <a:tc>
                  <a:txBody>
                    <a:bodyPr/>
                    <a:lstStyle/>
                    <a:p>
                      <a:r>
                        <a:rPr sz="1350" i="0">
                          <a:solidFill>
                            <a:srgbClr val="0B0B0B"/>
                          </a:solidFill>
                          <a:latin typeface="Calibri"/>
                        </a:rPr>
                        <a:t>359</a:t>
                      </a:r>
                    </a:p>
                  </a:txBody>
                  <a:tcPr anchor="ctr" marL="73152" marT="18288" marB="18288">
                    <a:solidFill>
                      <a:srgbClr val="FCFCFB"/>
                    </a:solidFill>
                  </a:tcPr>
                </a:tc>
                <a:tc>
                  <a:txBody>
                    <a:bodyPr/>
                    <a:lstStyle/>
                    <a:p>
                      <a:r>
                        <a:rPr sz="1350" i="0">
                          <a:solidFill>
                            <a:srgbClr val="0B0B0B"/>
                          </a:solidFill>
                          <a:latin typeface="Calibri"/>
                        </a:rPr>
                        <a:t>375</a:t>
                      </a:r>
                    </a:p>
                  </a:txBody>
                  <a:tcPr anchor="ctr" marL="73152" marT="18288" marB="18288">
                    <a:solidFill>
                      <a:srgbClr val="FCFCFB"/>
                    </a:solidFill>
                  </a:tcPr>
                </a:tc>
                <a:tc>
                  <a:txBody>
                    <a:bodyPr/>
                    <a:lstStyle/>
                    <a:p>
                      <a:r>
                        <a:rPr sz="1350" i="0">
                          <a:solidFill>
                            <a:srgbClr val="0B0B0B"/>
                          </a:solidFill>
                          <a:latin typeface="Calibri"/>
                        </a:rPr>
                        <a:t>Candidate memories from LongMemEval dialogues</a:t>
                      </a:r>
                    </a:p>
                  </a:txBody>
                  <a:tcPr anchor="ctr" marL="73152" marT="18288" marB="18288">
                    <a:solidFill>
                      <a:srgbClr val="FCFCFB"/>
                    </a:solidFill>
                  </a:tcPr>
                </a:tc>
              </a:tr>
              <a:tr h="493776">
                <a:tc>
                  <a:txBody>
                    <a:bodyPr/>
                    <a:lstStyle/>
                    <a:p>
                      <a:r>
                        <a:rPr sz="1350" i="0">
                          <a:solidFill>
                            <a:srgbClr val="0B0B0B"/>
                          </a:solidFill>
                          <a:latin typeface="Calibri"/>
                        </a:rPr>
                        <a:t>LoCoMo</a:t>
                      </a:r>
                    </a:p>
                  </a:txBody>
                  <a:tcPr anchor="ctr" marL="73152" marT="18288" marB="18288">
                    <a:solidFill>
                      <a:srgbClr val="FFFFFF"/>
                    </a:solidFill>
                  </a:tcPr>
                </a:tc>
                <a:tc>
                  <a:txBody>
                    <a:bodyPr/>
                    <a:lstStyle/>
                    <a:p>
                      <a:r>
                        <a:rPr sz="1350" i="0">
                          <a:solidFill>
                            <a:srgbClr val="0B0B0B"/>
                          </a:solidFill>
                          <a:latin typeface="Calibri"/>
                        </a:rPr>
                        <a:t>1,936</a:t>
                      </a:r>
                    </a:p>
                  </a:txBody>
                  <a:tcPr anchor="ctr" marL="73152" marT="18288" marB="18288">
                    <a:solidFill>
                      <a:srgbClr val="FFFFFF"/>
                    </a:solidFill>
                  </a:tcPr>
                </a:tc>
                <a:tc>
                  <a:txBody>
                    <a:bodyPr/>
                    <a:lstStyle/>
                    <a:p>
                      <a:r>
                        <a:rPr sz="1350" i="0">
                          <a:solidFill>
                            <a:srgbClr val="0B0B0B"/>
                          </a:solidFill>
                          <a:latin typeface="Calibri"/>
                        </a:rPr>
                        <a:t>324</a:t>
                      </a:r>
                    </a:p>
                  </a:txBody>
                  <a:tcPr anchor="ctr" marL="73152" marT="18288" marB="18288">
                    <a:solidFill>
                      <a:srgbClr val="FFFFFF"/>
                    </a:solidFill>
                  </a:tcPr>
                </a:tc>
                <a:tc>
                  <a:txBody>
                    <a:bodyPr/>
                    <a:lstStyle/>
                    <a:p>
                      <a:r>
                        <a:rPr sz="1350" i="0">
                          <a:solidFill>
                            <a:srgbClr val="0B0B0B"/>
                          </a:solidFill>
                          <a:latin typeface="Calibri"/>
                        </a:rPr>
                        <a:t>276</a:t>
                      </a:r>
                    </a:p>
                  </a:txBody>
                  <a:tcPr anchor="ctr" marL="73152" marT="18288" marB="18288">
                    <a:solidFill>
                      <a:srgbClr val="FFFFFF"/>
                    </a:solidFill>
                  </a:tcPr>
                </a:tc>
                <a:tc>
                  <a:txBody>
                    <a:bodyPr/>
                    <a:lstStyle/>
                    <a:p>
                      <a:r>
                        <a:rPr sz="1350" i="0">
                          <a:solidFill>
                            <a:srgbClr val="0B0B0B"/>
                          </a:solidFill>
                          <a:latin typeface="Calibri"/>
                        </a:rPr>
                        <a:t>Candidate memories from LoCoMo dialogues</a:t>
                      </a:r>
                    </a:p>
                  </a:txBody>
                  <a:tcPr anchor="ctr" marL="73152" marT="18288" marB="18288">
                    <a:solidFill>
                      <a:srgbClr val="FFFFFF"/>
                    </a:solidFill>
                  </a:tcPr>
                </a:tc>
              </a:tr>
              <a:tr h="493776">
                <a:tc>
                  <a:txBody>
                    <a:bodyPr/>
                    <a:lstStyle/>
                    <a:p>
                      <a:r>
                        <a:rPr sz="1350" i="0">
                          <a:solidFill>
                            <a:srgbClr val="0B0B0B"/>
                          </a:solidFill>
                          <a:latin typeface="Calibri"/>
                        </a:rPr>
                        <a:t>Total</a:t>
                      </a:r>
                    </a:p>
                  </a:txBody>
                  <a:tcPr anchor="ctr" marL="73152" marT="18288" marB="18288">
                    <a:solidFill>
                      <a:srgbClr val="FFF5D6"/>
                    </a:solidFill>
                  </a:tcPr>
                </a:tc>
                <a:tc>
                  <a:txBody>
                    <a:bodyPr/>
                    <a:lstStyle/>
                    <a:p>
                      <a:r>
                        <a:rPr sz="1350" i="0">
                          <a:solidFill>
                            <a:srgbClr val="0B0B0B"/>
                          </a:solidFill>
                          <a:latin typeface="Calibri"/>
                        </a:rPr>
                        <a:t>8,297</a:t>
                      </a:r>
                    </a:p>
                  </a:txBody>
                  <a:tcPr anchor="ctr" marL="73152" marT="18288" marB="18288">
                    <a:solidFill>
                      <a:srgbClr val="FFF5D6"/>
                    </a:solidFill>
                  </a:tcPr>
                </a:tc>
                <a:tc>
                  <a:txBody>
                    <a:bodyPr/>
                    <a:lstStyle/>
                    <a:p>
                      <a:r>
                        <a:rPr sz="1350" i="0">
                          <a:solidFill>
                            <a:srgbClr val="0B0B0B"/>
                          </a:solidFill>
                          <a:latin typeface="Calibri"/>
                        </a:rPr>
                        <a:t>939</a:t>
                      </a:r>
                    </a:p>
                  </a:txBody>
                  <a:tcPr anchor="ctr" marL="73152" marT="18288" marB="18288">
                    <a:solidFill>
                      <a:srgbClr val="FFF5D6"/>
                    </a:solidFill>
                  </a:tcPr>
                </a:tc>
                <a:tc>
                  <a:txBody>
                    <a:bodyPr/>
                    <a:lstStyle/>
                    <a:p>
                      <a:r>
                        <a:rPr sz="1350" i="0">
                          <a:solidFill>
                            <a:srgbClr val="0B0B0B"/>
                          </a:solidFill>
                          <a:latin typeface="Calibri"/>
                        </a:rPr>
                        <a:t>916</a:t>
                      </a:r>
                    </a:p>
                  </a:txBody>
                  <a:tcPr anchor="ctr" marL="73152" marT="18288" marB="18288">
                    <a:solidFill>
                      <a:srgbClr val="FFF5D6"/>
                    </a:solidFill>
                  </a:tcPr>
                </a:tc>
                <a:tc>
                  <a:txBody>
                    <a:bodyPr/>
                    <a:lstStyle/>
                    <a:p/>
                  </a:txBody>
                  <a:tcPr anchor="ctr" marL="73152" marT="18288" marB="18288">
                    <a:solidFill>
                      <a:srgbClr val="FFF5D6"/>
                    </a:solidFill>
                  </a:tcPr>
                </a:tc>
              </a:tr>
            </a:tbl>
          </a:graphicData>
        </a:graphic>
      </p:graphicFrame>
      <p:sp>
        <p:nvSpPr>
          <p:cNvPr id="6" name="TextBox 5"/>
          <p:cNvSpPr txBox="1"/>
          <p:nvPr/>
        </p:nvSpPr>
        <p:spPr>
          <a:xfrm>
            <a:off x="502920" y="4297680"/>
            <a:ext cx="11155680" cy="1828800"/>
          </a:xfrm>
          <a:prstGeom prst="rect">
            <a:avLst/>
          </a:prstGeom>
          <a:noFill/>
        </p:spPr>
        <p:txBody>
          <a:bodyPr wrap="square" anchor="t" lIns="0" rIns="0" tIns="0" bIns="0">
            <a:spAutoFit/>
          </a:bodyPr>
          <a:lstStyle/>
          <a:p>
            <a:pPr>
              <a:spcAft>
                <a:spcPts val="1000"/>
              </a:spcAft>
            </a:pPr>
            <a:r>
              <a:rPr sz="1500" i="0">
                <a:solidFill>
                  <a:srgbClr val="0B0B0B"/>
                </a:solidFill>
                <a:latin typeface="Calibri"/>
              </a:rPr>
              <a:t>▪  Split </a:t>
            </a:r>
            <a:r>
              <a:rPr b="1" sz="1500" i="0">
                <a:solidFill>
                  <a:srgbClr val="0B0B0B"/>
                </a:solidFill>
                <a:latin typeface="Calibri"/>
              </a:rPr>
              <a:t>by conversation</a:t>
            </a:r>
            <a:r>
              <a:rPr sz="1500" i="0">
                <a:solidFill>
                  <a:srgbClr val="0B0B0B"/>
                </a:solidFill>
                <a:latin typeface="Calibri"/>
              </a:rPr>
              <a:t> (568 / 71 / 71) — verified disjoint, no leakage across splits</a:t>
            </a:r>
          </a:p>
          <a:p>
            <a:pPr>
              <a:spcAft>
                <a:spcPts val="1000"/>
              </a:spcAft>
            </a:pPr>
            <a:r>
              <a:rPr sz="1500" i="0">
                <a:solidFill>
                  <a:srgbClr val="0B0B0B"/>
                </a:solidFill>
                <a:latin typeface="Calibri"/>
              </a:rPr>
              <a:t>▪  Event rate: 37.2% train / 35.5% val / 36.6% test</a:t>
            </a:r>
          </a:p>
          <a:p>
            <a:pPr>
              <a:spcAft>
                <a:spcPts val="1000"/>
              </a:spcAft>
            </a:pPr>
            <a:r>
              <a:rPr sz="1500" i="0">
                <a:solidFill>
                  <a:srgbClr val="0B0B0B"/>
                </a:solidFill>
                <a:latin typeface="Calibri"/>
              </a:rPr>
              <a:t>▪  Censoring convention is a disclosed judgment call for real conversations (Section 3.3) — flagged as a limitation, not presented as settled</a:t>
            </a:r>
          </a:p>
        </p:txBody>
      </p:sp>
      <p:sp>
        <p:nvSpPr>
          <p:cNvPr id="7" name="Rectangle 6"/>
          <p:cNvSpPr/>
          <p:nvPr/>
        </p:nvSpPr>
        <p:spPr>
          <a:xfrm>
            <a:off x="0" y="6819900"/>
            <a:ext cx="1219169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5486400" cy="274320"/>
          </a:xfrm>
          <a:prstGeom prst="rect">
            <a:avLst/>
          </a:prstGeom>
          <a:noFill/>
        </p:spPr>
        <p:txBody>
          <a:bodyPr wrap="square" anchor="t" lIns="0" rIns="0" tIns="0" bIns="0">
            <a:spAutoFit/>
          </a:bodyPr>
          <a:lstStyle/>
          <a:p>
            <a:r>
              <a:rPr sz="900" i="0">
                <a:solidFill>
                  <a:srgbClr val="898781"/>
                </a:solidFill>
                <a:latin typeface="Calibri"/>
              </a:rPr>
              <a:t>MemoryLifeBench  ·  Final Project Defense</a:t>
            </a:r>
          </a:p>
        </p:txBody>
      </p:sp>
      <p:sp>
        <p:nvSpPr>
          <p:cNvPr id="9" name="TextBox 8"/>
          <p:cNvSpPr txBox="1"/>
          <p:nvPr/>
        </p:nvSpPr>
        <p:spPr>
          <a:xfrm>
            <a:off x="11002975" y="6510528"/>
            <a:ext cx="731520" cy="274320"/>
          </a:xfrm>
          <a:prstGeom prst="rect">
            <a:avLst/>
          </a:prstGeom>
          <a:noFill/>
        </p:spPr>
        <p:txBody>
          <a:bodyPr wrap="square" anchor="t" lIns="0" rIns="0" tIns="0" bIns="0">
            <a:spAutoFit/>
          </a:bodyPr>
          <a:lstStyle/>
          <a:p>
            <a:pPr algn="r"/>
            <a:r>
              <a:rPr sz="900" i="0">
                <a:solidFill>
                  <a:srgbClr val="898781"/>
                </a:solidFill>
                <a:latin typeface="Calibri"/>
              </a:rPr>
              <a:t>7 / 36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92608"/>
            <a:ext cx="10515600" cy="274320"/>
          </a:xfrm>
          <a:prstGeom prst="rect">
            <a:avLst/>
          </a:prstGeom>
          <a:noFill/>
        </p:spPr>
        <p:txBody>
          <a:bodyPr wrap="square" anchor="t" lIns="0" rIns="0" tIns="0" bIns="0">
            <a:spAutoFit/>
          </a:bodyPr>
          <a:lstStyle/>
          <a:p>
            <a:r>
              <a:rPr sz="1200" i="0" b="1">
                <a:solidFill>
                  <a:srgbClr val="2A78D6"/>
                </a:solidFill>
                <a:latin typeface="Calibri"/>
              </a:rPr>
              <a:t>3 · METHOD</a:t>
            </a:r>
          </a:p>
        </p:txBody>
      </p:sp>
      <p:sp>
        <p:nvSpPr>
          <p:cNvPr id="3" name="TextBox 2"/>
          <p:cNvSpPr txBox="1"/>
          <p:nvPr/>
        </p:nvSpPr>
        <p:spPr>
          <a:xfrm>
            <a:off x="502920" y="566928"/>
            <a:ext cx="11155680" cy="685800"/>
          </a:xfrm>
          <a:prstGeom prst="rect">
            <a:avLst/>
          </a:prstGeom>
          <a:noFill/>
        </p:spPr>
        <p:txBody>
          <a:bodyPr wrap="square" anchor="t" lIns="0" rIns="0" tIns="0" bIns="0">
            <a:spAutoFit/>
          </a:bodyPr>
          <a:lstStyle/>
          <a:p>
            <a:r>
              <a:rPr sz="2800" i="0" b="1">
                <a:solidFill>
                  <a:srgbClr val="0B0B0B"/>
                </a:solidFill>
                <a:latin typeface="Calibri"/>
              </a:rPr>
              <a:t>Survival model (single-task)</a:t>
            </a:r>
          </a:p>
        </p:txBody>
      </p:sp>
      <p:sp>
        <p:nvSpPr>
          <p:cNvPr id="4" name="Rectangle 3"/>
          <p:cNvSpPr/>
          <p:nvPr/>
        </p:nvSpPr>
        <p:spPr>
          <a:xfrm>
            <a:off x="502920" y="1207008"/>
            <a:ext cx="100584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103120"/>
            <a:ext cx="2331720" cy="1005840"/>
          </a:xfrm>
          <a:prstGeom prst="roundRect">
            <a:avLst/>
          </a:prstGeom>
          <a:solidFill>
            <a:srgbClr val="FCFCFB"/>
          </a:solidFill>
          <a:ln w="1905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400" i="0" b="1">
                <a:solidFill>
                  <a:srgbClr val="0B0B0B"/>
                </a:solidFill>
                <a:latin typeface="Calibri"/>
              </a:rPr>
              <a:t>Memory
text</a:t>
            </a:r>
          </a:p>
        </p:txBody>
      </p:sp>
      <p:sp>
        <p:nvSpPr>
          <p:cNvPr id="6" name="Rounded Rectangle 5"/>
          <p:cNvSpPr/>
          <p:nvPr/>
        </p:nvSpPr>
        <p:spPr>
          <a:xfrm>
            <a:off x="3383280" y="2103120"/>
            <a:ext cx="2331720" cy="1005840"/>
          </a:xfrm>
          <a:prstGeom prst="roundRect">
            <a:avLst/>
          </a:prstGeom>
          <a:solidFill>
            <a:srgbClr val="FCFCFB"/>
          </a:solidFill>
          <a:ln w="1905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400" i="0" b="1">
                <a:solidFill>
                  <a:srgbClr val="0B0B0B"/>
                </a:solidFill>
                <a:latin typeface="Calibri"/>
              </a:rPr>
              <a:t>Frozen BGE
embedding (768-d)</a:t>
            </a:r>
          </a:p>
        </p:txBody>
      </p:sp>
      <p:sp>
        <p:nvSpPr>
          <p:cNvPr id="7" name="Rounded Rectangle 6"/>
          <p:cNvSpPr/>
          <p:nvPr/>
        </p:nvSpPr>
        <p:spPr>
          <a:xfrm>
            <a:off x="6217920" y="2103120"/>
            <a:ext cx="2331720" cy="1005840"/>
          </a:xfrm>
          <a:prstGeom prst="roundRect">
            <a:avLst/>
          </a:prstGeom>
          <a:solidFill>
            <a:srgbClr val="FCFCFB"/>
          </a:solidFill>
          <a:ln w="1905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400" i="0" b="1">
                <a:solidFill>
                  <a:srgbClr val="0B0B0B"/>
                </a:solidFill>
                <a:latin typeface="Calibri"/>
              </a:rPr>
              <a:t>Small MLP
(213,889 params)</a:t>
            </a:r>
          </a:p>
        </p:txBody>
      </p:sp>
      <p:sp>
        <p:nvSpPr>
          <p:cNvPr id="8" name="Rounded Rectangle 7"/>
          <p:cNvSpPr/>
          <p:nvPr/>
        </p:nvSpPr>
        <p:spPr>
          <a:xfrm>
            <a:off x="9052560" y="2103120"/>
            <a:ext cx="2331720" cy="1005840"/>
          </a:xfrm>
          <a:prstGeom prst="roundRect">
            <a:avLst/>
          </a:prstGeom>
          <a:solidFill>
            <a:srgbClr val="2A78D6"/>
          </a:solidFill>
          <a:ln w="1905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400" i="0" b="1">
                <a:solidFill>
                  <a:srgbClr val="FFFFFF"/>
                </a:solidFill>
                <a:latin typeface="Calibri"/>
              </a:rPr>
              <a:t>Log hazard
score</a:t>
            </a:r>
          </a:p>
        </p:txBody>
      </p:sp>
      <p:cxnSp>
        <p:nvCxnSpPr>
          <p:cNvPr id="9" name="Connector 8"/>
          <p:cNvCxnSpPr/>
          <p:nvPr/>
        </p:nvCxnSpPr>
        <p:spPr>
          <a:xfrm>
            <a:off x="2880360" y="2606040"/>
            <a:ext cx="502920" cy="0"/>
          </a:xfrm>
          <a:prstGeom prst="line">
            <a:avLst/>
          </a:prstGeom>
          <a:ln w="25400">
            <a:solidFill>
              <a:srgbClr val="89878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715000" y="2606040"/>
            <a:ext cx="502920" cy="0"/>
          </a:xfrm>
          <a:prstGeom prst="line">
            <a:avLst/>
          </a:prstGeom>
          <a:ln w="25400">
            <a:solidFill>
              <a:srgbClr val="89878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549640" y="2606040"/>
            <a:ext cx="502920" cy="0"/>
          </a:xfrm>
          <a:prstGeom prst="line">
            <a:avLst/>
          </a:prstGeom>
          <a:ln w="25400">
            <a:solidFill>
              <a:srgbClr val="8987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48640" y="3749039"/>
            <a:ext cx="10789920" cy="2286000"/>
          </a:xfrm>
          <a:prstGeom prst="rect">
            <a:avLst/>
          </a:prstGeom>
          <a:noFill/>
        </p:spPr>
        <p:txBody>
          <a:bodyPr wrap="square" anchor="t" lIns="0" rIns="0" tIns="0" bIns="0">
            <a:spAutoFit/>
          </a:bodyPr>
          <a:lstStyle/>
          <a:p>
            <a:pPr>
              <a:spcAft>
                <a:spcPts val="1400"/>
              </a:spcAft>
            </a:pPr>
            <a:r>
              <a:rPr sz="1600" i="0">
                <a:solidFill>
                  <a:srgbClr val="0B0B0B"/>
                </a:solidFill>
                <a:latin typeface="Calibri"/>
              </a:rPr>
              <a:t>▪  No fine-tuning of the embedding, no generation, nothing autoregressive</a:t>
            </a:r>
          </a:p>
          <a:p>
            <a:pPr>
              <a:spcAft>
                <a:spcPts val="1400"/>
              </a:spcAft>
            </a:pPr>
            <a:r>
              <a:rPr sz="1600" i="0">
                <a:solidFill>
                  <a:srgbClr val="0B0B0B"/>
                </a:solidFill>
                <a:latin typeface="Calibri"/>
              </a:rPr>
              <a:t>▪  Trained with the standard </a:t>
            </a:r>
            <a:r>
              <a:rPr b="1" sz="1600" i="0">
                <a:solidFill>
                  <a:srgbClr val="0B0B0B"/>
                </a:solidFill>
                <a:latin typeface="Calibri"/>
              </a:rPr>
              <a:t>Cox partial-likelihood loss</a:t>
            </a:r>
            <a:r>
              <a:rPr sz="1600" i="0">
                <a:solidFill>
                  <a:srgbClr val="0B0B0B"/>
                </a:solidFill>
                <a:latin typeface="Calibri"/>
              </a:rPr>
              <a:t> — correctly handles right-censored durations</a:t>
            </a:r>
          </a:p>
          <a:p>
            <a:pPr>
              <a:spcAft>
                <a:spcPts val="1400"/>
              </a:spcAft>
            </a:pPr>
            <a:r>
              <a:rPr sz="1600" i="0">
                <a:solidFill>
                  <a:srgbClr val="0B0B0B"/>
                </a:solidFill>
                <a:latin typeface="Calibri"/>
              </a:rPr>
              <a:t>▪  </a:t>
            </a:r>
            <a:r>
              <a:rPr b="1" sz="1600" i="0">
                <a:solidFill>
                  <a:srgbClr val="0B0B0B"/>
                </a:solidFill>
                <a:latin typeface="Calibri"/>
              </a:rPr>
              <a:t>Zero token cost by construction</a:t>
            </a:r>
            <a:r>
              <a:rPr sz="1600" i="0">
                <a:solidFill>
                  <a:srgbClr val="0B0B0B"/>
                </a:solidFill>
                <a:latin typeface="Calibri"/>
              </a:rPr>
              <a:t> — a real, measurable advantage over every LLM-prompted baseline</a:t>
            </a:r>
          </a:p>
        </p:txBody>
      </p:sp>
      <p:sp>
        <p:nvSpPr>
          <p:cNvPr id="13" name="Rectangle 12"/>
          <p:cNvSpPr/>
          <p:nvPr/>
        </p:nvSpPr>
        <p:spPr>
          <a:xfrm>
            <a:off x="0" y="6819900"/>
            <a:ext cx="1219169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510528"/>
            <a:ext cx="5486400" cy="274320"/>
          </a:xfrm>
          <a:prstGeom prst="rect">
            <a:avLst/>
          </a:prstGeom>
          <a:noFill/>
        </p:spPr>
        <p:txBody>
          <a:bodyPr wrap="square" anchor="t" lIns="0" rIns="0" tIns="0" bIns="0">
            <a:spAutoFit/>
          </a:bodyPr>
          <a:lstStyle/>
          <a:p>
            <a:r>
              <a:rPr sz="900" i="0">
                <a:solidFill>
                  <a:srgbClr val="898781"/>
                </a:solidFill>
                <a:latin typeface="Calibri"/>
              </a:rPr>
              <a:t>MemoryLifeBench  ·  Final Project Defense</a:t>
            </a:r>
          </a:p>
        </p:txBody>
      </p:sp>
      <p:sp>
        <p:nvSpPr>
          <p:cNvPr id="15" name="TextBox 14"/>
          <p:cNvSpPr txBox="1"/>
          <p:nvPr/>
        </p:nvSpPr>
        <p:spPr>
          <a:xfrm>
            <a:off x="11002975" y="6510528"/>
            <a:ext cx="731520" cy="274320"/>
          </a:xfrm>
          <a:prstGeom prst="rect">
            <a:avLst/>
          </a:prstGeom>
          <a:noFill/>
        </p:spPr>
        <p:txBody>
          <a:bodyPr wrap="square" anchor="t" lIns="0" rIns="0" tIns="0" bIns="0">
            <a:spAutoFit/>
          </a:bodyPr>
          <a:lstStyle/>
          <a:p>
            <a:pPr algn="r"/>
            <a:r>
              <a:rPr sz="900" i="0">
                <a:solidFill>
                  <a:srgbClr val="898781"/>
                </a:solidFill>
                <a:latin typeface="Calibri"/>
              </a:rPr>
              <a:t>8 / 36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92608"/>
            <a:ext cx="10515600" cy="274320"/>
          </a:xfrm>
          <a:prstGeom prst="rect">
            <a:avLst/>
          </a:prstGeom>
          <a:noFill/>
        </p:spPr>
        <p:txBody>
          <a:bodyPr wrap="square" anchor="t" lIns="0" rIns="0" tIns="0" bIns="0">
            <a:spAutoFit/>
          </a:bodyPr>
          <a:lstStyle/>
          <a:p>
            <a:r>
              <a:rPr sz="1200" i="0" b="1">
                <a:solidFill>
                  <a:srgbClr val="2A78D6"/>
                </a:solidFill>
                <a:latin typeface="Calibri"/>
              </a:rPr>
              <a:t>3 · METHOD</a:t>
            </a:r>
          </a:p>
        </p:txBody>
      </p:sp>
      <p:sp>
        <p:nvSpPr>
          <p:cNvPr id="3" name="TextBox 2"/>
          <p:cNvSpPr txBox="1"/>
          <p:nvPr/>
        </p:nvSpPr>
        <p:spPr>
          <a:xfrm>
            <a:off x="502920" y="566928"/>
            <a:ext cx="11155680" cy="685800"/>
          </a:xfrm>
          <a:prstGeom prst="rect">
            <a:avLst/>
          </a:prstGeom>
          <a:noFill/>
        </p:spPr>
        <p:txBody>
          <a:bodyPr wrap="square" anchor="t" lIns="0" rIns="0" tIns="0" bIns="0">
            <a:spAutoFit/>
          </a:bodyPr>
          <a:lstStyle/>
          <a:p>
            <a:r>
              <a:rPr sz="2800" i="0" b="1">
                <a:solidFill>
                  <a:srgbClr val="0B0B0B"/>
                </a:solidFill>
                <a:latin typeface="Calibri"/>
              </a:rPr>
              <a:t>Joint multi-task extension</a:t>
            </a:r>
          </a:p>
        </p:txBody>
      </p:sp>
      <p:sp>
        <p:nvSpPr>
          <p:cNvPr id="4" name="Rectangle 3"/>
          <p:cNvSpPr/>
          <p:nvPr/>
        </p:nvSpPr>
        <p:spPr>
          <a:xfrm>
            <a:off x="502920" y="1207008"/>
            <a:ext cx="100584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600200"/>
            <a:ext cx="1417320" cy="566928"/>
          </a:xfrm>
          <a:prstGeom prst="roundRect">
            <a:avLst/>
          </a:prstGeom>
          <a:solidFill>
            <a:srgbClr val="FCFCFB"/>
          </a:solidFill>
          <a:ln w="19050">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00" i="0" b="1">
                <a:solidFill>
                  <a:srgbClr val="0B0B0B"/>
                </a:solidFill>
                <a:latin typeface="Calibri"/>
              </a:rPr>
              <a:t>Intent</a:t>
            </a:r>
          </a:p>
        </p:txBody>
      </p:sp>
      <p:cxnSp>
        <p:nvCxnSpPr>
          <p:cNvPr id="6" name="Connector 5"/>
          <p:cNvCxnSpPr/>
          <p:nvPr/>
        </p:nvCxnSpPr>
        <p:spPr>
          <a:xfrm>
            <a:off x="1920240" y="1883664"/>
            <a:ext cx="3429000" cy="1225296"/>
          </a:xfrm>
          <a:prstGeom prst="line">
            <a:avLst/>
          </a:prstGeom>
          <a:ln w="12700">
            <a:solidFill>
              <a:srgbClr val="C3C2B7"/>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02920" y="2295144"/>
            <a:ext cx="1417320" cy="566928"/>
          </a:xfrm>
          <a:prstGeom prst="roundRect">
            <a:avLst/>
          </a:prstGeom>
          <a:solidFill>
            <a:srgbClr val="FCFCFB"/>
          </a:solidFill>
          <a:ln w="19050">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00" i="0" b="1">
                <a:solidFill>
                  <a:srgbClr val="0B0B0B"/>
                </a:solidFill>
                <a:latin typeface="Calibri"/>
              </a:rPr>
              <a:t>Entities/NER</a:t>
            </a:r>
          </a:p>
        </p:txBody>
      </p:sp>
      <p:cxnSp>
        <p:nvCxnSpPr>
          <p:cNvPr id="8" name="Connector 7"/>
          <p:cNvCxnSpPr/>
          <p:nvPr/>
        </p:nvCxnSpPr>
        <p:spPr>
          <a:xfrm>
            <a:off x="1920240" y="2578608"/>
            <a:ext cx="3429000" cy="530352"/>
          </a:xfrm>
          <a:prstGeom prst="line">
            <a:avLst/>
          </a:prstGeom>
          <a:ln w="12700">
            <a:solidFill>
              <a:srgbClr val="C3C2B7"/>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02920" y="2990088"/>
            <a:ext cx="1417320" cy="566928"/>
          </a:xfrm>
          <a:prstGeom prst="roundRect">
            <a:avLst/>
          </a:prstGeom>
          <a:solidFill>
            <a:srgbClr val="FCFCFB"/>
          </a:solidFill>
          <a:ln w="19050">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00" i="0" b="1">
                <a:solidFill>
                  <a:srgbClr val="0B0B0B"/>
                </a:solidFill>
                <a:latin typeface="Calibri"/>
              </a:rPr>
              <a:t>Temporal</a:t>
            </a:r>
          </a:p>
        </p:txBody>
      </p:sp>
      <p:cxnSp>
        <p:nvCxnSpPr>
          <p:cNvPr id="10" name="Connector 9"/>
          <p:cNvCxnSpPr/>
          <p:nvPr/>
        </p:nvCxnSpPr>
        <p:spPr>
          <a:xfrm flipV="1">
            <a:off x="1920240" y="3108960"/>
            <a:ext cx="3429000" cy="164592"/>
          </a:xfrm>
          <a:prstGeom prst="line">
            <a:avLst/>
          </a:prstGeom>
          <a:ln w="12700">
            <a:solidFill>
              <a:srgbClr val="C3C2B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3685032"/>
            <a:ext cx="1417320" cy="566928"/>
          </a:xfrm>
          <a:prstGeom prst="roundRect">
            <a:avLst/>
          </a:prstGeom>
          <a:solidFill>
            <a:srgbClr val="FCFCFB"/>
          </a:solidFill>
          <a:ln w="19050">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00" i="0" b="1">
                <a:solidFill>
                  <a:srgbClr val="0B0B0B"/>
                </a:solidFill>
                <a:latin typeface="Calibri"/>
              </a:rPr>
              <a:t>Emotion/
Preference</a:t>
            </a:r>
          </a:p>
        </p:txBody>
      </p:sp>
      <p:cxnSp>
        <p:nvCxnSpPr>
          <p:cNvPr id="12" name="Connector 11"/>
          <p:cNvCxnSpPr/>
          <p:nvPr/>
        </p:nvCxnSpPr>
        <p:spPr>
          <a:xfrm flipV="1">
            <a:off x="1920240" y="3108960"/>
            <a:ext cx="3429000" cy="859536"/>
          </a:xfrm>
          <a:prstGeom prst="line">
            <a:avLst/>
          </a:prstGeom>
          <a:ln w="12700">
            <a:solidFill>
              <a:srgbClr val="C3C2B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02920" y="4379976"/>
            <a:ext cx="1417320" cy="566928"/>
          </a:xfrm>
          <a:prstGeom prst="roundRect">
            <a:avLst/>
          </a:prstGeom>
          <a:solidFill>
            <a:srgbClr val="FCFCFB"/>
          </a:solidFill>
          <a:ln w="19050">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00" i="0" b="1">
                <a:solidFill>
                  <a:srgbClr val="0B0B0B"/>
                </a:solidFill>
                <a:latin typeface="Calibri"/>
              </a:rPr>
              <a:t>Novelty</a:t>
            </a:r>
          </a:p>
        </p:txBody>
      </p:sp>
      <p:cxnSp>
        <p:nvCxnSpPr>
          <p:cNvPr id="14" name="Connector 13"/>
          <p:cNvCxnSpPr/>
          <p:nvPr/>
        </p:nvCxnSpPr>
        <p:spPr>
          <a:xfrm flipV="1">
            <a:off x="1920240" y="3108960"/>
            <a:ext cx="3429000" cy="1554480"/>
          </a:xfrm>
          <a:prstGeom prst="line">
            <a:avLst/>
          </a:prstGeom>
          <a:ln w="12700">
            <a:solidFill>
              <a:srgbClr val="C3C2B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02920" y="5074920"/>
            <a:ext cx="1417320" cy="566928"/>
          </a:xfrm>
          <a:prstGeom prst="roundRect">
            <a:avLst/>
          </a:prstGeom>
          <a:solidFill>
            <a:srgbClr val="FCFCFB"/>
          </a:solidFill>
          <a:ln w="19050">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00" i="0" b="1">
                <a:solidFill>
                  <a:srgbClr val="0B0B0B"/>
                </a:solidFill>
                <a:latin typeface="Calibri"/>
              </a:rPr>
              <a:t>Contradiction</a:t>
            </a:r>
          </a:p>
        </p:txBody>
      </p:sp>
      <p:cxnSp>
        <p:nvCxnSpPr>
          <p:cNvPr id="16" name="Connector 15"/>
          <p:cNvCxnSpPr/>
          <p:nvPr/>
        </p:nvCxnSpPr>
        <p:spPr>
          <a:xfrm flipV="1">
            <a:off x="1920240" y="3108960"/>
            <a:ext cx="3429000" cy="2249424"/>
          </a:xfrm>
          <a:prstGeom prst="line">
            <a:avLst/>
          </a:prstGeom>
          <a:ln w="12700">
            <a:solidFill>
              <a:srgbClr val="C3C2B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02920" y="5769864"/>
            <a:ext cx="1417320" cy="566928"/>
          </a:xfrm>
          <a:prstGeom prst="roundRect">
            <a:avLst/>
          </a:prstGeom>
          <a:solidFill>
            <a:srgbClr val="FCFCFB"/>
          </a:solidFill>
          <a:ln w="19050">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00" i="0" b="1">
                <a:solidFill>
                  <a:srgbClr val="0B0B0B"/>
                </a:solidFill>
                <a:latin typeface="Calibri"/>
              </a:rPr>
              <a:t>BGE
embedding</a:t>
            </a:r>
          </a:p>
        </p:txBody>
      </p:sp>
      <p:cxnSp>
        <p:nvCxnSpPr>
          <p:cNvPr id="18" name="Connector 17"/>
          <p:cNvCxnSpPr/>
          <p:nvPr/>
        </p:nvCxnSpPr>
        <p:spPr>
          <a:xfrm flipV="1">
            <a:off x="1920240" y="3108960"/>
            <a:ext cx="3429000" cy="2944368"/>
          </a:xfrm>
          <a:prstGeom prst="line">
            <a:avLst/>
          </a:prstGeom>
          <a:ln w="12700">
            <a:solidFill>
              <a:srgbClr val="C3C2B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349240" y="2606040"/>
            <a:ext cx="1828800" cy="1005840"/>
          </a:xfrm>
          <a:prstGeom prst="roundRect">
            <a:avLst/>
          </a:prstGeom>
          <a:solidFill>
            <a:srgbClr val="2A78D6"/>
          </a:solidFill>
          <a:ln w="1905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500" i="0" b="1">
                <a:solidFill>
                  <a:srgbClr val="FFFFFF"/>
                </a:solidFill>
                <a:latin typeface="Calibri"/>
              </a:rPr>
              <a:t>Fusion</a:t>
            </a:r>
          </a:p>
          <a:p>
            <a:pPr algn="ctr"/>
            <a:r>
              <a:rPr sz="1200" i="0">
                <a:solidFill>
                  <a:srgbClr val="898781"/>
                </a:solidFill>
                <a:latin typeface="Calibri"/>
              </a:rPr>
              <a:t>(concat or gated)</a:t>
            </a:r>
          </a:p>
        </p:txBody>
      </p:sp>
      <p:sp>
        <p:nvSpPr>
          <p:cNvPr id="20" name="Rounded Rectangle 19"/>
          <p:cNvSpPr/>
          <p:nvPr/>
        </p:nvSpPr>
        <p:spPr>
          <a:xfrm>
            <a:off x="8321040" y="1600200"/>
            <a:ext cx="3017520" cy="914400"/>
          </a:xfrm>
          <a:prstGeom prst="roundRect">
            <a:avLst/>
          </a:prstGeom>
          <a:solidFill>
            <a:srgbClr val="FCFCFB"/>
          </a:solidFill>
          <a:ln w="1905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400" i="0" b="1">
                <a:solidFill>
                  <a:srgbClr val="0B0B0B"/>
                </a:solidFill>
                <a:latin typeface="Calibri"/>
              </a:rPr>
              <a:t>Lifetime
head</a:t>
            </a:r>
          </a:p>
          <a:p>
            <a:pPr algn="ctr"/>
            <a:r>
              <a:rPr sz="1100" i="0">
                <a:solidFill>
                  <a:srgbClr val="898781"/>
                </a:solidFill>
                <a:latin typeface="Calibri"/>
              </a:rPr>
              <a:t>Cox survival objective</a:t>
            </a:r>
          </a:p>
        </p:txBody>
      </p:sp>
      <p:cxnSp>
        <p:nvCxnSpPr>
          <p:cNvPr id="21" name="Connector 20"/>
          <p:cNvCxnSpPr/>
          <p:nvPr/>
        </p:nvCxnSpPr>
        <p:spPr>
          <a:xfrm flipV="1">
            <a:off x="7178040" y="2057400"/>
            <a:ext cx="1143000" cy="1051560"/>
          </a:xfrm>
          <a:prstGeom prst="line">
            <a:avLst/>
          </a:prstGeom>
          <a:ln w="12700">
            <a:solidFill>
              <a:srgbClr val="C3C2B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321040" y="2834640"/>
            <a:ext cx="3017520" cy="914400"/>
          </a:xfrm>
          <a:prstGeom prst="roundRect">
            <a:avLst/>
          </a:prstGeom>
          <a:solidFill>
            <a:srgbClr val="FCFCFB"/>
          </a:solidFill>
          <a:ln w="19050">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400" i="0" b="1">
                <a:solidFill>
                  <a:srgbClr val="0B0B0B"/>
                </a:solidFill>
                <a:latin typeface="Calibri"/>
              </a:rPr>
              <a:t>Action
head</a:t>
            </a:r>
          </a:p>
          <a:p>
            <a:pPr algn="ctr"/>
            <a:r>
              <a:rPr sz="1100" i="0">
                <a:solidFill>
                  <a:srgbClr val="898781"/>
                </a:solidFill>
                <a:latin typeface="Calibri"/>
              </a:rPr>
              <a:t>4-way: store/update/
merge/forget</a:t>
            </a:r>
          </a:p>
        </p:txBody>
      </p:sp>
      <p:cxnSp>
        <p:nvCxnSpPr>
          <p:cNvPr id="23" name="Connector 22"/>
          <p:cNvCxnSpPr/>
          <p:nvPr/>
        </p:nvCxnSpPr>
        <p:spPr>
          <a:xfrm>
            <a:off x="7178040" y="3108960"/>
            <a:ext cx="1143000" cy="182880"/>
          </a:xfrm>
          <a:prstGeom prst="line">
            <a:avLst/>
          </a:prstGeom>
          <a:ln w="12700">
            <a:solidFill>
              <a:srgbClr val="C3C2B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321040" y="4069080"/>
            <a:ext cx="3017520" cy="914400"/>
          </a:xfrm>
          <a:prstGeom prst="roundRect">
            <a:avLst/>
          </a:prstGeom>
          <a:solidFill>
            <a:srgbClr val="FCFCFB"/>
          </a:solidFill>
          <a:ln w="19050">
            <a:solidFill>
              <a:srgbClr val="E87BA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400" i="0" b="1">
                <a:solidFill>
                  <a:srgbClr val="0B0B0B"/>
                </a:solidFill>
                <a:latin typeface="Calibri"/>
              </a:rPr>
              <a:t>Future-Utility
head</a:t>
            </a:r>
          </a:p>
          <a:p>
            <a:pPr algn="ctr"/>
            <a:r>
              <a:rPr sz="1100" i="0">
                <a:solidFill>
                  <a:srgbClr val="898781"/>
                </a:solidFill>
                <a:latin typeface="Calibri"/>
              </a:rPr>
              <a:t>P(retrieved again)</a:t>
            </a:r>
          </a:p>
        </p:txBody>
      </p:sp>
      <p:cxnSp>
        <p:nvCxnSpPr>
          <p:cNvPr id="25" name="Connector 24"/>
          <p:cNvCxnSpPr/>
          <p:nvPr/>
        </p:nvCxnSpPr>
        <p:spPr>
          <a:xfrm>
            <a:off x="7178040" y="3108960"/>
            <a:ext cx="1143000" cy="1417320"/>
          </a:xfrm>
          <a:prstGeom prst="line">
            <a:avLst/>
          </a:prstGeom>
          <a:ln w="12700">
            <a:solidFill>
              <a:srgbClr val="C3C2B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02920" y="5623560"/>
            <a:ext cx="11155680" cy="822960"/>
          </a:xfrm>
          <a:prstGeom prst="rect">
            <a:avLst/>
          </a:prstGeom>
          <a:noFill/>
        </p:spPr>
        <p:txBody>
          <a:bodyPr wrap="square" anchor="t" lIns="0" rIns="0" tIns="0" bIns="0">
            <a:spAutoFit/>
          </a:bodyPr>
          <a:lstStyle/>
          <a:p>
            <a:r>
              <a:rPr sz="1400" i="0">
                <a:solidFill>
                  <a:srgbClr val="52514E"/>
                </a:solidFill>
                <a:latin typeface="Calibri"/>
              </a:rPr>
              <a:t>Six frozen auxiliary extractors (~433M params, single forward pass, zero generation) fused with BGE → </a:t>
            </a:r>
            <a:r>
              <a:rPr b="1" sz="1400" i="0">
                <a:solidFill>
                  <a:srgbClr val="52514E"/>
                </a:solidFill>
                <a:latin typeface="Calibri"/>
              </a:rPr>
              <a:t>three heads, one shared representation, 425,734 trainable params total</a:t>
            </a:r>
          </a:p>
        </p:txBody>
      </p:sp>
      <p:sp>
        <p:nvSpPr>
          <p:cNvPr id="27" name="Rectangle 26"/>
          <p:cNvSpPr/>
          <p:nvPr/>
        </p:nvSpPr>
        <p:spPr>
          <a:xfrm>
            <a:off x="0" y="6819900"/>
            <a:ext cx="1219169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6510528"/>
            <a:ext cx="5486400" cy="274320"/>
          </a:xfrm>
          <a:prstGeom prst="rect">
            <a:avLst/>
          </a:prstGeom>
          <a:noFill/>
        </p:spPr>
        <p:txBody>
          <a:bodyPr wrap="square" anchor="t" lIns="0" rIns="0" tIns="0" bIns="0">
            <a:spAutoFit/>
          </a:bodyPr>
          <a:lstStyle/>
          <a:p>
            <a:r>
              <a:rPr sz="900" i="0">
                <a:solidFill>
                  <a:srgbClr val="898781"/>
                </a:solidFill>
                <a:latin typeface="Calibri"/>
              </a:rPr>
              <a:t>MemoryLifeBench  ·  Final Project Defense</a:t>
            </a:r>
          </a:p>
        </p:txBody>
      </p:sp>
      <p:sp>
        <p:nvSpPr>
          <p:cNvPr id="29" name="TextBox 28"/>
          <p:cNvSpPr txBox="1"/>
          <p:nvPr/>
        </p:nvSpPr>
        <p:spPr>
          <a:xfrm>
            <a:off x="11002975" y="6510528"/>
            <a:ext cx="731520" cy="274320"/>
          </a:xfrm>
          <a:prstGeom prst="rect">
            <a:avLst/>
          </a:prstGeom>
          <a:noFill/>
        </p:spPr>
        <p:txBody>
          <a:bodyPr wrap="square" anchor="t" lIns="0" rIns="0" tIns="0" bIns="0">
            <a:spAutoFit/>
          </a:bodyPr>
          <a:lstStyle/>
          <a:p>
            <a:pPr algn="r"/>
            <a:r>
              <a:rPr sz="900" i="0">
                <a:solidFill>
                  <a:srgbClr val="898781"/>
                </a:solidFill>
                <a:latin typeface="Calibri"/>
              </a:rPr>
              <a:t>9 / 36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92608"/>
            <a:ext cx="10515600" cy="274320"/>
          </a:xfrm>
          <a:prstGeom prst="rect">
            <a:avLst/>
          </a:prstGeom>
          <a:noFill/>
        </p:spPr>
        <p:txBody>
          <a:bodyPr wrap="square" anchor="t" lIns="0" rIns="0" tIns="0" bIns="0">
            <a:spAutoFit/>
          </a:bodyPr>
          <a:lstStyle/>
          <a:p>
            <a:r>
              <a:rPr sz="1200" i="0" b="1">
                <a:solidFill>
                  <a:srgbClr val="2A78D6"/>
                </a:solidFill>
                <a:latin typeface="Calibri"/>
              </a:rPr>
              <a:t>3 · METHOD</a:t>
            </a:r>
          </a:p>
        </p:txBody>
      </p:sp>
      <p:sp>
        <p:nvSpPr>
          <p:cNvPr id="3" name="TextBox 2"/>
          <p:cNvSpPr txBox="1"/>
          <p:nvPr/>
        </p:nvSpPr>
        <p:spPr>
          <a:xfrm>
            <a:off x="502920" y="566928"/>
            <a:ext cx="11155680" cy="685800"/>
          </a:xfrm>
          <a:prstGeom prst="rect">
            <a:avLst/>
          </a:prstGeom>
          <a:noFill/>
        </p:spPr>
        <p:txBody>
          <a:bodyPr wrap="square" anchor="t" lIns="0" rIns="0" tIns="0" bIns="0">
            <a:spAutoFit/>
          </a:bodyPr>
          <a:lstStyle/>
          <a:p>
            <a:r>
              <a:rPr sz="2800" i="0" b="1">
                <a:solidFill>
                  <a:srgbClr val="0B0B0B"/>
                </a:solidFill>
                <a:latin typeface="Calibri"/>
              </a:rPr>
              <a:t>The memory-lifecycle system</a:t>
            </a:r>
          </a:p>
        </p:txBody>
      </p:sp>
      <p:sp>
        <p:nvSpPr>
          <p:cNvPr id="4" name="Rectangle 3"/>
          <p:cNvSpPr/>
          <p:nvPr/>
        </p:nvSpPr>
        <p:spPr>
          <a:xfrm>
            <a:off x="502920" y="1207008"/>
            <a:ext cx="100584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2559" y="2377440"/>
            <a:ext cx="1481328" cy="1005840"/>
          </a:xfrm>
          <a:prstGeom prst="roundRect">
            <a:avLst/>
          </a:prstGeom>
          <a:solidFill>
            <a:srgbClr val="FCFCFB"/>
          </a:solidFill>
          <a:ln w="1905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50" i="0" b="1">
                <a:solidFill>
                  <a:srgbClr val="0B0B0B"/>
                </a:solidFill>
                <a:latin typeface="Calibri"/>
              </a:rPr>
              <a:t>Extract &amp;
embed</a:t>
            </a:r>
          </a:p>
        </p:txBody>
      </p:sp>
      <p:sp>
        <p:nvSpPr>
          <p:cNvPr id="6" name="Rounded Rectangle 5"/>
          <p:cNvSpPr/>
          <p:nvPr/>
        </p:nvSpPr>
        <p:spPr>
          <a:xfrm>
            <a:off x="2026767" y="2377440"/>
            <a:ext cx="1481328" cy="1005840"/>
          </a:xfrm>
          <a:prstGeom prst="roundRect">
            <a:avLst/>
          </a:prstGeom>
          <a:solidFill>
            <a:srgbClr val="FCFCFB"/>
          </a:solidFill>
          <a:ln w="19050">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50" i="0" b="1">
                <a:solidFill>
                  <a:srgbClr val="0B0B0B"/>
                </a:solidFill>
                <a:latin typeface="Calibri"/>
              </a:rPr>
              <a:t>Store
(vector DB)</a:t>
            </a:r>
          </a:p>
        </p:txBody>
      </p:sp>
      <p:sp>
        <p:nvSpPr>
          <p:cNvPr id="7" name="Rounded Rectangle 6"/>
          <p:cNvSpPr/>
          <p:nvPr/>
        </p:nvSpPr>
        <p:spPr>
          <a:xfrm>
            <a:off x="3690975" y="2377440"/>
            <a:ext cx="1481328" cy="1005840"/>
          </a:xfrm>
          <a:prstGeom prst="roundRect">
            <a:avLst/>
          </a:prstGeom>
          <a:solidFill>
            <a:srgbClr val="FCFCFB"/>
          </a:solidFill>
          <a:ln w="19050">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50" i="0" b="1">
                <a:solidFill>
                  <a:srgbClr val="0B0B0B"/>
                </a:solidFill>
                <a:latin typeface="Calibri"/>
              </a:rPr>
              <a:t>Forget
(TTL + Action)</a:t>
            </a:r>
          </a:p>
        </p:txBody>
      </p:sp>
      <p:sp>
        <p:nvSpPr>
          <p:cNvPr id="8" name="Rounded Rectangle 7"/>
          <p:cNvSpPr/>
          <p:nvPr/>
        </p:nvSpPr>
        <p:spPr>
          <a:xfrm>
            <a:off x="5355183" y="2377440"/>
            <a:ext cx="1481328" cy="1005840"/>
          </a:xfrm>
          <a:prstGeom prst="roundRect">
            <a:avLst/>
          </a:prstGeom>
          <a:solidFill>
            <a:srgbClr val="FCFCFB"/>
          </a:solidFill>
          <a:ln w="19050">
            <a:solidFill>
              <a:srgbClr val="EDA1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50" i="0" b="1">
                <a:solidFill>
                  <a:srgbClr val="0B0B0B"/>
                </a:solidFill>
                <a:latin typeface="Calibri"/>
              </a:rPr>
              <a:t>Compact
(merge dupes)</a:t>
            </a:r>
          </a:p>
        </p:txBody>
      </p:sp>
      <p:sp>
        <p:nvSpPr>
          <p:cNvPr id="9" name="Rounded Rectangle 8"/>
          <p:cNvSpPr/>
          <p:nvPr/>
        </p:nvSpPr>
        <p:spPr>
          <a:xfrm>
            <a:off x="7019391" y="2377440"/>
            <a:ext cx="1481328" cy="1005840"/>
          </a:xfrm>
          <a:prstGeom prst="roundRect">
            <a:avLst/>
          </a:prstGeom>
          <a:solidFill>
            <a:srgbClr val="FCFCFB"/>
          </a:solidFill>
          <a:ln w="19050">
            <a:solidFill>
              <a:srgbClr val="E87BA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50" i="0" b="1">
                <a:solidFill>
                  <a:srgbClr val="0B0B0B"/>
                </a:solidFill>
                <a:latin typeface="Calibri"/>
              </a:rPr>
              <a:t>Reflect
(utility decay)</a:t>
            </a:r>
          </a:p>
        </p:txBody>
      </p:sp>
      <p:sp>
        <p:nvSpPr>
          <p:cNvPr id="10" name="Rounded Rectangle 9"/>
          <p:cNvSpPr/>
          <p:nvPr/>
        </p:nvSpPr>
        <p:spPr>
          <a:xfrm>
            <a:off x="8683599" y="2377440"/>
            <a:ext cx="1481328" cy="1005840"/>
          </a:xfrm>
          <a:prstGeom prst="roundRect">
            <a:avLst/>
          </a:prstGeom>
          <a:solidFill>
            <a:srgbClr val="FCFCFB"/>
          </a:solidFill>
          <a:ln w="19050">
            <a:solidFill>
              <a:srgbClr val="0083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50" i="0" b="1">
                <a:solidFill>
                  <a:srgbClr val="0B0B0B"/>
                </a:solidFill>
                <a:latin typeface="Calibri"/>
              </a:rPr>
              <a:t>Retrieve &amp;
rerank</a:t>
            </a:r>
          </a:p>
        </p:txBody>
      </p:sp>
      <p:sp>
        <p:nvSpPr>
          <p:cNvPr id="11" name="Rounded Rectangle 10"/>
          <p:cNvSpPr/>
          <p:nvPr/>
        </p:nvSpPr>
        <p:spPr>
          <a:xfrm>
            <a:off x="10347807" y="2377440"/>
            <a:ext cx="1481328" cy="1005840"/>
          </a:xfrm>
          <a:prstGeom prst="roundRect">
            <a:avLst/>
          </a:prstGeom>
          <a:solidFill>
            <a:srgbClr val="FCFCFB"/>
          </a:solidFill>
          <a:ln w="19050">
            <a:solidFill>
              <a:srgbClr val="4A3AA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150" i="0" b="1">
                <a:solidFill>
                  <a:srgbClr val="0B0B0B"/>
                </a:solidFill>
                <a:latin typeface="Calibri"/>
              </a:rPr>
              <a:t>Grounded
QA</a:t>
            </a:r>
          </a:p>
        </p:txBody>
      </p:sp>
      <p:cxnSp>
        <p:nvCxnSpPr>
          <p:cNvPr id="12" name="Connector 11"/>
          <p:cNvCxnSpPr/>
          <p:nvPr/>
        </p:nvCxnSpPr>
        <p:spPr>
          <a:xfrm>
            <a:off x="1843887" y="2880360"/>
            <a:ext cx="182880" cy="0"/>
          </a:xfrm>
          <a:prstGeom prst="line">
            <a:avLst/>
          </a:prstGeom>
          <a:ln w="22225">
            <a:solidFill>
              <a:srgbClr val="89878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508095" y="2880360"/>
            <a:ext cx="182880" cy="0"/>
          </a:xfrm>
          <a:prstGeom prst="line">
            <a:avLst/>
          </a:prstGeom>
          <a:ln w="22225">
            <a:solidFill>
              <a:srgbClr val="89878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172303" y="2880360"/>
            <a:ext cx="182880" cy="0"/>
          </a:xfrm>
          <a:prstGeom prst="line">
            <a:avLst/>
          </a:prstGeom>
          <a:ln w="22225">
            <a:solidFill>
              <a:srgbClr val="89878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836511" y="2880360"/>
            <a:ext cx="182880" cy="0"/>
          </a:xfrm>
          <a:prstGeom prst="line">
            <a:avLst/>
          </a:prstGeom>
          <a:ln w="22225">
            <a:solidFill>
              <a:srgbClr val="89878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500719" y="2880360"/>
            <a:ext cx="182880" cy="0"/>
          </a:xfrm>
          <a:prstGeom prst="line">
            <a:avLst/>
          </a:prstGeom>
          <a:ln w="22225">
            <a:solidFill>
              <a:srgbClr val="89878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164927" y="2880360"/>
            <a:ext cx="182880" cy="0"/>
          </a:xfrm>
          <a:prstGeom prst="line">
            <a:avLst/>
          </a:prstGeom>
          <a:ln w="22225">
            <a:solidFill>
              <a:srgbClr val="8987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48640" y="3977639"/>
            <a:ext cx="10789920" cy="2011680"/>
          </a:xfrm>
          <a:prstGeom prst="rect">
            <a:avLst/>
          </a:prstGeom>
          <a:noFill/>
        </p:spPr>
        <p:txBody>
          <a:bodyPr wrap="square" anchor="t" lIns="0" rIns="0" tIns="0" bIns="0">
            <a:spAutoFit/>
          </a:bodyPr>
          <a:lstStyle/>
          <a:p>
            <a:pPr>
              <a:spcAft>
                <a:spcPts val="1200"/>
              </a:spcAft>
            </a:pPr>
            <a:r>
              <a:rPr sz="1500" i="0">
                <a:solidFill>
                  <a:srgbClr val="0B0B0B"/>
                </a:solidFill>
                <a:latin typeface="Calibri"/>
              </a:rPr>
              <a:t>▪  Memory objects: {text, embedding, importance, predicted_ttl_days, action, utility_prob, provenance}</a:t>
            </a:r>
          </a:p>
          <a:p>
            <a:pPr>
              <a:spcAft>
                <a:spcPts val="1200"/>
              </a:spcAft>
            </a:pPr>
            <a:r>
              <a:rPr sz="1500" i="0">
                <a:solidFill>
                  <a:srgbClr val="0B0B0B"/>
                </a:solidFill>
                <a:latin typeface="Calibri"/>
              </a:rPr>
              <a:t>▪  Brute-force numpy vector store — sufficient at MemoryLifeBench's ~10K-memory scale</a:t>
            </a:r>
          </a:p>
          <a:p>
            <a:pPr>
              <a:spcAft>
                <a:spcPts val="1200"/>
              </a:spcAft>
            </a:pPr>
            <a:r>
              <a:rPr sz="1500" i="0">
                <a:solidFill>
                  <a:srgbClr val="0B0B0B"/>
                </a:solidFill>
                <a:latin typeface="Calibri"/>
              </a:rPr>
              <a:t>▪  Append-only audit log throughout; retriever reranks similarity-matched candidates by importance and utility before the grounded-QA call</a:t>
            </a:r>
          </a:p>
        </p:txBody>
      </p:sp>
      <p:sp>
        <p:nvSpPr>
          <p:cNvPr id="19" name="Rectangle 18"/>
          <p:cNvSpPr/>
          <p:nvPr/>
        </p:nvSpPr>
        <p:spPr>
          <a:xfrm>
            <a:off x="0" y="6819900"/>
            <a:ext cx="1219169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510528"/>
            <a:ext cx="5486400" cy="274320"/>
          </a:xfrm>
          <a:prstGeom prst="rect">
            <a:avLst/>
          </a:prstGeom>
          <a:noFill/>
        </p:spPr>
        <p:txBody>
          <a:bodyPr wrap="square" anchor="t" lIns="0" rIns="0" tIns="0" bIns="0">
            <a:spAutoFit/>
          </a:bodyPr>
          <a:lstStyle/>
          <a:p>
            <a:r>
              <a:rPr sz="900" i="0">
                <a:solidFill>
                  <a:srgbClr val="898781"/>
                </a:solidFill>
                <a:latin typeface="Calibri"/>
              </a:rPr>
              <a:t>MemoryLifeBench  ·  Final Project Defense</a:t>
            </a:r>
          </a:p>
        </p:txBody>
      </p:sp>
      <p:sp>
        <p:nvSpPr>
          <p:cNvPr id="21" name="TextBox 20"/>
          <p:cNvSpPr txBox="1"/>
          <p:nvPr/>
        </p:nvSpPr>
        <p:spPr>
          <a:xfrm>
            <a:off x="11002975" y="6510528"/>
            <a:ext cx="731520" cy="274320"/>
          </a:xfrm>
          <a:prstGeom prst="rect">
            <a:avLst/>
          </a:prstGeom>
          <a:noFill/>
        </p:spPr>
        <p:txBody>
          <a:bodyPr wrap="square" anchor="t" lIns="0" rIns="0" tIns="0" bIns="0">
            <a:spAutoFit/>
          </a:bodyPr>
          <a:lstStyle/>
          <a:p>
            <a:pPr algn="r"/>
            <a:r>
              <a:rPr sz="900" i="0">
                <a:solidFill>
                  <a:srgbClr val="898781"/>
                </a:solidFill>
                <a:latin typeface="Calibri"/>
              </a:rPr>
              <a:t>10 / 36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92608"/>
            <a:ext cx="10515600" cy="274320"/>
          </a:xfrm>
          <a:prstGeom prst="rect">
            <a:avLst/>
          </a:prstGeom>
          <a:noFill/>
        </p:spPr>
        <p:txBody>
          <a:bodyPr wrap="square" anchor="t" lIns="0" rIns="0" tIns="0" bIns="0">
            <a:spAutoFit/>
          </a:bodyPr>
          <a:lstStyle/>
          <a:p>
            <a:r>
              <a:rPr sz="1200" i="0" b="1">
                <a:solidFill>
                  <a:srgbClr val="2A78D6"/>
                </a:solidFill>
                <a:latin typeface="Calibri"/>
              </a:rPr>
              <a:t>4 · EXPERIMENTS, PART 1</a:t>
            </a:r>
          </a:p>
        </p:txBody>
      </p:sp>
      <p:sp>
        <p:nvSpPr>
          <p:cNvPr id="3" name="TextBox 2"/>
          <p:cNvSpPr txBox="1"/>
          <p:nvPr/>
        </p:nvSpPr>
        <p:spPr>
          <a:xfrm>
            <a:off x="502920" y="566928"/>
            <a:ext cx="11155680" cy="685800"/>
          </a:xfrm>
          <a:prstGeom prst="rect">
            <a:avLst/>
          </a:prstGeom>
          <a:noFill/>
        </p:spPr>
        <p:txBody>
          <a:bodyPr wrap="square" anchor="t" lIns="0" rIns="0" tIns="0" bIns="0">
            <a:spAutoFit/>
          </a:bodyPr>
          <a:lstStyle/>
          <a:p>
            <a:r>
              <a:rPr sz="2800" i="0" b="1">
                <a:solidFill>
                  <a:srgbClr val="0B0B0B"/>
                </a:solidFill>
                <a:latin typeface="Calibri"/>
              </a:rPr>
              <a:t>Setup: ranking quality</a:t>
            </a:r>
          </a:p>
        </p:txBody>
      </p:sp>
      <p:sp>
        <p:nvSpPr>
          <p:cNvPr id="4" name="Rectangle 3"/>
          <p:cNvSpPr/>
          <p:nvPr/>
        </p:nvSpPr>
        <p:spPr>
          <a:xfrm>
            <a:off x="502920" y="1207008"/>
            <a:ext cx="100584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54480"/>
            <a:ext cx="10607040" cy="4572000"/>
          </a:xfrm>
          <a:prstGeom prst="rect">
            <a:avLst/>
          </a:prstGeom>
          <a:noFill/>
        </p:spPr>
        <p:txBody>
          <a:bodyPr wrap="square" anchor="t" lIns="0" rIns="0" tIns="0" bIns="0">
            <a:spAutoFit/>
          </a:bodyPr>
          <a:lstStyle/>
          <a:p>
            <a:pPr>
              <a:spcAft>
                <a:spcPts val="1200"/>
              </a:spcAft>
            </a:pPr>
            <a:r>
              <a:rPr sz="1700" i="0">
                <a:solidFill>
                  <a:srgbClr val="0B0B0B"/>
                </a:solidFill>
                <a:latin typeface="Calibri"/>
              </a:rPr>
              <a:t>▪  Same test split (N=916) and validation split (N=939) for every method</a:t>
            </a:r>
          </a:p>
          <a:p>
            <a:pPr>
              <a:spcAft>
                <a:spcPts val="1200"/>
              </a:spcAft>
            </a:pPr>
            <a:r>
              <a:rPr sz="1700" i="0">
                <a:solidFill>
                  <a:srgbClr val="0B0B0B"/>
                </a:solidFill>
                <a:latin typeface="Calibri"/>
              </a:rPr>
              <a:t>▪  Five baselines:</a:t>
            </a:r>
          </a:p>
          <a:p>
            <a:pPr lvl="1">
              <a:spcAft>
                <a:spcPts val="1200"/>
              </a:spcAft>
            </a:pPr>
            <a:r>
              <a:rPr sz="1600" i="0">
                <a:solidFill>
                  <a:srgbClr val="0B0B0B"/>
                </a:solidFill>
                <a:latin typeface="Calibri"/>
              </a:rPr>
              <a:t>–  Recency-frequency heuristic</a:t>
            </a:r>
          </a:p>
          <a:p>
            <a:pPr lvl="1">
              <a:spcAft>
                <a:spcPts val="1200"/>
              </a:spcAft>
            </a:pPr>
            <a:r>
              <a:rPr sz="1600" i="0">
                <a:solidFill>
                  <a:srgbClr val="0B0B0B"/>
                </a:solidFill>
                <a:latin typeface="Calibri"/>
              </a:rPr>
              <a:t>–  Day/week/permanent bucket classifier</a:t>
            </a:r>
          </a:p>
          <a:p>
            <a:pPr lvl="1">
              <a:spcAft>
                <a:spcPts val="1200"/>
              </a:spcAft>
            </a:pPr>
            <a:r>
              <a:rPr sz="1600" i="0">
                <a:solidFill>
                  <a:srgbClr val="0B0B0B"/>
                </a:solidFill>
                <a:latin typeface="Calibri"/>
              </a:rPr>
              <a:t>–  Three LLM-prompted-TTL baselines: local Qwen2.5-7B, GPT-4o, Gemini 2.5 Pro (identical prompt across all three — “which model” is the only variable)</a:t>
            </a:r>
          </a:p>
          <a:p>
            <a:pPr>
              <a:spcAft>
                <a:spcPts val="1200"/>
              </a:spcAft>
            </a:pPr>
            <a:r>
              <a:rPr sz="1700" i="0">
                <a:solidFill>
                  <a:srgbClr val="0B0B0B"/>
                </a:solidFill>
                <a:latin typeface="Calibri"/>
              </a:rPr>
              <a:t>▪  Real, metered API spend for the two frontier baselines: 258,785 tokens (GPT-4o) + 210,072 tokens (Gemini)</a:t>
            </a:r>
          </a:p>
          <a:p>
            <a:pPr>
              <a:spcAft>
                <a:spcPts val="1200"/>
              </a:spcAft>
            </a:pPr>
            <a:r>
              <a:rPr sz="1700" i="0" b="1">
                <a:solidFill>
                  <a:srgbClr val="0B0B0B"/>
                </a:solidFill>
                <a:latin typeface="Calibri"/>
              </a:rPr>
              <a:t>▪  Our pipeline: </a:t>
            </a:r>
            <a:r>
              <a:rPr b="1" sz="1700" i="0">
                <a:solidFill>
                  <a:srgbClr val="0B0B0B"/>
                </a:solidFill>
                <a:latin typeface="Calibri"/>
              </a:rPr>
              <a:t>zero token cost by construction</a:t>
            </a:r>
          </a:p>
        </p:txBody>
      </p:sp>
      <p:sp>
        <p:nvSpPr>
          <p:cNvPr id="6" name="Rectangle 5"/>
          <p:cNvSpPr/>
          <p:nvPr/>
        </p:nvSpPr>
        <p:spPr>
          <a:xfrm>
            <a:off x="0" y="6819900"/>
            <a:ext cx="1219169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486400" cy="274320"/>
          </a:xfrm>
          <a:prstGeom prst="rect">
            <a:avLst/>
          </a:prstGeom>
          <a:noFill/>
        </p:spPr>
        <p:txBody>
          <a:bodyPr wrap="square" anchor="t" lIns="0" rIns="0" tIns="0" bIns="0">
            <a:spAutoFit/>
          </a:bodyPr>
          <a:lstStyle/>
          <a:p>
            <a:r>
              <a:rPr sz="900" i="0">
                <a:solidFill>
                  <a:srgbClr val="898781"/>
                </a:solidFill>
                <a:latin typeface="Calibri"/>
              </a:rPr>
              <a:t>MemoryLifeBench  ·  Final Project Defense</a:t>
            </a:r>
          </a:p>
        </p:txBody>
      </p:sp>
      <p:sp>
        <p:nvSpPr>
          <p:cNvPr id="8" name="TextBox 7"/>
          <p:cNvSpPr txBox="1"/>
          <p:nvPr/>
        </p:nvSpPr>
        <p:spPr>
          <a:xfrm>
            <a:off x="11002975" y="6510528"/>
            <a:ext cx="731520" cy="274320"/>
          </a:xfrm>
          <a:prstGeom prst="rect">
            <a:avLst/>
          </a:prstGeom>
          <a:noFill/>
        </p:spPr>
        <p:txBody>
          <a:bodyPr wrap="square" anchor="t" lIns="0" rIns="0" tIns="0" bIns="0">
            <a:spAutoFit/>
          </a:bodyPr>
          <a:lstStyle/>
          <a:p>
            <a:pPr algn="r"/>
            <a:r>
              <a:rPr sz="900" i="0">
                <a:solidFill>
                  <a:srgbClr val="898781"/>
                </a:solidFill>
                <a:latin typeface="Calibri"/>
              </a:rPr>
              <a:t>11 / 36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92608"/>
            <a:ext cx="10515600" cy="274320"/>
          </a:xfrm>
          <a:prstGeom prst="rect">
            <a:avLst/>
          </a:prstGeom>
          <a:noFill/>
        </p:spPr>
        <p:txBody>
          <a:bodyPr wrap="square" anchor="t" lIns="0" rIns="0" tIns="0" bIns="0">
            <a:spAutoFit/>
          </a:bodyPr>
          <a:lstStyle/>
          <a:p>
            <a:r>
              <a:rPr sz="1200" i="0" b="1">
                <a:solidFill>
                  <a:srgbClr val="2A78D6"/>
                </a:solidFill>
                <a:latin typeface="Calibri"/>
              </a:rPr>
              <a:t>4 · EXPERIMENTS, PART 1</a:t>
            </a:r>
          </a:p>
        </p:txBody>
      </p:sp>
      <p:sp>
        <p:nvSpPr>
          <p:cNvPr id="3" name="TextBox 2"/>
          <p:cNvSpPr txBox="1"/>
          <p:nvPr/>
        </p:nvSpPr>
        <p:spPr>
          <a:xfrm>
            <a:off x="502920" y="566928"/>
            <a:ext cx="11155680" cy="685800"/>
          </a:xfrm>
          <a:prstGeom prst="rect">
            <a:avLst/>
          </a:prstGeom>
          <a:noFill/>
        </p:spPr>
        <p:txBody>
          <a:bodyPr wrap="square" anchor="t" lIns="0" rIns="0" tIns="0" bIns="0">
            <a:spAutoFit/>
          </a:bodyPr>
          <a:lstStyle/>
          <a:p>
            <a:r>
              <a:rPr sz="2800" i="0" b="1">
                <a:solidFill>
                  <a:srgbClr val="0B0B0B"/>
                </a:solidFill>
                <a:latin typeface="Calibri"/>
              </a:rPr>
              <a:t>Headline result: ranking quality (C-index)</a:t>
            </a:r>
          </a:p>
        </p:txBody>
      </p:sp>
      <p:sp>
        <p:nvSpPr>
          <p:cNvPr id="4" name="Rectangle 3"/>
          <p:cNvSpPr/>
          <p:nvPr/>
        </p:nvSpPr>
        <p:spPr>
          <a:xfrm>
            <a:off x="502920" y="1207008"/>
            <a:ext cx="100584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822960" y="1600200"/>
          <a:ext cx="10515600" cy="3749039"/>
        </p:xfrm>
        <a:graphic>
          <a:graphicData uri="http://schemas.openxmlformats.org/drawingml/2006/chart">
            <c:chart xmlns:c="http://schemas.openxmlformats.org/drawingml/2006/chart" r:id="rId2"/>
          </a:graphicData>
        </a:graphic>
      </p:graphicFrame>
      <p:sp>
        <p:nvSpPr>
          <p:cNvPr id="6" name="TextBox 5"/>
          <p:cNvSpPr txBox="1"/>
          <p:nvPr/>
        </p:nvSpPr>
        <p:spPr>
          <a:xfrm>
            <a:off x="822960" y="5623560"/>
            <a:ext cx="10515600" cy="640080"/>
          </a:xfrm>
          <a:prstGeom prst="rect">
            <a:avLst/>
          </a:prstGeom>
          <a:noFill/>
        </p:spPr>
        <p:txBody>
          <a:bodyPr wrap="square" anchor="t" lIns="0" rIns="0" tIns="0" bIns="0">
            <a:spAutoFit/>
          </a:bodyPr>
          <a:lstStyle/>
          <a:p>
            <a:r>
              <a:rPr b="1" sz="1450" i="0">
                <a:solidFill>
                  <a:srgbClr val="0B0B0B"/>
                </a:solidFill>
                <a:latin typeface="Calibri"/>
              </a:rPr>
              <a:t>Beats every baseline, p &lt; 0.001 (bootstrap, all pairwise).</a:t>
            </a:r>
            <a:r>
              <a:rPr sz="1450" i="0">
                <a:solidFill>
                  <a:srgbClr val="0B0B0B"/>
                </a:solidFill>
                <a:latin typeface="Calibri"/>
              </a:rPr>
              <a:t> vs. GPT-4o: +0.180 C-index, 95% CI [+0.134, +0.224]</a:t>
            </a:r>
          </a:p>
        </p:txBody>
      </p:sp>
      <p:sp>
        <p:nvSpPr>
          <p:cNvPr id="7" name="Rectangle 6"/>
          <p:cNvSpPr/>
          <p:nvPr/>
        </p:nvSpPr>
        <p:spPr>
          <a:xfrm>
            <a:off x="0" y="6819900"/>
            <a:ext cx="1219169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5486400" cy="274320"/>
          </a:xfrm>
          <a:prstGeom prst="rect">
            <a:avLst/>
          </a:prstGeom>
          <a:noFill/>
        </p:spPr>
        <p:txBody>
          <a:bodyPr wrap="square" anchor="t" lIns="0" rIns="0" tIns="0" bIns="0">
            <a:spAutoFit/>
          </a:bodyPr>
          <a:lstStyle/>
          <a:p>
            <a:r>
              <a:rPr sz="900" i="0">
                <a:solidFill>
                  <a:srgbClr val="898781"/>
                </a:solidFill>
                <a:latin typeface="Calibri"/>
              </a:rPr>
              <a:t>MemoryLifeBench  ·  Final Project Defense</a:t>
            </a:r>
          </a:p>
        </p:txBody>
      </p:sp>
      <p:sp>
        <p:nvSpPr>
          <p:cNvPr id="9" name="TextBox 8"/>
          <p:cNvSpPr txBox="1"/>
          <p:nvPr/>
        </p:nvSpPr>
        <p:spPr>
          <a:xfrm>
            <a:off x="11002975" y="6510528"/>
            <a:ext cx="731520" cy="274320"/>
          </a:xfrm>
          <a:prstGeom prst="rect">
            <a:avLst/>
          </a:prstGeom>
          <a:noFill/>
        </p:spPr>
        <p:txBody>
          <a:bodyPr wrap="square" anchor="t" lIns="0" rIns="0" tIns="0" bIns="0">
            <a:spAutoFit/>
          </a:bodyPr>
          <a:lstStyle/>
          <a:p>
            <a:pPr algn="r"/>
            <a:r>
              <a:rPr sz="900" i="0">
                <a:solidFill>
                  <a:srgbClr val="898781"/>
                </a:solidFill>
                <a:latin typeface="Calibri"/>
              </a:rPr>
              <a:t>12 / 36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92608"/>
            <a:ext cx="10515600" cy="274320"/>
          </a:xfrm>
          <a:prstGeom prst="rect">
            <a:avLst/>
          </a:prstGeom>
          <a:noFill/>
        </p:spPr>
        <p:txBody>
          <a:bodyPr wrap="square" anchor="t" lIns="0" rIns="0" tIns="0" bIns="0">
            <a:spAutoFit/>
          </a:bodyPr>
          <a:lstStyle/>
          <a:p>
            <a:r>
              <a:rPr sz="1200" i="0" b="1">
                <a:solidFill>
                  <a:srgbClr val="2A78D6"/>
                </a:solidFill>
                <a:latin typeface="Calibri"/>
              </a:rPr>
              <a:t>4 · EXPERIMENTS, PART 1</a:t>
            </a:r>
          </a:p>
        </p:txBody>
      </p:sp>
      <p:sp>
        <p:nvSpPr>
          <p:cNvPr id="3" name="TextBox 2"/>
          <p:cNvSpPr txBox="1"/>
          <p:nvPr/>
        </p:nvSpPr>
        <p:spPr>
          <a:xfrm>
            <a:off x="502920" y="566928"/>
            <a:ext cx="11155680" cy="685800"/>
          </a:xfrm>
          <a:prstGeom prst="rect">
            <a:avLst/>
          </a:prstGeom>
          <a:noFill/>
        </p:spPr>
        <p:txBody>
          <a:bodyPr wrap="square" anchor="t" lIns="0" rIns="0" tIns="0" bIns="0">
            <a:spAutoFit/>
          </a:bodyPr>
          <a:lstStyle/>
          <a:p>
            <a:r>
              <a:rPr sz="2800" i="0" b="1">
                <a:solidFill>
                  <a:srgbClr val="0B0B0B"/>
                </a:solidFill>
                <a:latin typeface="Calibri"/>
              </a:rPr>
              <a:t>Richer metrics &amp; determinism</a:t>
            </a:r>
          </a:p>
        </p:txBody>
      </p:sp>
      <p:sp>
        <p:nvSpPr>
          <p:cNvPr id="4" name="Rectangle 3"/>
          <p:cNvSpPr/>
          <p:nvPr/>
        </p:nvSpPr>
        <p:spPr>
          <a:xfrm>
            <a:off x="502920" y="1207008"/>
            <a:ext cx="100584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40080" y="1600200"/>
          <a:ext cx="10881360" cy="2194560"/>
        </p:xfrm>
        <a:graphic>
          <a:graphicData uri="http://schemas.openxmlformats.org/drawingml/2006/table">
            <a:tbl>
              <a:tblPr firstRow="1" bandRow="1">
                <a:tableStyleId>{5C22544A-7EE6-4342-B048-85BDC9FD1C3A}</a:tableStyleId>
              </a:tblPr>
              <a:tblGrid>
                <a:gridCol w="4114800"/>
                <a:gridCol w="2743200"/>
                <a:gridCol w="4023360"/>
              </a:tblGrid>
              <a:tr h="548640">
                <a:tc>
                  <a:txBody>
                    <a:bodyPr/>
                    <a:lstStyle/>
                    <a:p>
                      <a:r>
                        <a:rPr sz="1400" i="0" b="1">
                          <a:solidFill>
                            <a:srgbClr val="FFFFFF"/>
                          </a:solidFill>
                          <a:latin typeface="Calibri"/>
                        </a:rPr>
                        <a:t>Metric</a:t>
                      </a:r>
                    </a:p>
                  </a:txBody>
                  <a:tcPr anchor="ctr" marL="73152" marT="27432" marB="27432">
                    <a:solidFill>
                      <a:srgbClr val="2A78D6"/>
                    </a:solidFill>
                  </a:tcPr>
                </a:tc>
                <a:tc>
                  <a:txBody>
                    <a:bodyPr/>
                    <a:lstStyle/>
                    <a:p>
                      <a:r>
                        <a:rPr sz="1400" i="0" b="1">
                          <a:solidFill>
                            <a:srgbClr val="FFFFFF"/>
                          </a:solidFill>
                          <a:latin typeface="Calibri"/>
                        </a:rPr>
                        <a:t>Our model</a:t>
                      </a:r>
                    </a:p>
                  </a:txBody>
                  <a:tcPr anchor="ctr" marL="73152" marT="27432" marB="27432">
                    <a:solidFill>
                      <a:srgbClr val="2A78D6"/>
                    </a:solidFill>
                  </a:tcPr>
                </a:tc>
                <a:tc>
                  <a:txBody>
                    <a:bodyPr/>
                    <a:lstStyle/>
                    <a:p>
                      <a:r>
                        <a:rPr sz="1400" i="0" b="1">
                          <a:solidFill>
                            <a:srgbClr val="FFFFFF"/>
                          </a:solidFill>
                          <a:latin typeface="Calibri"/>
                        </a:rPr>
                        <a:t>GPT-4o</a:t>
                      </a:r>
                    </a:p>
                  </a:txBody>
                  <a:tcPr anchor="ctr" marL="73152" marT="27432" marB="27432">
                    <a:solidFill>
                      <a:srgbClr val="2A78D6"/>
                    </a:solidFill>
                  </a:tcPr>
                </a:tc>
              </a:tr>
              <a:tr h="548640">
                <a:tc>
                  <a:txBody>
                    <a:bodyPr/>
                    <a:lstStyle/>
                    <a:p>
                      <a:r>
                        <a:rPr sz="1400" i="0">
                          <a:solidFill>
                            <a:srgbClr val="0B0B0B"/>
                          </a:solidFill>
                          <a:latin typeface="Calibri"/>
                        </a:rPr>
                        <a:t>Time-dependent AUC</a:t>
                      </a:r>
                    </a:p>
                  </a:txBody>
                  <a:tcPr anchor="ctr" marL="73152" marT="18288" marB="18288">
                    <a:solidFill>
                      <a:srgbClr val="FFFFFF"/>
                    </a:solidFill>
                  </a:tcPr>
                </a:tc>
                <a:tc>
                  <a:txBody>
                    <a:bodyPr/>
                    <a:lstStyle/>
                    <a:p>
                      <a:r>
                        <a:rPr sz="1400" i="0">
                          <a:solidFill>
                            <a:srgbClr val="0B0B0B"/>
                          </a:solidFill>
                          <a:latin typeface="Calibri"/>
                        </a:rPr>
                        <a:t>0.7895</a:t>
                      </a:r>
                    </a:p>
                  </a:txBody>
                  <a:tcPr anchor="ctr" marL="73152" marT="18288" marB="18288">
                    <a:solidFill>
                      <a:srgbClr val="FFFFFF"/>
                    </a:solidFill>
                  </a:tcPr>
                </a:tc>
                <a:tc>
                  <a:txBody>
                    <a:bodyPr/>
                    <a:lstStyle/>
                    <a:p>
                      <a:r>
                        <a:rPr sz="1400" i="0">
                          <a:solidFill>
                            <a:srgbClr val="0B0B0B"/>
                          </a:solidFill>
                          <a:latin typeface="Calibri"/>
                        </a:rPr>
                        <a:t>0.5339</a:t>
                      </a:r>
                    </a:p>
                  </a:txBody>
                  <a:tcPr anchor="ctr" marL="73152" marT="18288" marB="18288">
                    <a:solidFill>
                      <a:srgbClr val="FFFFFF"/>
                    </a:solidFill>
                  </a:tcPr>
                </a:tc>
              </a:tr>
              <a:tr h="548640">
                <a:tc>
                  <a:txBody>
                    <a:bodyPr/>
                    <a:lstStyle/>
                    <a:p>
                      <a:r>
                        <a:rPr sz="1400" i="0">
                          <a:solidFill>
                            <a:srgbClr val="0B0B0B"/>
                          </a:solidFill>
                          <a:latin typeface="Calibri"/>
                        </a:rPr>
                        <a:t>Integrated Brier score (lower is better)</a:t>
                      </a:r>
                    </a:p>
                  </a:txBody>
                  <a:tcPr anchor="ctr" marL="73152" marT="18288" marB="18288">
                    <a:solidFill>
                      <a:srgbClr val="FCFCFB"/>
                    </a:solidFill>
                  </a:tcPr>
                </a:tc>
                <a:tc>
                  <a:txBody>
                    <a:bodyPr/>
                    <a:lstStyle/>
                    <a:p>
                      <a:r>
                        <a:rPr sz="1400" i="0">
                          <a:solidFill>
                            <a:srgbClr val="0B0B0B"/>
                          </a:solidFill>
                          <a:latin typeface="Calibri"/>
                        </a:rPr>
                        <a:t>0.2463</a:t>
                      </a:r>
                    </a:p>
                  </a:txBody>
                  <a:tcPr anchor="ctr" marL="73152" marT="18288" marB="18288">
                    <a:solidFill>
                      <a:srgbClr val="FCFCFB"/>
                    </a:solidFill>
                  </a:tcPr>
                </a:tc>
                <a:tc>
                  <a:txBody>
                    <a:bodyPr/>
                    <a:lstStyle/>
                    <a:p>
                      <a:r>
                        <a:rPr sz="1400" i="0">
                          <a:solidFill>
                            <a:srgbClr val="0B0B0B"/>
                          </a:solidFill>
                          <a:latin typeface="Calibri"/>
                        </a:rPr>
                        <a:t>0.4882</a:t>
                      </a:r>
                    </a:p>
                  </a:txBody>
                  <a:tcPr anchor="ctr" marL="73152" marT="18288" marB="18288">
                    <a:solidFill>
                      <a:srgbClr val="FCFCFB"/>
                    </a:solidFill>
                  </a:tcPr>
                </a:tc>
              </a:tr>
              <a:tr h="548640">
                <a:tc>
                  <a:txBody>
                    <a:bodyPr/>
                    <a:lstStyle/>
                    <a:p>
                      <a:r>
                        <a:rPr sz="1400" i="0">
                          <a:solidFill>
                            <a:srgbClr val="0B0B0B"/>
                          </a:solidFill>
                          <a:latin typeface="Calibri"/>
                        </a:rPr>
                        <a:t>Coefficient of variation across paraphrases</a:t>
                      </a:r>
                    </a:p>
                  </a:txBody>
                  <a:tcPr anchor="ctr" marL="73152" marT="18288" marB="18288">
                    <a:solidFill>
                      <a:srgbClr val="FFFFFF"/>
                    </a:solidFill>
                  </a:tcPr>
                </a:tc>
                <a:tc>
                  <a:txBody>
                    <a:bodyPr/>
                    <a:lstStyle/>
                    <a:p>
                      <a:r>
                        <a:rPr sz="1400" i="0">
                          <a:solidFill>
                            <a:srgbClr val="0B0B0B"/>
                          </a:solidFill>
                          <a:latin typeface="Calibri"/>
                        </a:rPr>
                        <a:t>0.0000</a:t>
                      </a:r>
                    </a:p>
                  </a:txBody>
                  <a:tcPr anchor="ctr" marL="73152" marT="18288" marB="18288">
                    <a:solidFill>
                      <a:srgbClr val="FFFFFF"/>
                    </a:solidFill>
                  </a:tcPr>
                </a:tc>
                <a:tc>
                  <a:txBody>
                    <a:bodyPr/>
                    <a:lstStyle/>
                    <a:p>
                      <a:r>
                        <a:rPr sz="1400" i="0">
                          <a:solidFill>
                            <a:srgbClr val="0B0B0B"/>
                          </a:solidFill>
                          <a:latin typeface="Calibri"/>
                        </a:rPr>
                        <a:t>0.3845 (44% of records CV&gt;0.5)</a:t>
                      </a:r>
                    </a:p>
                  </a:txBody>
                  <a:tcPr anchor="ctr" marL="73152" marT="18288" marB="18288">
                    <a:solidFill>
                      <a:srgbClr val="FFFFFF"/>
                    </a:solidFill>
                  </a:tcPr>
                </a:tc>
              </a:tr>
            </a:tbl>
          </a:graphicData>
        </a:graphic>
      </p:graphicFrame>
      <p:sp>
        <p:nvSpPr>
          <p:cNvPr id="6" name="TextBox 5"/>
          <p:cNvSpPr txBox="1"/>
          <p:nvPr/>
        </p:nvSpPr>
        <p:spPr>
          <a:xfrm>
            <a:off x="640080" y="4114800"/>
            <a:ext cx="10881360" cy="2011680"/>
          </a:xfrm>
          <a:prstGeom prst="rect">
            <a:avLst/>
          </a:prstGeom>
          <a:noFill/>
        </p:spPr>
        <p:txBody>
          <a:bodyPr wrap="square" anchor="t" lIns="0" rIns="0" tIns="0" bIns="0">
            <a:spAutoFit/>
          </a:bodyPr>
          <a:lstStyle/>
          <a:p>
            <a:r>
              <a:rPr b="1" sz="1600" i="0">
                <a:solidFill>
                  <a:srgbClr val="0B0B0B"/>
                </a:solidFill>
                <a:latin typeface="Calibri"/>
              </a:rPr>
              <a:t>Determinism matters independently of accuracy.</a:t>
            </a:r>
            <a:r>
              <a:rPr sz="1600" i="0">
                <a:solidFill>
                  <a:srgbClr val="0B0B0B"/>
                </a:solidFill>
                <a:latin typeface="Calibri"/>
              </a:rPr>
              <a:t> Reword the same fact three ways: our model gives the identical answer every time. Qwen2.5-7B's CV is 0.7456 — 85% of records vary substantially on semantically identical inputs.</a:t>
            </a:r>
          </a:p>
          <a:p>
            <a:pPr>
              <a:spcBef>
                <a:spcPts val="1000"/>
              </a:spcBef>
            </a:pPr>
            <a:r>
              <a:rPr sz="1500" i="1">
                <a:solidFill>
                  <a:srgbClr val="52514E"/>
                </a:solidFill>
                <a:latin typeface="Calibri"/>
              </a:rPr>
              <a:t>A deployed forgetting policy that changes its mind on a reworded version of the same fact is a liability regardless of its average accuracy.</a:t>
            </a:r>
          </a:p>
        </p:txBody>
      </p:sp>
      <p:sp>
        <p:nvSpPr>
          <p:cNvPr id="7" name="Rectangle 6"/>
          <p:cNvSpPr/>
          <p:nvPr/>
        </p:nvSpPr>
        <p:spPr>
          <a:xfrm>
            <a:off x="0" y="6819900"/>
            <a:ext cx="1219169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5486400" cy="274320"/>
          </a:xfrm>
          <a:prstGeom prst="rect">
            <a:avLst/>
          </a:prstGeom>
          <a:noFill/>
        </p:spPr>
        <p:txBody>
          <a:bodyPr wrap="square" anchor="t" lIns="0" rIns="0" tIns="0" bIns="0">
            <a:spAutoFit/>
          </a:bodyPr>
          <a:lstStyle/>
          <a:p>
            <a:r>
              <a:rPr sz="900" i="0">
                <a:solidFill>
                  <a:srgbClr val="898781"/>
                </a:solidFill>
                <a:latin typeface="Calibri"/>
              </a:rPr>
              <a:t>MemoryLifeBench  ·  Final Project Defense</a:t>
            </a:r>
          </a:p>
        </p:txBody>
      </p:sp>
      <p:sp>
        <p:nvSpPr>
          <p:cNvPr id="9" name="TextBox 8"/>
          <p:cNvSpPr txBox="1"/>
          <p:nvPr/>
        </p:nvSpPr>
        <p:spPr>
          <a:xfrm>
            <a:off x="11002975" y="6510528"/>
            <a:ext cx="731520" cy="274320"/>
          </a:xfrm>
          <a:prstGeom prst="rect">
            <a:avLst/>
          </a:prstGeom>
          <a:noFill/>
        </p:spPr>
        <p:txBody>
          <a:bodyPr wrap="square" anchor="t" lIns="0" rIns="0" tIns="0" bIns="0">
            <a:spAutoFit/>
          </a:bodyPr>
          <a:lstStyle/>
          <a:p>
            <a:pPr algn="r"/>
            <a:r>
              <a:rPr sz="900" i="0">
                <a:solidFill>
                  <a:srgbClr val="898781"/>
                </a:solidFill>
                <a:latin typeface="Calibri"/>
              </a:rPr>
              <a:t>13 / 36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92608"/>
            <a:ext cx="10515600" cy="274320"/>
          </a:xfrm>
          <a:prstGeom prst="rect">
            <a:avLst/>
          </a:prstGeom>
          <a:noFill/>
        </p:spPr>
        <p:txBody>
          <a:bodyPr wrap="square" anchor="t" lIns="0" rIns="0" tIns="0" bIns="0">
            <a:spAutoFit/>
          </a:bodyPr>
          <a:lstStyle/>
          <a:p>
            <a:r>
              <a:rPr sz="1200" i="0" b="1">
                <a:solidFill>
                  <a:srgbClr val="2A78D6"/>
                </a:solidFill>
                <a:latin typeface="Calibri"/>
              </a:rPr>
              <a:t>4 · EXPERIMENTS, PART 1</a:t>
            </a:r>
          </a:p>
        </p:txBody>
      </p:sp>
      <p:sp>
        <p:nvSpPr>
          <p:cNvPr id="3" name="TextBox 2"/>
          <p:cNvSpPr txBox="1"/>
          <p:nvPr/>
        </p:nvSpPr>
        <p:spPr>
          <a:xfrm>
            <a:off x="502920" y="566928"/>
            <a:ext cx="11155680" cy="685800"/>
          </a:xfrm>
          <a:prstGeom prst="rect">
            <a:avLst/>
          </a:prstGeom>
          <a:noFill/>
        </p:spPr>
        <p:txBody>
          <a:bodyPr wrap="square" anchor="t" lIns="0" rIns="0" tIns="0" bIns="0">
            <a:spAutoFit/>
          </a:bodyPr>
          <a:lstStyle/>
          <a:p>
            <a:r>
              <a:rPr sz="2800" i="0" b="1">
                <a:solidFill>
                  <a:srgbClr val="0B0B0B"/>
                </a:solidFill>
                <a:latin typeface="Calibri"/>
              </a:rPr>
              <a:t>Stability, ablations, and the joint model</a:t>
            </a:r>
          </a:p>
        </p:txBody>
      </p:sp>
      <p:sp>
        <p:nvSpPr>
          <p:cNvPr id="4" name="Rectangle 3"/>
          <p:cNvSpPr/>
          <p:nvPr/>
        </p:nvSpPr>
        <p:spPr>
          <a:xfrm>
            <a:off x="502920" y="1207008"/>
            <a:ext cx="100584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822960" y="1554480"/>
          <a:ext cx="10515600" cy="3291840"/>
        </p:xfrm>
        <a:graphic>
          <a:graphicData uri="http://schemas.openxmlformats.org/drawingml/2006/chart">
            <c:chart xmlns:c="http://schemas.openxmlformats.org/drawingml/2006/chart" r:id="rId2"/>
          </a:graphicData>
        </a:graphic>
      </p:graphicFrame>
      <p:sp>
        <p:nvSpPr>
          <p:cNvPr id="6" name="TextBox 5"/>
          <p:cNvSpPr txBox="1"/>
          <p:nvPr/>
        </p:nvSpPr>
        <p:spPr>
          <a:xfrm>
            <a:off x="822960" y="5166360"/>
            <a:ext cx="10515600" cy="1371600"/>
          </a:xfrm>
          <a:prstGeom prst="rect">
            <a:avLst/>
          </a:prstGeom>
          <a:noFill/>
        </p:spPr>
        <p:txBody>
          <a:bodyPr wrap="square" anchor="t" lIns="0" rIns="0" tIns="0" bIns="0">
            <a:spAutoFit/>
          </a:bodyPr>
          <a:lstStyle/>
          <a:p>
            <a:pPr>
              <a:spcAft>
                <a:spcPts val="800"/>
              </a:spcAft>
            </a:pPr>
            <a:r>
              <a:rPr sz="1400" i="0">
                <a:solidFill>
                  <a:srgbClr val="0B0B0B"/>
                </a:solidFill>
                <a:latin typeface="Calibri"/>
              </a:rPr>
              <a:t>▪  Test C-index ± std across 5 (single-task) / 3 (joint) seeds — low variance, not a lucky draw</a:t>
            </a:r>
          </a:p>
          <a:p>
            <a:pPr>
              <a:spcAft>
                <a:spcPts val="800"/>
              </a:spcAft>
            </a:pPr>
            <a:r>
              <a:rPr sz="1400" i="0">
                <a:solidFill>
                  <a:srgbClr val="0B0B0B"/>
                </a:solidFill>
                <a:latin typeface="Calibri"/>
              </a:rPr>
              <a:t>▪  Concat fusion (0.7553 ± 0.0045) beats gated fusion (0.7304 ± 0.0082) despite gated being more parameter-rich — noted, not over-explained</a:t>
            </a:r>
          </a:p>
        </p:txBody>
      </p:sp>
      <p:sp>
        <p:nvSpPr>
          <p:cNvPr id="7" name="Rectangle 6"/>
          <p:cNvSpPr/>
          <p:nvPr/>
        </p:nvSpPr>
        <p:spPr>
          <a:xfrm>
            <a:off x="0" y="6819900"/>
            <a:ext cx="1219169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5486400" cy="274320"/>
          </a:xfrm>
          <a:prstGeom prst="rect">
            <a:avLst/>
          </a:prstGeom>
          <a:noFill/>
        </p:spPr>
        <p:txBody>
          <a:bodyPr wrap="square" anchor="t" lIns="0" rIns="0" tIns="0" bIns="0">
            <a:spAutoFit/>
          </a:bodyPr>
          <a:lstStyle/>
          <a:p>
            <a:r>
              <a:rPr sz="900" i="0">
                <a:solidFill>
                  <a:srgbClr val="898781"/>
                </a:solidFill>
                <a:latin typeface="Calibri"/>
              </a:rPr>
              <a:t>MemoryLifeBench  ·  Final Project Defense</a:t>
            </a:r>
          </a:p>
        </p:txBody>
      </p:sp>
      <p:sp>
        <p:nvSpPr>
          <p:cNvPr id="9" name="TextBox 8"/>
          <p:cNvSpPr txBox="1"/>
          <p:nvPr/>
        </p:nvSpPr>
        <p:spPr>
          <a:xfrm>
            <a:off x="11002975" y="6510528"/>
            <a:ext cx="731520" cy="274320"/>
          </a:xfrm>
          <a:prstGeom prst="rect">
            <a:avLst/>
          </a:prstGeom>
          <a:noFill/>
        </p:spPr>
        <p:txBody>
          <a:bodyPr wrap="square" anchor="t" lIns="0" rIns="0" tIns="0" bIns="0">
            <a:spAutoFit/>
          </a:bodyPr>
          <a:lstStyle/>
          <a:p>
            <a:pPr algn="r"/>
            <a:r>
              <a:rPr sz="900" i="0">
                <a:solidFill>
                  <a:srgbClr val="898781"/>
                </a:solidFill>
                <a:latin typeface="Calibri"/>
              </a:rPr>
              <a:t>14 / 36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92608"/>
            <a:ext cx="10515600" cy="274320"/>
          </a:xfrm>
          <a:prstGeom prst="rect">
            <a:avLst/>
          </a:prstGeom>
          <a:noFill/>
        </p:spPr>
        <p:txBody>
          <a:bodyPr wrap="square" anchor="t" lIns="0" rIns="0" tIns="0" bIns="0">
            <a:spAutoFit/>
          </a:bodyPr>
          <a:lstStyle/>
          <a:p>
            <a:r>
              <a:rPr sz="1200" i="0" b="1">
                <a:solidFill>
                  <a:srgbClr val="2A78D6"/>
                </a:solidFill>
                <a:latin typeface="Calibri"/>
              </a:rPr>
              <a:t>4 · EXPERIMENTS, PART 1</a:t>
            </a:r>
          </a:p>
        </p:txBody>
      </p:sp>
      <p:sp>
        <p:nvSpPr>
          <p:cNvPr id="3" name="TextBox 2"/>
          <p:cNvSpPr txBox="1"/>
          <p:nvPr/>
        </p:nvSpPr>
        <p:spPr>
          <a:xfrm>
            <a:off x="502920" y="566928"/>
            <a:ext cx="11155680" cy="685800"/>
          </a:xfrm>
          <a:prstGeom prst="rect">
            <a:avLst/>
          </a:prstGeom>
          <a:noFill/>
        </p:spPr>
        <p:txBody>
          <a:bodyPr wrap="square" anchor="t" lIns="0" rIns="0" tIns="0" bIns="0">
            <a:spAutoFit/>
          </a:bodyPr>
          <a:lstStyle/>
          <a:p>
            <a:r>
              <a:rPr sz="2800" i="0" b="1">
                <a:solidFill>
                  <a:srgbClr val="0B0B0B"/>
                </a:solidFill>
                <a:latin typeface="Calibri"/>
              </a:rPr>
              <a:t>The Action and Future-Utility heads</a:t>
            </a:r>
          </a:p>
        </p:txBody>
      </p:sp>
      <p:sp>
        <p:nvSpPr>
          <p:cNvPr id="4" name="Rectangle 3"/>
          <p:cNvSpPr/>
          <p:nvPr/>
        </p:nvSpPr>
        <p:spPr>
          <a:xfrm>
            <a:off x="502920" y="1207008"/>
            <a:ext cx="100584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600200"/>
          <a:ext cx="11155680" cy="2103120"/>
        </p:xfrm>
        <a:graphic>
          <a:graphicData uri="http://schemas.openxmlformats.org/drawingml/2006/table">
            <a:tbl>
              <a:tblPr firstRow="1" bandRow="1">
                <a:tableStyleId>{5C22544A-7EE6-4342-B048-85BDC9FD1C3A}</a:tableStyleId>
              </a:tblPr>
              <a:tblGrid>
                <a:gridCol w="2194560"/>
                <a:gridCol w="2011680"/>
                <a:gridCol w="6949440"/>
              </a:tblGrid>
              <a:tr h="701040">
                <a:tc>
                  <a:txBody>
                    <a:bodyPr/>
                    <a:lstStyle/>
                    <a:p>
                      <a:r>
                        <a:rPr sz="1350" i="0" b="1">
                          <a:solidFill>
                            <a:srgbClr val="FFFFFF"/>
                          </a:solidFill>
                          <a:latin typeface="Calibri"/>
                        </a:rPr>
                        <a:t>Head</a:t>
                      </a:r>
                    </a:p>
                  </a:txBody>
                  <a:tcPr anchor="ctr" marL="73152" marT="27432" marB="27432">
                    <a:solidFill>
                      <a:srgbClr val="2A78D6"/>
                    </a:solidFill>
                  </a:tcPr>
                </a:tc>
                <a:tc>
                  <a:txBody>
                    <a:bodyPr/>
                    <a:lstStyle/>
                    <a:p>
                      <a:r>
                        <a:rPr sz="1350" i="0" b="1">
                          <a:solidFill>
                            <a:srgbClr val="FFFFFF"/>
                          </a:solidFill>
                          <a:latin typeface="Calibri"/>
                        </a:rPr>
                        <a:t>Aggregate</a:t>
                      </a:r>
                    </a:p>
                  </a:txBody>
                  <a:tcPr anchor="ctr" marL="73152" marT="27432" marB="27432">
                    <a:solidFill>
                      <a:srgbClr val="2A78D6"/>
                    </a:solidFill>
                  </a:tcPr>
                </a:tc>
                <a:tc>
                  <a:txBody>
                    <a:bodyPr/>
                    <a:lstStyle/>
                    <a:p>
                      <a:r>
                        <a:rPr sz="1350" i="0" b="1">
                          <a:solidFill>
                            <a:srgbClr val="FFFFFF"/>
                          </a:solidFill>
                          <a:latin typeface="Calibri"/>
                        </a:rPr>
                        <a:t>Detail</a:t>
                      </a:r>
                    </a:p>
                  </a:txBody>
                  <a:tcPr anchor="ctr" marL="73152" marT="27432" marB="27432">
                    <a:solidFill>
                      <a:srgbClr val="2A78D6"/>
                    </a:solidFill>
                  </a:tcPr>
                </a:tc>
              </a:tr>
              <a:tr h="701040">
                <a:tc>
                  <a:txBody>
                    <a:bodyPr/>
                    <a:lstStyle/>
                    <a:p>
                      <a:r>
                        <a:rPr sz="1350" i="0">
                          <a:solidFill>
                            <a:srgbClr val="0B0B0B"/>
                          </a:solidFill>
                          <a:latin typeface="Calibri"/>
                        </a:rPr>
                        <a:t>Action (4-way)</a:t>
                      </a:r>
                    </a:p>
                  </a:txBody>
                  <a:tcPr anchor="ctr" marL="73152" marT="18288" marB="18288">
                    <a:solidFill>
                      <a:srgbClr val="FFFFFF"/>
                    </a:solidFill>
                  </a:tcPr>
                </a:tc>
                <a:tc>
                  <a:txBody>
                    <a:bodyPr/>
                    <a:lstStyle/>
                    <a:p>
                      <a:r>
                        <a:rPr sz="1350" i="0">
                          <a:solidFill>
                            <a:srgbClr val="0B0B0B"/>
                          </a:solidFill>
                          <a:latin typeface="Calibri"/>
                        </a:rPr>
                        <a:t>86.4% accuracy</a:t>
                      </a:r>
                    </a:p>
                  </a:txBody>
                  <a:tcPr anchor="ctr" marL="73152" marT="18288" marB="18288">
                    <a:solidFill>
                      <a:srgbClr val="FFFFFF"/>
                    </a:solidFill>
                  </a:tcPr>
                </a:tc>
                <a:tc>
                  <a:txBody>
                    <a:bodyPr/>
                    <a:lstStyle/>
                    <a:p>
                      <a:r>
                        <a:rPr sz="1350" i="0">
                          <a:solidFill>
                            <a:srgbClr val="0B0B0B"/>
                          </a:solidFill>
                          <a:latin typeface="Calibri"/>
                        </a:rPr>
                        <a:t>Minority classes (update/merge/forget): precision 0.41–0.69, recall = 1.000 on all three across all 6 checkpoints</a:t>
                      </a:r>
                    </a:p>
                  </a:txBody>
                  <a:tcPr anchor="ctr" marL="73152" marT="18288" marB="18288">
                    <a:solidFill>
                      <a:srgbClr val="FFFFFF"/>
                    </a:solidFill>
                  </a:tcPr>
                </a:tc>
              </a:tr>
              <a:tr h="701040">
                <a:tc>
                  <a:txBody>
                    <a:bodyPr/>
                    <a:lstStyle/>
                    <a:p>
                      <a:r>
                        <a:rPr sz="1350" i="0">
                          <a:solidFill>
                            <a:srgbClr val="0B0B0B"/>
                          </a:solidFill>
                          <a:latin typeface="Calibri"/>
                        </a:rPr>
                        <a:t>Future-Utility (binary)</a:t>
                      </a:r>
                    </a:p>
                  </a:txBody>
                  <a:tcPr anchor="ctr" marL="73152" marT="18288" marB="18288">
                    <a:solidFill>
                      <a:srgbClr val="FCFCFB"/>
                    </a:solidFill>
                  </a:tcPr>
                </a:tc>
                <a:tc>
                  <a:txBody>
                    <a:bodyPr/>
                    <a:lstStyle/>
                    <a:p>
                      <a:r>
                        <a:rPr sz="1350" i="0">
                          <a:solidFill>
                            <a:srgbClr val="0B0B0B"/>
                          </a:solidFill>
                          <a:latin typeface="Calibri"/>
                        </a:rPr>
                        <a:t>AUC 0.71–0.77</a:t>
                      </a:r>
                    </a:p>
                  </a:txBody>
                  <a:tcPr anchor="ctr" marL="73152" marT="18288" marB="18288">
                    <a:solidFill>
                      <a:srgbClr val="FCFCFB"/>
                    </a:solidFill>
                  </a:tcPr>
                </a:tc>
                <a:tc>
                  <a:txBody>
                    <a:bodyPr/>
                    <a:lstStyle/>
                    <a:p>
                      <a:r>
                        <a:rPr sz="1350" i="0">
                          <a:solidFill>
                            <a:srgbClr val="0B0B0B"/>
                          </a:solidFill>
                          <a:latin typeface="Calibri"/>
                        </a:rPr>
                        <a:t>Genuinely predictive, well above the 0.5 random baseline; noisier than the other two heads</a:t>
                      </a:r>
                    </a:p>
                  </a:txBody>
                  <a:tcPr anchor="ctr" marL="73152" marT="18288" marB="18288">
                    <a:solidFill>
                      <a:srgbClr val="FCFCFB"/>
                    </a:solidFill>
                  </a:tcPr>
                </a:tc>
              </a:tr>
            </a:tbl>
          </a:graphicData>
        </a:graphic>
      </p:graphicFrame>
      <p:sp>
        <p:nvSpPr>
          <p:cNvPr id="6" name="TextBox 5"/>
          <p:cNvSpPr txBox="1"/>
          <p:nvPr/>
        </p:nvSpPr>
        <p:spPr>
          <a:xfrm>
            <a:off x="502920" y="4023360"/>
            <a:ext cx="11155680" cy="2011680"/>
          </a:xfrm>
          <a:prstGeom prst="rect">
            <a:avLst/>
          </a:prstGeom>
          <a:noFill/>
        </p:spPr>
        <p:txBody>
          <a:bodyPr wrap="square" anchor="t" lIns="0" rIns="0" tIns="0" bIns="0">
            <a:spAutoFit/>
          </a:bodyPr>
          <a:lstStyle/>
          <a:p>
            <a:r>
              <a:rPr sz="1550" i="0">
                <a:solidFill>
                  <a:srgbClr val="0B0B0B"/>
                </a:solidFill>
                <a:latin typeface="Calibri"/>
              </a:rPr>
              <a:t>Inverse-frequency class weighting means the Action head </a:t>
            </a:r>
            <a:r>
              <a:rPr b="1" sz="1550" i="0">
                <a:solidFill>
                  <a:srgbClr val="0B0B0B"/>
                </a:solidFill>
                <a:latin typeface="Calibri"/>
              </a:rPr>
              <a:t>never misses</a:t>
            </a:r>
            <a:r>
              <a:rPr sz="1550" i="0">
                <a:solidFill>
                  <a:srgbClr val="0B0B0B"/>
                </a:solidFill>
                <a:latin typeface="Calibri"/>
              </a:rPr>
              <a:t> a true forget/update/merge case, at the cost of over-flagging some “store” records — a defensible operating point (a missed forget is worse than an extra review flag).</a:t>
            </a:r>
          </a:p>
          <a:p>
            <a:pPr>
              <a:spcBef>
                <a:spcPts val="1000"/>
              </a:spcBef>
            </a:pPr>
            <a:r>
              <a:rPr sz="1550" i="0" b="1">
                <a:solidFill>
                  <a:srgbClr val="2A78D6"/>
                </a:solidFill>
                <a:latin typeface="Calibri"/>
              </a:rPr>
              <a:t>This precision gap on the forget class becomes directly relevant to the downstream failure diagnosed next.</a:t>
            </a:r>
          </a:p>
        </p:txBody>
      </p:sp>
      <p:sp>
        <p:nvSpPr>
          <p:cNvPr id="7" name="Rectangle 6"/>
          <p:cNvSpPr/>
          <p:nvPr/>
        </p:nvSpPr>
        <p:spPr>
          <a:xfrm>
            <a:off x="0" y="6819900"/>
            <a:ext cx="1219169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5486400" cy="274320"/>
          </a:xfrm>
          <a:prstGeom prst="rect">
            <a:avLst/>
          </a:prstGeom>
          <a:noFill/>
        </p:spPr>
        <p:txBody>
          <a:bodyPr wrap="square" anchor="t" lIns="0" rIns="0" tIns="0" bIns="0">
            <a:spAutoFit/>
          </a:bodyPr>
          <a:lstStyle/>
          <a:p>
            <a:r>
              <a:rPr sz="900" i="0">
                <a:solidFill>
                  <a:srgbClr val="898781"/>
                </a:solidFill>
                <a:latin typeface="Calibri"/>
              </a:rPr>
              <a:t>MemoryLifeBench  ·  Final Project Defense</a:t>
            </a:r>
          </a:p>
        </p:txBody>
      </p:sp>
      <p:sp>
        <p:nvSpPr>
          <p:cNvPr id="9" name="TextBox 8"/>
          <p:cNvSpPr txBox="1"/>
          <p:nvPr/>
        </p:nvSpPr>
        <p:spPr>
          <a:xfrm>
            <a:off x="11002975" y="6510528"/>
            <a:ext cx="731520" cy="274320"/>
          </a:xfrm>
          <a:prstGeom prst="rect">
            <a:avLst/>
          </a:prstGeom>
          <a:noFill/>
        </p:spPr>
        <p:txBody>
          <a:bodyPr wrap="square" anchor="t" lIns="0" rIns="0" tIns="0" bIns="0">
            <a:spAutoFit/>
          </a:bodyPr>
          <a:lstStyle/>
          <a:p>
            <a:pPr algn="r"/>
            <a:r>
              <a:rPr sz="900" i="0">
                <a:solidFill>
                  <a:srgbClr val="898781"/>
                </a:solidFill>
                <a:latin typeface="Calibri"/>
              </a:rPr>
              <a:t>15 / 36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A78D6"/>
        </a:solidFill>
        <a:effectLst/>
      </p:bgPr>
    </p:bg>
    <p:spTree>
      <p:nvGrpSpPr>
        <p:cNvPr id="1" name=""/>
        <p:cNvGrpSpPr/>
        <p:nvPr/>
      </p:nvGrpSpPr>
      <p:grpSpPr/>
      <p:sp>
        <p:nvSpPr>
          <p:cNvPr id="2" name="TextBox 1"/>
          <p:cNvSpPr txBox="1"/>
          <p:nvPr/>
        </p:nvSpPr>
        <p:spPr>
          <a:xfrm>
            <a:off x="914400" y="2468880"/>
            <a:ext cx="10332720" cy="1828800"/>
          </a:xfrm>
          <a:prstGeom prst="rect">
            <a:avLst/>
          </a:prstGeom>
          <a:noFill/>
        </p:spPr>
        <p:txBody>
          <a:bodyPr wrap="square" anchor="ctr" lIns="0" rIns="0" tIns="0" bIns="0">
            <a:spAutoFit/>
          </a:bodyPr>
          <a:lstStyle/>
          <a:p>
            <a:r>
              <a:rPr sz="3400" i="0" b="1">
                <a:solidFill>
                  <a:srgbClr val="FFFFFF"/>
                </a:solidFill>
                <a:latin typeface="Calibri"/>
              </a:rPr>
              <a:t>Good ranking. But does that make a good policy?</a:t>
            </a:r>
          </a:p>
          <a:p>
            <a:pPr>
              <a:spcBef>
                <a:spcPts val="2000"/>
              </a:spcBef>
            </a:pPr>
            <a:r>
              <a:rPr sz="1700" i="0">
                <a:solidFill>
                  <a:srgbClr val="E3EEFB"/>
                </a:solidFill>
                <a:latin typeface="Calibri"/>
              </a:rPr>
              <a:t>A high C-index proves the model ranks memories well. It does not prove that the resulting deployed policy — what actually gets kept or deleted — preserves downstream answer quality.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92608"/>
            <a:ext cx="10515600" cy="274320"/>
          </a:xfrm>
          <a:prstGeom prst="rect">
            <a:avLst/>
          </a:prstGeom>
          <a:noFill/>
        </p:spPr>
        <p:txBody>
          <a:bodyPr wrap="square" anchor="t" lIns="0" rIns="0" tIns="0" bIns="0">
            <a:spAutoFit/>
          </a:bodyPr>
          <a:lstStyle/>
          <a:p>
            <a:r>
              <a:rPr sz="1200" i="0" b="1">
                <a:solidFill>
                  <a:srgbClr val="2A78D6"/>
                </a:solidFill>
                <a:latin typeface="Calibri"/>
              </a:rPr>
              <a:t>5 · EXPERIMENTS, PART 2</a:t>
            </a:r>
          </a:p>
        </p:txBody>
      </p:sp>
      <p:sp>
        <p:nvSpPr>
          <p:cNvPr id="3" name="TextBox 2"/>
          <p:cNvSpPr txBox="1"/>
          <p:nvPr/>
        </p:nvSpPr>
        <p:spPr>
          <a:xfrm>
            <a:off x="502920" y="566928"/>
            <a:ext cx="11155680" cy="685800"/>
          </a:xfrm>
          <a:prstGeom prst="rect">
            <a:avLst/>
          </a:prstGeom>
          <a:noFill/>
        </p:spPr>
        <p:txBody>
          <a:bodyPr wrap="square" anchor="t" lIns="0" rIns="0" tIns="0" bIns="0">
            <a:spAutoFit/>
          </a:bodyPr>
          <a:lstStyle/>
          <a:p>
            <a:r>
              <a:rPr sz="2800" i="0" b="1">
                <a:solidFill>
                  <a:srgbClr val="0B0B0B"/>
                </a:solidFill>
                <a:latin typeface="Calibri"/>
              </a:rPr>
              <a:t>Setup: the matched-budget downstream test</a:t>
            </a:r>
          </a:p>
        </p:txBody>
      </p:sp>
      <p:sp>
        <p:nvSpPr>
          <p:cNvPr id="4" name="Rectangle 3"/>
          <p:cNvSpPr/>
          <p:nvPr/>
        </p:nvSpPr>
        <p:spPr>
          <a:xfrm>
            <a:off x="502920" y="1207008"/>
            <a:ext cx="100584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54480"/>
            <a:ext cx="10607040" cy="4572000"/>
          </a:xfrm>
          <a:prstGeom prst="rect">
            <a:avLst/>
          </a:prstGeom>
          <a:noFill/>
        </p:spPr>
        <p:txBody>
          <a:bodyPr wrap="square" anchor="t" lIns="0" rIns="0" tIns="0" bIns="0">
            <a:spAutoFit/>
          </a:bodyPr>
          <a:lstStyle/>
          <a:p>
            <a:pPr>
              <a:spcAft>
                <a:spcPts val="1200"/>
              </a:spcAft>
            </a:pPr>
            <a:r>
              <a:rPr sz="1700" i="0">
                <a:solidFill>
                  <a:srgbClr val="0B0B0B"/>
                </a:solidFill>
                <a:latin typeface="Calibri"/>
              </a:rPr>
              <a:t>▪  Four policies compared at the </a:t>
            </a:r>
            <a:r>
              <a:rPr b="1" sz="1700" i="0">
                <a:solidFill>
                  <a:srgbClr val="0B0B0B"/>
                </a:solidFill>
                <a:latin typeface="Calibri"/>
              </a:rPr>
              <a:t>same final storage budget per conversation</a:t>
            </a:r>
            <a:r>
              <a:rPr sz="1700" i="0">
                <a:solidFill>
                  <a:srgbClr val="0B0B0B"/>
                </a:solidFill>
                <a:latin typeface="Calibri"/>
              </a:rPr>
              <a:t>:</a:t>
            </a:r>
          </a:p>
          <a:p>
            <a:pPr lvl="1">
              <a:spcAft>
                <a:spcPts val="1200"/>
              </a:spcAft>
            </a:pPr>
            <a:r>
              <a:rPr sz="1600" i="0">
                <a:solidFill>
                  <a:srgbClr val="0B0B0B"/>
                </a:solidFill>
                <a:latin typeface="Calibri"/>
              </a:rPr>
              <a:t>–  `no_forget` — retain everything (a ceiling reference)</a:t>
            </a:r>
          </a:p>
          <a:p>
            <a:pPr lvl="1">
              <a:spcAft>
                <a:spcPts val="1200"/>
              </a:spcAft>
            </a:pPr>
            <a:r>
              <a:rPr sz="1600" i="0">
                <a:solidFill>
                  <a:srgbClr val="0B0B0B"/>
                </a:solidFill>
                <a:latin typeface="Calibri"/>
              </a:rPr>
              <a:t>–  `fifo` — keep the N most-recently-created memories</a:t>
            </a:r>
          </a:p>
          <a:p>
            <a:pPr lvl="1">
              <a:spcAft>
                <a:spcPts val="1200"/>
              </a:spcAft>
            </a:pPr>
            <a:r>
              <a:rPr sz="1600" i="0">
                <a:solidFill>
                  <a:srgbClr val="0B0B0B"/>
                </a:solidFill>
                <a:latin typeface="Calibri"/>
              </a:rPr>
              <a:t>–  `lru` — keep the N most-recently-referenced memories</a:t>
            </a:r>
          </a:p>
          <a:p>
            <a:pPr lvl="1">
              <a:spcAft>
                <a:spcPts val="1200"/>
              </a:spcAft>
            </a:pPr>
            <a:r>
              <a:rPr sz="1600" i="0">
                <a:solidFill>
                  <a:srgbClr val="0B0B0B"/>
                </a:solidFill>
                <a:latin typeface="Calibri"/>
              </a:rPr>
              <a:t>–  `ours` — our original policy: Lifetime-head TTL expiry + Action-head “forget”</a:t>
            </a:r>
          </a:p>
          <a:p>
            <a:pPr>
              <a:spcAft>
                <a:spcPts val="1200"/>
              </a:spcAft>
            </a:pPr>
            <a:r>
              <a:rPr sz="1700" i="0">
                <a:solidFill>
                  <a:srgbClr val="0B0B0B"/>
                </a:solidFill>
                <a:latin typeface="Calibri"/>
              </a:rPr>
              <a:t>▪  fifo/lru's capacity N is set to `ours`'s own natural budget — apples-to-apples, not an arbitrary cap</a:t>
            </a:r>
          </a:p>
          <a:p>
            <a:pPr>
              <a:spcAft>
                <a:spcPts val="1200"/>
              </a:spcAft>
            </a:pPr>
            <a:r>
              <a:rPr sz="1700" i="0">
                <a:solidFill>
                  <a:srgbClr val="0B0B0B"/>
                </a:solidFill>
                <a:latin typeface="Calibri"/>
              </a:rPr>
              <a:t>▪  Real LoCoMo + LongMemEval questions, answered by GPT-4o over the retrieved store, scored by exact match (EM) and token-F1</a:t>
            </a:r>
          </a:p>
        </p:txBody>
      </p:sp>
      <p:sp>
        <p:nvSpPr>
          <p:cNvPr id="6" name="Rectangle 5"/>
          <p:cNvSpPr/>
          <p:nvPr/>
        </p:nvSpPr>
        <p:spPr>
          <a:xfrm>
            <a:off x="0" y="6819900"/>
            <a:ext cx="1219169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486400" cy="274320"/>
          </a:xfrm>
          <a:prstGeom prst="rect">
            <a:avLst/>
          </a:prstGeom>
          <a:noFill/>
        </p:spPr>
        <p:txBody>
          <a:bodyPr wrap="square" anchor="t" lIns="0" rIns="0" tIns="0" bIns="0">
            <a:spAutoFit/>
          </a:bodyPr>
          <a:lstStyle/>
          <a:p>
            <a:r>
              <a:rPr sz="900" i="0">
                <a:solidFill>
                  <a:srgbClr val="898781"/>
                </a:solidFill>
                <a:latin typeface="Calibri"/>
              </a:rPr>
              <a:t>MemoryLifeBench  ·  Final Project Defense</a:t>
            </a:r>
          </a:p>
        </p:txBody>
      </p:sp>
      <p:sp>
        <p:nvSpPr>
          <p:cNvPr id="8" name="TextBox 7"/>
          <p:cNvSpPr txBox="1"/>
          <p:nvPr/>
        </p:nvSpPr>
        <p:spPr>
          <a:xfrm>
            <a:off x="11002975" y="6510528"/>
            <a:ext cx="731520" cy="274320"/>
          </a:xfrm>
          <a:prstGeom prst="rect">
            <a:avLst/>
          </a:prstGeom>
          <a:noFill/>
        </p:spPr>
        <p:txBody>
          <a:bodyPr wrap="square" anchor="t" lIns="0" rIns="0" tIns="0" bIns="0">
            <a:spAutoFit/>
          </a:bodyPr>
          <a:lstStyle/>
          <a:p>
            <a:pPr algn="r"/>
            <a:r>
              <a:rPr sz="900" i="0">
                <a:solidFill>
                  <a:srgbClr val="898781"/>
                </a:solidFill>
                <a:latin typeface="Calibri"/>
              </a:rPr>
              <a:t>17 / 36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92608"/>
            <a:ext cx="10515600" cy="274320"/>
          </a:xfrm>
          <a:prstGeom prst="rect">
            <a:avLst/>
          </a:prstGeom>
          <a:noFill/>
        </p:spPr>
        <p:txBody>
          <a:bodyPr wrap="square" anchor="t" lIns="0" rIns="0" tIns="0" bIns="0">
            <a:spAutoFit/>
          </a:bodyPr>
          <a:lstStyle/>
          <a:p>
            <a:r>
              <a:rPr sz="1200" i="0" b="1">
                <a:solidFill>
                  <a:srgbClr val="2A78D6"/>
                </a:solidFill>
                <a:latin typeface="Calibri"/>
              </a:rPr>
              <a:t>5 · EXPERIMENTS, PART 2</a:t>
            </a:r>
          </a:p>
        </p:txBody>
      </p:sp>
      <p:sp>
        <p:nvSpPr>
          <p:cNvPr id="3" name="TextBox 2"/>
          <p:cNvSpPr txBox="1"/>
          <p:nvPr/>
        </p:nvSpPr>
        <p:spPr>
          <a:xfrm>
            <a:off x="502920" y="566928"/>
            <a:ext cx="11155680" cy="685800"/>
          </a:xfrm>
          <a:prstGeom prst="rect">
            <a:avLst/>
          </a:prstGeom>
          <a:noFill/>
        </p:spPr>
        <p:txBody>
          <a:bodyPr wrap="square" anchor="t" lIns="0" rIns="0" tIns="0" bIns="0">
            <a:spAutoFit/>
          </a:bodyPr>
          <a:lstStyle/>
          <a:p>
            <a:r>
              <a:rPr sz="2800" i="0" b="1">
                <a:solidFill>
                  <a:srgbClr val="0B0B0B"/>
                </a:solidFill>
                <a:latin typeface="Calibri"/>
              </a:rPr>
              <a:t>The surprise: our policy was the worst</a:t>
            </a:r>
          </a:p>
        </p:txBody>
      </p:sp>
      <p:sp>
        <p:nvSpPr>
          <p:cNvPr id="4" name="Rectangle 3"/>
          <p:cNvSpPr/>
          <p:nvPr/>
        </p:nvSpPr>
        <p:spPr>
          <a:xfrm>
            <a:off x="502920" y="1207008"/>
            <a:ext cx="100584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914400" y="1600200"/>
          <a:ext cx="10332720" cy="3657600"/>
        </p:xfrm>
        <a:graphic>
          <a:graphicData uri="http://schemas.openxmlformats.org/drawingml/2006/chart">
            <c:chart xmlns:c="http://schemas.openxmlformats.org/drawingml/2006/chart" r:id="rId2"/>
          </a:graphicData>
        </a:graphic>
      </p:graphicFrame>
      <p:sp>
        <p:nvSpPr>
          <p:cNvPr id="6" name="TextBox 5"/>
          <p:cNvSpPr txBox="1"/>
          <p:nvPr/>
        </p:nvSpPr>
        <p:spPr>
          <a:xfrm>
            <a:off x="914400" y="5532120"/>
            <a:ext cx="10332720" cy="731520"/>
          </a:xfrm>
          <a:prstGeom prst="rect">
            <a:avLst/>
          </a:prstGeom>
          <a:noFill/>
        </p:spPr>
        <p:txBody>
          <a:bodyPr wrap="square" anchor="t" lIns="0" rIns="0" tIns="0" bIns="0">
            <a:spAutoFit/>
          </a:bodyPr>
          <a:lstStyle/>
          <a:p>
            <a:r>
              <a:rPr sz="1500" i="0" b="1">
                <a:solidFill>
                  <a:srgbClr val="D03B3B"/>
                </a:solidFill>
                <a:latin typeface="Calibri"/>
              </a:rPr>
              <a:t>LoCoMo, N=1,542. </a:t>
            </a:r>
            <a:r>
              <a:rPr b="1" sz="1500" i="0">
                <a:solidFill>
                  <a:srgbClr val="D03B3B"/>
                </a:solidFill>
                <a:latin typeface="Calibri"/>
              </a:rPr>
              <a:t>`ours` — built on the model that just won every ranking comparison — was the worst policy tested</a:t>
            </a:r>
            <a:r>
              <a:rPr sz="1500" i="0">
                <a:solidFill>
                  <a:srgbClr val="D03B3B"/>
                </a:solidFill>
                <a:latin typeface="Calibri"/>
              </a:rPr>
              <a:t>, below both naive baselines and well below the no-forgetting ceiling.</a:t>
            </a:r>
          </a:p>
        </p:txBody>
      </p:sp>
      <p:sp>
        <p:nvSpPr>
          <p:cNvPr id="7" name="Rectangle 6"/>
          <p:cNvSpPr/>
          <p:nvPr/>
        </p:nvSpPr>
        <p:spPr>
          <a:xfrm>
            <a:off x="0" y="6819900"/>
            <a:ext cx="1219169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5486400" cy="274320"/>
          </a:xfrm>
          <a:prstGeom prst="rect">
            <a:avLst/>
          </a:prstGeom>
          <a:noFill/>
        </p:spPr>
        <p:txBody>
          <a:bodyPr wrap="square" anchor="t" lIns="0" rIns="0" tIns="0" bIns="0">
            <a:spAutoFit/>
          </a:bodyPr>
          <a:lstStyle/>
          <a:p>
            <a:r>
              <a:rPr sz="900" i="0">
                <a:solidFill>
                  <a:srgbClr val="898781"/>
                </a:solidFill>
                <a:latin typeface="Calibri"/>
              </a:rPr>
              <a:t>MemoryLifeBench  ·  Final Project Defense</a:t>
            </a:r>
          </a:p>
        </p:txBody>
      </p:sp>
      <p:sp>
        <p:nvSpPr>
          <p:cNvPr id="9" name="TextBox 8"/>
          <p:cNvSpPr txBox="1"/>
          <p:nvPr/>
        </p:nvSpPr>
        <p:spPr>
          <a:xfrm>
            <a:off x="11002975" y="6510528"/>
            <a:ext cx="731520" cy="274320"/>
          </a:xfrm>
          <a:prstGeom prst="rect">
            <a:avLst/>
          </a:prstGeom>
          <a:noFill/>
        </p:spPr>
        <p:txBody>
          <a:bodyPr wrap="square" anchor="t" lIns="0" rIns="0" tIns="0" bIns="0">
            <a:spAutoFit/>
          </a:bodyPr>
          <a:lstStyle/>
          <a:p>
            <a:pPr algn="r"/>
            <a:r>
              <a:rPr sz="900" i="0">
                <a:solidFill>
                  <a:srgbClr val="898781"/>
                </a:solidFill>
                <a:latin typeface="Calibri"/>
              </a:rPr>
              <a:t>18 / 36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92608"/>
            <a:ext cx="10515600" cy="274320"/>
          </a:xfrm>
          <a:prstGeom prst="rect">
            <a:avLst/>
          </a:prstGeom>
          <a:noFill/>
        </p:spPr>
        <p:txBody>
          <a:bodyPr wrap="square" anchor="t" lIns="0" rIns="0" tIns="0" bIns="0">
            <a:spAutoFit/>
          </a:bodyPr>
          <a:lstStyle/>
          <a:p>
            <a:r>
              <a:rPr sz="1200" i="0" b="1">
                <a:solidFill>
                  <a:srgbClr val="2A78D6"/>
                </a:solidFill>
                <a:latin typeface="Calibri"/>
              </a:rPr>
              <a:t>5 · EXPERIMENTS, PART 2</a:t>
            </a:r>
          </a:p>
        </p:txBody>
      </p:sp>
      <p:sp>
        <p:nvSpPr>
          <p:cNvPr id="3" name="TextBox 2"/>
          <p:cNvSpPr txBox="1"/>
          <p:nvPr/>
        </p:nvSpPr>
        <p:spPr>
          <a:xfrm>
            <a:off x="502920" y="566928"/>
            <a:ext cx="11155680" cy="685800"/>
          </a:xfrm>
          <a:prstGeom prst="rect">
            <a:avLst/>
          </a:prstGeom>
          <a:noFill/>
        </p:spPr>
        <p:txBody>
          <a:bodyPr wrap="square" anchor="t" lIns="0" rIns="0" tIns="0" bIns="0">
            <a:spAutoFit/>
          </a:bodyPr>
          <a:lstStyle/>
          <a:p>
            <a:r>
              <a:rPr sz="2800" i="0" b="1">
                <a:solidFill>
                  <a:srgbClr val="0B0B0B"/>
                </a:solidFill>
                <a:latin typeface="Calibri"/>
              </a:rPr>
              <a:t>Root-cause diagnosis</a:t>
            </a:r>
          </a:p>
        </p:txBody>
      </p:sp>
      <p:sp>
        <p:nvSpPr>
          <p:cNvPr id="4" name="Rectangle 3"/>
          <p:cNvSpPr/>
          <p:nvPr/>
        </p:nvSpPr>
        <p:spPr>
          <a:xfrm>
            <a:off x="502920" y="1207008"/>
            <a:ext cx="100584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48640" y="1554480"/>
          <a:ext cx="5120640" cy="3291840"/>
        </p:xfrm>
        <a:graphic>
          <a:graphicData uri="http://schemas.openxmlformats.org/drawingml/2006/chart">
            <c:chart xmlns:c="http://schemas.openxmlformats.org/drawingml/2006/chart" r:id="rId2"/>
          </a:graphicData>
        </a:graphic>
      </p:graphicFrame>
      <p:sp>
        <p:nvSpPr>
          <p:cNvPr id="6" name="TextBox 5"/>
          <p:cNvSpPr txBox="1"/>
          <p:nvPr/>
        </p:nvSpPr>
        <p:spPr>
          <a:xfrm>
            <a:off x="548640" y="4892040"/>
            <a:ext cx="5120640" cy="274320"/>
          </a:xfrm>
          <a:prstGeom prst="rect">
            <a:avLst/>
          </a:prstGeom>
          <a:noFill/>
        </p:spPr>
        <p:txBody>
          <a:bodyPr wrap="square" anchor="t" lIns="0" rIns="0" tIns="0" bIns="0">
            <a:spAutoFit/>
          </a:bodyPr>
          <a:lstStyle/>
          <a:p>
            <a:r>
              <a:rPr sz="1050" i="1">
                <a:solidFill>
                  <a:srgbClr val="898781"/>
                </a:solidFill>
                <a:latin typeface="Calibri"/>
              </a:rPr>
              <a:t>Evidence retention rate — LoCoMo, N=1,304 covered QA pairs</a:t>
            </a:r>
          </a:p>
        </p:txBody>
      </p:sp>
      <p:sp>
        <p:nvSpPr>
          <p:cNvPr id="7" name="TextBox 6"/>
          <p:cNvSpPr txBox="1"/>
          <p:nvPr/>
        </p:nvSpPr>
        <p:spPr>
          <a:xfrm>
            <a:off x="6126480" y="1554480"/>
            <a:ext cx="5394960" cy="4114800"/>
          </a:xfrm>
          <a:prstGeom prst="rect">
            <a:avLst/>
          </a:prstGeom>
          <a:noFill/>
        </p:spPr>
        <p:txBody>
          <a:bodyPr wrap="square" anchor="t" lIns="0" rIns="0" tIns="0" bIns="0">
            <a:spAutoFit/>
          </a:bodyPr>
          <a:lstStyle/>
          <a:p>
            <a:r>
              <a:rPr b="1" sz="1600" i="0">
                <a:solidFill>
                  <a:srgbClr val="0B0B0B"/>
                </a:solidFill>
                <a:latin typeface="Calibri"/>
              </a:rPr>
              <a:t>Cause 1 — miscalibrated threshold</a:t>
            </a:r>
          </a:p>
          <a:p>
            <a:pPr>
              <a:spcBef>
                <a:spcPts val="400"/>
              </a:spcBef>
            </a:pPr>
            <a:r>
              <a:rPr sz="1450" i="0">
                <a:solidFill>
                  <a:srgbClr val="52514E"/>
                </a:solidFill>
                <a:latin typeface="Calibri"/>
              </a:rPr>
              <a:t>TTL cutoff = survival curve's median = a coin flip by construction. Mean shortfall: 114.4 predicted days vs. 164.1 actually needed.</a:t>
            </a:r>
          </a:p>
          <a:p>
            <a:pPr>
              <a:spcBef>
                <a:spcPts val="2000"/>
              </a:spcBef>
            </a:pPr>
            <a:r>
              <a:rPr sz="1600" i="0" b="1">
                <a:solidFill>
                  <a:srgbClr val="0B0B0B"/>
                </a:solidFill>
                <a:latin typeface="Calibri"/>
              </a:rPr>
              <a:t>Cause 2 — wrong decision structure</a:t>
            </a:r>
          </a:p>
          <a:p>
            <a:pPr>
              <a:spcBef>
                <a:spcPts val="400"/>
              </a:spcBef>
            </a:pPr>
            <a:r>
              <a:rPr sz="1450" i="0">
                <a:solidFill>
                  <a:srgbClr val="52514E"/>
                </a:solidFill>
                <a:latin typeface="Calibri"/>
              </a:rPr>
              <a:t>100% of losses came from TTL expiry, 0% from the Action head. An independent per-memory threshold, not a ranked top-N like fifo/lru use.</a:t>
            </a:r>
          </a:p>
        </p:txBody>
      </p:sp>
      <p:sp>
        <p:nvSpPr>
          <p:cNvPr id="8" name="Rectangle 7"/>
          <p:cNvSpPr/>
          <p:nvPr/>
        </p:nvSpPr>
        <p:spPr>
          <a:xfrm>
            <a:off x="0" y="6819900"/>
            <a:ext cx="1219169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10528"/>
            <a:ext cx="5486400" cy="274320"/>
          </a:xfrm>
          <a:prstGeom prst="rect">
            <a:avLst/>
          </a:prstGeom>
          <a:noFill/>
        </p:spPr>
        <p:txBody>
          <a:bodyPr wrap="square" anchor="t" lIns="0" rIns="0" tIns="0" bIns="0">
            <a:spAutoFit/>
          </a:bodyPr>
          <a:lstStyle/>
          <a:p>
            <a:r>
              <a:rPr sz="900" i="0">
                <a:solidFill>
                  <a:srgbClr val="898781"/>
                </a:solidFill>
                <a:latin typeface="Calibri"/>
              </a:rPr>
              <a:t>MemoryLifeBench  ·  Final Project Defense</a:t>
            </a:r>
          </a:p>
        </p:txBody>
      </p:sp>
      <p:sp>
        <p:nvSpPr>
          <p:cNvPr id="10" name="TextBox 9"/>
          <p:cNvSpPr txBox="1"/>
          <p:nvPr/>
        </p:nvSpPr>
        <p:spPr>
          <a:xfrm>
            <a:off x="11002975" y="6510528"/>
            <a:ext cx="731520" cy="274320"/>
          </a:xfrm>
          <a:prstGeom prst="rect">
            <a:avLst/>
          </a:prstGeom>
          <a:noFill/>
        </p:spPr>
        <p:txBody>
          <a:bodyPr wrap="square" anchor="t" lIns="0" rIns="0" tIns="0" bIns="0">
            <a:spAutoFit/>
          </a:bodyPr>
          <a:lstStyle/>
          <a:p>
            <a:pPr algn="r"/>
            <a:r>
              <a:rPr sz="900" i="0">
                <a:solidFill>
                  <a:srgbClr val="898781"/>
                </a:solidFill>
                <a:latin typeface="Calibri"/>
              </a:rPr>
              <a:t>19 / 36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92608"/>
            <a:ext cx="10515600" cy="274320"/>
          </a:xfrm>
          <a:prstGeom prst="rect">
            <a:avLst/>
          </a:prstGeom>
          <a:noFill/>
        </p:spPr>
        <p:txBody>
          <a:bodyPr wrap="square" anchor="t" lIns="0" rIns="0" tIns="0" bIns="0">
            <a:spAutoFit/>
          </a:bodyPr>
          <a:lstStyle/>
          <a:p>
            <a:r>
              <a:rPr sz="1200" i="0" b="1">
                <a:solidFill>
                  <a:srgbClr val="2A78D6"/>
                </a:solidFill>
                <a:latin typeface="Calibri"/>
              </a:rPr>
              <a:t>5 · EXPERIMENTS, PART 2</a:t>
            </a:r>
          </a:p>
        </p:txBody>
      </p:sp>
      <p:sp>
        <p:nvSpPr>
          <p:cNvPr id="3" name="TextBox 2"/>
          <p:cNvSpPr txBox="1"/>
          <p:nvPr/>
        </p:nvSpPr>
        <p:spPr>
          <a:xfrm>
            <a:off x="502920" y="566928"/>
            <a:ext cx="11155680" cy="685800"/>
          </a:xfrm>
          <a:prstGeom prst="rect">
            <a:avLst/>
          </a:prstGeom>
          <a:noFill/>
        </p:spPr>
        <p:txBody>
          <a:bodyPr wrap="square" anchor="t" lIns="0" rIns="0" tIns="0" bIns="0">
            <a:spAutoFit/>
          </a:bodyPr>
          <a:lstStyle/>
          <a:p>
            <a:r>
              <a:rPr sz="2800" i="0" b="1">
                <a:solidFill>
                  <a:srgbClr val="0B0B0B"/>
                </a:solidFill>
                <a:latin typeface="Calibri"/>
              </a:rPr>
              <a:t>Fix #1: a configurable quantile cutoff</a:t>
            </a:r>
          </a:p>
        </p:txBody>
      </p:sp>
      <p:sp>
        <p:nvSpPr>
          <p:cNvPr id="4" name="Rectangle 3"/>
          <p:cNvSpPr/>
          <p:nvPr/>
        </p:nvSpPr>
        <p:spPr>
          <a:xfrm>
            <a:off x="502920" y="1207008"/>
            <a:ext cx="100584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31520" y="1691640"/>
          <a:ext cx="10515600" cy="2651760"/>
        </p:xfrm>
        <a:graphic>
          <a:graphicData uri="http://schemas.openxmlformats.org/drawingml/2006/table">
            <a:tbl>
              <a:tblPr firstRow="1" bandRow="1">
                <a:tableStyleId>{5C22544A-7EE6-4342-B048-85BDC9FD1C3A}</a:tableStyleId>
              </a:tblPr>
              <a:tblGrid>
                <a:gridCol w="2190750"/>
                <a:gridCol w="2628900"/>
                <a:gridCol w="2628900"/>
                <a:gridCol w="3067050"/>
              </a:tblGrid>
              <a:tr h="530352">
                <a:tc>
                  <a:txBody>
                    <a:bodyPr/>
                    <a:lstStyle/>
                    <a:p>
                      <a:r>
                        <a:rPr sz="1500" i="0" b="1">
                          <a:solidFill>
                            <a:srgbClr val="FFFFFF"/>
                          </a:solidFill>
                          <a:latin typeface="Calibri"/>
                        </a:rPr>
                        <a:t>Q (S(t) cutoff)</a:t>
                      </a:r>
                    </a:p>
                  </a:txBody>
                  <a:tcPr anchor="ctr" marL="73152" marT="27432" marB="27432">
                    <a:solidFill>
                      <a:srgbClr val="2A78D6"/>
                    </a:solidFill>
                  </a:tcPr>
                </a:tc>
                <a:tc>
                  <a:txBody>
                    <a:bodyPr/>
                    <a:lstStyle/>
                    <a:p>
                      <a:r>
                        <a:rPr sz="1500" i="0" b="1">
                          <a:solidFill>
                            <a:srgbClr val="FFFFFF"/>
                          </a:solidFill>
                          <a:latin typeface="Calibri"/>
                        </a:rPr>
                        <a:t>`ours` storage kept</a:t>
                      </a:r>
                    </a:p>
                  </a:txBody>
                  <a:tcPr anchor="ctr" marL="73152" marT="27432" marB="27432">
                    <a:solidFill>
                      <a:srgbClr val="2A78D6"/>
                    </a:solidFill>
                  </a:tcPr>
                </a:tc>
                <a:tc>
                  <a:txBody>
                    <a:bodyPr/>
                    <a:lstStyle/>
                    <a:p>
                      <a:r>
                        <a:rPr sz="1500" i="0" b="1">
                          <a:solidFill>
                            <a:srgbClr val="FFFFFF"/>
                          </a:solidFill>
                          <a:latin typeface="Calibri"/>
                        </a:rPr>
                        <a:t>`ours` retention</a:t>
                      </a:r>
                    </a:p>
                  </a:txBody>
                  <a:tcPr anchor="ctr" marL="73152" marT="27432" marB="27432">
                    <a:solidFill>
                      <a:srgbClr val="2A78D6"/>
                    </a:solidFill>
                  </a:tcPr>
                </a:tc>
                <a:tc>
                  <a:txBody>
                    <a:bodyPr/>
                    <a:lstStyle/>
                    <a:p>
                      <a:r>
                        <a:rPr sz="1500" i="0" b="1">
                          <a:solidFill>
                            <a:srgbClr val="FFFFFF"/>
                          </a:solidFill>
                          <a:latin typeface="Calibri"/>
                        </a:rPr>
                        <a:t>`lru` retention (same row)</a:t>
                      </a:r>
                    </a:p>
                  </a:txBody>
                  <a:tcPr anchor="ctr" marL="73152" marT="27432" marB="27432">
                    <a:solidFill>
                      <a:srgbClr val="2A78D6"/>
                    </a:solidFill>
                  </a:tcPr>
                </a:tc>
              </a:tr>
              <a:tr h="530352">
                <a:tc>
                  <a:txBody>
                    <a:bodyPr/>
                    <a:lstStyle/>
                    <a:p>
                      <a:r>
                        <a:rPr sz="1500" i="0">
                          <a:solidFill>
                            <a:srgbClr val="0B0B0B"/>
                          </a:solidFill>
                          <a:latin typeface="Calibri"/>
                        </a:rPr>
                        <a:t>0.5 (original)</a:t>
                      </a:r>
                    </a:p>
                  </a:txBody>
                  <a:tcPr anchor="ctr" marL="73152" marT="18288" marB="18288">
                    <a:solidFill>
                      <a:srgbClr val="FFFFFF"/>
                    </a:solidFill>
                  </a:tcPr>
                </a:tc>
                <a:tc>
                  <a:txBody>
                    <a:bodyPr/>
                    <a:lstStyle/>
                    <a:p>
                      <a:r>
                        <a:rPr sz="1500" i="0">
                          <a:solidFill>
                            <a:srgbClr val="0B0B0B"/>
                          </a:solidFill>
                          <a:latin typeface="Calibri"/>
                        </a:rPr>
                        <a:t>70.9%</a:t>
                      </a:r>
                    </a:p>
                  </a:txBody>
                  <a:tcPr anchor="ctr" marL="73152" marT="18288" marB="18288">
                    <a:solidFill>
                      <a:srgbClr val="FFFFFF"/>
                    </a:solidFill>
                  </a:tcPr>
                </a:tc>
                <a:tc>
                  <a:txBody>
                    <a:bodyPr/>
                    <a:lstStyle/>
                    <a:p>
                      <a:r>
                        <a:rPr sz="1500" i="0">
                          <a:solidFill>
                            <a:srgbClr val="0B0B0B"/>
                          </a:solidFill>
                          <a:latin typeface="Calibri"/>
                        </a:rPr>
                        <a:t>0.6687</a:t>
                      </a:r>
                    </a:p>
                  </a:txBody>
                  <a:tcPr anchor="ctr" marL="73152" marT="18288" marB="18288">
                    <a:solidFill>
                      <a:srgbClr val="FFFFFF"/>
                    </a:solidFill>
                  </a:tcPr>
                </a:tc>
                <a:tc>
                  <a:txBody>
                    <a:bodyPr/>
                    <a:lstStyle/>
                    <a:p>
                      <a:r>
                        <a:rPr sz="1500" i="0">
                          <a:solidFill>
                            <a:srgbClr val="0B0B0B"/>
                          </a:solidFill>
                          <a:latin typeface="Calibri"/>
                        </a:rPr>
                        <a:t>0.7676</a:t>
                      </a:r>
                    </a:p>
                  </a:txBody>
                  <a:tcPr anchor="ctr" marL="73152" marT="18288" marB="18288">
                    <a:solidFill>
                      <a:srgbClr val="FFFFFF"/>
                    </a:solidFill>
                  </a:tcPr>
                </a:tc>
              </a:tr>
              <a:tr h="530352">
                <a:tc>
                  <a:txBody>
                    <a:bodyPr/>
                    <a:lstStyle/>
                    <a:p>
                      <a:r>
                        <a:rPr sz="1500" i="0">
                          <a:solidFill>
                            <a:srgbClr val="0B0B0B"/>
                          </a:solidFill>
                          <a:latin typeface="Calibri"/>
                        </a:rPr>
                        <a:t>0.2</a:t>
                      </a:r>
                    </a:p>
                  </a:txBody>
                  <a:tcPr anchor="ctr" marL="73152" marT="18288" marB="18288">
                    <a:solidFill>
                      <a:srgbClr val="FCFCFB"/>
                    </a:solidFill>
                  </a:tcPr>
                </a:tc>
                <a:tc>
                  <a:txBody>
                    <a:bodyPr/>
                    <a:lstStyle/>
                    <a:p>
                      <a:r>
                        <a:rPr sz="1500" i="0">
                          <a:solidFill>
                            <a:srgbClr val="0B0B0B"/>
                          </a:solidFill>
                          <a:latin typeface="Calibri"/>
                        </a:rPr>
                        <a:t>91.3%</a:t>
                      </a:r>
                    </a:p>
                  </a:txBody>
                  <a:tcPr anchor="ctr" marL="73152" marT="18288" marB="18288">
                    <a:solidFill>
                      <a:srgbClr val="FCFCFB"/>
                    </a:solidFill>
                  </a:tcPr>
                </a:tc>
                <a:tc>
                  <a:txBody>
                    <a:bodyPr/>
                    <a:lstStyle/>
                    <a:p>
                      <a:r>
                        <a:rPr sz="1500" i="0">
                          <a:solidFill>
                            <a:srgbClr val="0B0B0B"/>
                          </a:solidFill>
                          <a:latin typeface="Calibri"/>
                        </a:rPr>
                        <a:t>0.9080</a:t>
                      </a:r>
                    </a:p>
                  </a:txBody>
                  <a:tcPr anchor="ctr" marL="73152" marT="18288" marB="18288">
                    <a:solidFill>
                      <a:srgbClr val="FCFCFB"/>
                    </a:solidFill>
                  </a:tcPr>
                </a:tc>
                <a:tc>
                  <a:txBody>
                    <a:bodyPr/>
                    <a:lstStyle/>
                    <a:p>
                      <a:r>
                        <a:rPr sz="1500" i="0">
                          <a:solidFill>
                            <a:srgbClr val="0B0B0B"/>
                          </a:solidFill>
                          <a:latin typeface="Calibri"/>
                        </a:rPr>
                        <a:t>0.9517</a:t>
                      </a:r>
                    </a:p>
                  </a:txBody>
                  <a:tcPr anchor="ctr" marL="73152" marT="18288" marB="18288">
                    <a:solidFill>
                      <a:srgbClr val="FCFCFB"/>
                    </a:solidFill>
                  </a:tcPr>
                </a:tc>
              </a:tr>
              <a:tr h="530352">
                <a:tc>
                  <a:txBody>
                    <a:bodyPr/>
                    <a:lstStyle/>
                    <a:p>
                      <a:r>
                        <a:rPr sz="1500" i="0">
                          <a:solidFill>
                            <a:srgbClr val="0B0B0B"/>
                          </a:solidFill>
                          <a:latin typeface="Calibri"/>
                        </a:rPr>
                        <a:t>0.1</a:t>
                      </a:r>
                    </a:p>
                  </a:txBody>
                  <a:tcPr anchor="ctr" marL="73152" marT="18288" marB="18288">
                    <a:solidFill>
                      <a:srgbClr val="FFFFFF"/>
                    </a:solidFill>
                  </a:tcPr>
                </a:tc>
                <a:tc>
                  <a:txBody>
                    <a:bodyPr/>
                    <a:lstStyle/>
                    <a:p>
                      <a:r>
                        <a:rPr sz="1500" i="0">
                          <a:solidFill>
                            <a:srgbClr val="0B0B0B"/>
                          </a:solidFill>
                          <a:latin typeface="Calibri"/>
                        </a:rPr>
                        <a:t>95.2%</a:t>
                      </a:r>
                    </a:p>
                  </a:txBody>
                  <a:tcPr anchor="ctr" marL="73152" marT="18288" marB="18288">
                    <a:solidFill>
                      <a:srgbClr val="FFFFFF"/>
                    </a:solidFill>
                  </a:tcPr>
                </a:tc>
                <a:tc>
                  <a:txBody>
                    <a:bodyPr/>
                    <a:lstStyle/>
                    <a:p>
                      <a:r>
                        <a:rPr sz="1500" i="0">
                          <a:solidFill>
                            <a:srgbClr val="0B0B0B"/>
                          </a:solidFill>
                          <a:latin typeface="Calibri"/>
                        </a:rPr>
                        <a:t>0.9502</a:t>
                      </a:r>
                    </a:p>
                  </a:txBody>
                  <a:tcPr anchor="ctr" marL="73152" marT="18288" marB="18288">
                    <a:solidFill>
                      <a:srgbClr val="FFFFFF"/>
                    </a:solidFill>
                  </a:tcPr>
                </a:tc>
                <a:tc>
                  <a:txBody>
                    <a:bodyPr/>
                    <a:lstStyle/>
                    <a:p>
                      <a:r>
                        <a:rPr sz="1500" i="0">
                          <a:solidFill>
                            <a:srgbClr val="0B0B0B"/>
                          </a:solidFill>
                          <a:latin typeface="Calibri"/>
                        </a:rPr>
                        <a:t>0.9709</a:t>
                      </a:r>
                    </a:p>
                  </a:txBody>
                  <a:tcPr anchor="ctr" marL="73152" marT="18288" marB="18288">
                    <a:solidFill>
                      <a:srgbClr val="FFFFFF"/>
                    </a:solidFill>
                  </a:tcPr>
                </a:tc>
              </a:tr>
              <a:tr h="530352">
                <a:tc>
                  <a:txBody>
                    <a:bodyPr/>
                    <a:lstStyle/>
                    <a:p>
                      <a:r>
                        <a:rPr sz="1500" i="0">
                          <a:solidFill>
                            <a:srgbClr val="0B0B0B"/>
                          </a:solidFill>
                          <a:latin typeface="Calibri"/>
                        </a:rPr>
                        <a:t>0.05</a:t>
                      </a:r>
                    </a:p>
                  </a:txBody>
                  <a:tcPr anchor="ctr" marL="73152" marT="18288" marB="18288">
                    <a:solidFill>
                      <a:srgbClr val="FCFCFB"/>
                    </a:solidFill>
                  </a:tcPr>
                </a:tc>
                <a:tc>
                  <a:txBody>
                    <a:bodyPr/>
                    <a:lstStyle/>
                    <a:p>
                      <a:r>
                        <a:rPr sz="1500" i="0">
                          <a:solidFill>
                            <a:srgbClr val="0B0B0B"/>
                          </a:solidFill>
                          <a:latin typeface="Calibri"/>
                        </a:rPr>
                        <a:t>97.1%</a:t>
                      </a:r>
                    </a:p>
                  </a:txBody>
                  <a:tcPr anchor="ctr" marL="73152" marT="18288" marB="18288">
                    <a:solidFill>
                      <a:srgbClr val="FCFCFB"/>
                    </a:solidFill>
                  </a:tcPr>
                </a:tc>
                <a:tc>
                  <a:txBody>
                    <a:bodyPr/>
                    <a:lstStyle/>
                    <a:p>
                      <a:r>
                        <a:rPr sz="1500" i="0">
                          <a:solidFill>
                            <a:srgbClr val="0B0B0B"/>
                          </a:solidFill>
                          <a:latin typeface="Calibri"/>
                        </a:rPr>
                        <a:t>0.9716</a:t>
                      </a:r>
                    </a:p>
                  </a:txBody>
                  <a:tcPr anchor="ctr" marL="73152" marT="18288" marB="18288">
                    <a:solidFill>
                      <a:srgbClr val="FCFCFB"/>
                    </a:solidFill>
                  </a:tcPr>
                </a:tc>
                <a:tc>
                  <a:txBody>
                    <a:bodyPr/>
                    <a:lstStyle/>
                    <a:p>
                      <a:r>
                        <a:rPr sz="1500" i="0">
                          <a:solidFill>
                            <a:srgbClr val="0B0B0B"/>
                          </a:solidFill>
                          <a:latin typeface="Calibri"/>
                        </a:rPr>
                        <a:t>—</a:t>
                      </a:r>
                    </a:p>
                  </a:txBody>
                  <a:tcPr anchor="ctr" marL="73152" marT="18288" marB="18288">
                    <a:solidFill>
                      <a:srgbClr val="FCFCFB"/>
                    </a:solidFill>
                  </a:tcPr>
                </a:tc>
              </a:tr>
            </a:tbl>
          </a:graphicData>
        </a:graphic>
      </p:graphicFrame>
      <p:sp>
        <p:nvSpPr>
          <p:cNvPr id="6" name="TextBox 5"/>
          <p:cNvSpPr txBox="1"/>
          <p:nvPr/>
        </p:nvSpPr>
        <p:spPr>
          <a:xfrm>
            <a:off x="731520" y="4709160"/>
            <a:ext cx="10515600" cy="1463040"/>
          </a:xfrm>
          <a:prstGeom prst="rect">
            <a:avLst/>
          </a:prstGeom>
          <a:noFill/>
        </p:spPr>
        <p:txBody>
          <a:bodyPr wrap="square" anchor="t" lIns="0" rIns="0" tIns="0" bIns="0">
            <a:spAutoFit/>
          </a:bodyPr>
          <a:lstStyle/>
          <a:p>
            <a:r>
              <a:rPr sz="1600" i="0">
                <a:solidFill>
                  <a:srgbClr val="0B0B0B"/>
                </a:solidFill>
                <a:latin typeface="Calibri"/>
              </a:rPr>
              <a:t>Making the cutoff a configurable quantile confirms cause 1 is real and fixable — but </a:t>
            </a:r>
            <a:r>
              <a:rPr b="1" sz="1600" i="0">
                <a:solidFill>
                  <a:srgbClr val="0B0B0B"/>
                </a:solidFill>
                <a:latin typeface="Calibri"/>
              </a:rPr>
              <a:t>does not close the gap against `lru` at any quantile tested</a:t>
            </a:r>
            <a:r>
              <a:rPr sz="1600" i="0">
                <a:solidFill>
                  <a:srgbClr val="0B0B0B"/>
                </a:solidFill>
                <a:latin typeface="Calibri"/>
              </a:rPr>
              <a:t>. `lru` retains evidence at least as well as `ours` at every row.</a:t>
            </a:r>
          </a:p>
          <a:p>
            <a:pPr>
              <a:spcBef>
                <a:spcPts val="800"/>
              </a:spcBef>
            </a:pPr>
            <a:r>
              <a:rPr sz="1500" i="1">
                <a:solidFill>
                  <a:srgbClr val="52514E"/>
                </a:solidFill>
                <a:latin typeface="Calibri"/>
              </a:rPr>
              <a:t>Cause 1 alone isn't the whole story — cause 2, the decision structure, is the residual gap.</a:t>
            </a:r>
          </a:p>
        </p:txBody>
      </p:sp>
      <p:sp>
        <p:nvSpPr>
          <p:cNvPr id="7" name="Rectangle 6"/>
          <p:cNvSpPr/>
          <p:nvPr/>
        </p:nvSpPr>
        <p:spPr>
          <a:xfrm>
            <a:off x="0" y="6819900"/>
            <a:ext cx="1219169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5486400" cy="274320"/>
          </a:xfrm>
          <a:prstGeom prst="rect">
            <a:avLst/>
          </a:prstGeom>
          <a:noFill/>
        </p:spPr>
        <p:txBody>
          <a:bodyPr wrap="square" anchor="t" lIns="0" rIns="0" tIns="0" bIns="0">
            <a:spAutoFit/>
          </a:bodyPr>
          <a:lstStyle/>
          <a:p>
            <a:r>
              <a:rPr sz="900" i="0">
                <a:solidFill>
                  <a:srgbClr val="898781"/>
                </a:solidFill>
                <a:latin typeface="Calibri"/>
              </a:rPr>
              <a:t>MemoryLifeBench  ·  Final Project Defense</a:t>
            </a:r>
          </a:p>
        </p:txBody>
      </p:sp>
      <p:sp>
        <p:nvSpPr>
          <p:cNvPr id="9" name="TextBox 8"/>
          <p:cNvSpPr txBox="1"/>
          <p:nvPr/>
        </p:nvSpPr>
        <p:spPr>
          <a:xfrm>
            <a:off x="11002975" y="6510528"/>
            <a:ext cx="731520" cy="274320"/>
          </a:xfrm>
          <a:prstGeom prst="rect">
            <a:avLst/>
          </a:prstGeom>
          <a:noFill/>
        </p:spPr>
        <p:txBody>
          <a:bodyPr wrap="square" anchor="t" lIns="0" rIns="0" tIns="0" bIns="0">
            <a:spAutoFit/>
          </a:bodyPr>
          <a:lstStyle/>
          <a:p>
            <a:pPr algn="r"/>
            <a:r>
              <a:rPr sz="900" i="0">
                <a:solidFill>
                  <a:srgbClr val="898781"/>
                </a:solidFill>
                <a:latin typeface="Calibri"/>
              </a:rPr>
              <a:t>20 / 36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92608"/>
            <a:ext cx="10515600" cy="274320"/>
          </a:xfrm>
          <a:prstGeom prst="rect">
            <a:avLst/>
          </a:prstGeom>
          <a:noFill/>
        </p:spPr>
        <p:txBody>
          <a:bodyPr wrap="square" anchor="t" lIns="0" rIns="0" tIns="0" bIns="0">
            <a:spAutoFit/>
          </a:bodyPr>
          <a:lstStyle/>
          <a:p>
            <a:r>
              <a:rPr sz="1200" i="0" b="1">
                <a:solidFill>
                  <a:srgbClr val="2A78D6"/>
                </a:solidFill>
                <a:latin typeface="Calibri"/>
              </a:rPr>
              <a:t>5 · EXPERIMENTS, PART 2</a:t>
            </a:r>
          </a:p>
        </p:txBody>
      </p:sp>
      <p:sp>
        <p:nvSpPr>
          <p:cNvPr id="3" name="TextBox 2"/>
          <p:cNvSpPr txBox="1"/>
          <p:nvPr/>
        </p:nvSpPr>
        <p:spPr>
          <a:xfrm>
            <a:off x="502920" y="566928"/>
            <a:ext cx="11155680" cy="685800"/>
          </a:xfrm>
          <a:prstGeom prst="rect">
            <a:avLst/>
          </a:prstGeom>
          <a:noFill/>
        </p:spPr>
        <p:txBody>
          <a:bodyPr wrap="square" anchor="t" lIns="0" rIns="0" tIns="0" bIns="0">
            <a:spAutoFit/>
          </a:bodyPr>
          <a:lstStyle/>
          <a:p>
            <a:r>
              <a:rPr sz="2800" i="0" b="1">
                <a:solidFill>
                  <a:srgbClr val="0B0B0B"/>
                </a:solidFill>
                <a:latin typeface="Calibri"/>
              </a:rPr>
              <a:t>Fix #2: rank by the Future-Utility head</a:t>
            </a:r>
          </a:p>
        </p:txBody>
      </p:sp>
      <p:sp>
        <p:nvSpPr>
          <p:cNvPr id="4" name="Rectangle 3"/>
          <p:cNvSpPr/>
          <p:nvPr/>
        </p:nvSpPr>
        <p:spPr>
          <a:xfrm>
            <a:off x="502920" y="1207008"/>
            <a:ext cx="100584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640080" y="1554480"/>
          <a:ext cx="10881360" cy="3566160"/>
        </p:xfrm>
        <a:graphic>
          <a:graphicData uri="http://schemas.openxmlformats.org/drawingml/2006/chart">
            <c:chart xmlns:c="http://schemas.openxmlformats.org/drawingml/2006/chart" r:id="rId2"/>
          </a:graphicData>
        </a:graphic>
      </p:graphicFrame>
      <p:sp>
        <p:nvSpPr>
          <p:cNvPr id="6" name="TextBox 5"/>
          <p:cNvSpPr txBox="1"/>
          <p:nvPr/>
        </p:nvSpPr>
        <p:spPr>
          <a:xfrm>
            <a:off x="640080" y="5349240"/>
            <a:ext cx="10881360" cy="914400"/>
          </a:xfrm>
          <a:prstGeom prst="rect">
            <a:avLst/>
          </a:prstGeom>
          <a:noFill/>
        </p:spPr>
        <p:txBody>
          <a:bodyPr wrap="square" anchor="t" lIns="0" rIns="0" tIns="0" bIns="0">
            <a:spAutoFit/>
          </a:bodyPr>
          <a:lstStyle/>
          <a:p>
            <a:r>
              <a:rPr b="1" sz="1500" i="0">
                <a:solidFill>
                  <a:srgbClr val="006300"/>
                </a:solidFill>
                <a:latin typeface="Calibri"/>
              </a:rPr>
              <a:t>`ours_utility` — rank all memories by the already-trained Future-Utility score, keep the top-N — beats every baseline at every quantile tested, including the original unfixed setting.</a:t>
            </a:r>
          </a:p>
        </p:txBody>
      </p:sp>
      <p:sp>
        <p:nvSpPr>
          <p:cNvPr id="7" name="Rectangle 6"/>
          <p:cNvSpPr/>
          <p:nvPr/>
        </p:nvSpPr>
        <p:spPr>
          <a:xfrm>
            <a:off x="0" y="6819900"/>
            <a:ext cx="1219169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5486400" cy="274320"/>
          </a:xfrm>
          <a:prstGeom prst="rect">
            <a:avLst/>
          </a:prstGeom>
          <a:noFill/>
        </p:spPr>
        <p:txBody>
          <a:bodyPr wrap="square" anchor="t" lIns="0" rIns="0" tIns="0" bIns="0">
            <a:spAutoFit/>
          </a:bodyPr>
          <a:lstStyle/>
          <a:p>
            <a:r>
              <a:rPr sz="900" i="0">
                <a:solidFill>
                  <a:srgbClr val="898781"/>
                </a:solidFill>
                <a:latin typeface="Calibri"/>
              </a:rPr>
              <a:t>MemoryLifeBench  ·  Final Project Defense</a:t>
            </a:r>
          </a:p>
        </p:txBody>
      </p:sp>
      <p:sp>
        <p:nvSpPr>
          <p:cNvPr id="9" name="TextBox 8"/>
          <p:cNvSpPr txBox="1"/>
          <p:nvPr/>
        </p:nvSpPr>
        <p:spPr>
          <a:xfrm>
            <a:off x="11002975" y="6510528"/>
            <a:ext cx="731520" cy="274320"/>
          </a:xfrm>
          <a:prstGeom prst="rect">
            <a:avLst/>
          </a:prstGeom>
          <a:noFill/>
        </p:spPr>
        <p:txBody>
          <a:bodyPr wrap="square" anchor="t" lIns="0" rIns="0" tIns="0" bIns="0">
            <a:spAutoFit/>
          </a:bodyPr>
          <a:lstStyle/>
          <a:p>
            <a:pPr algn="r"/>
            <a:r>
              <a:rPr sz="900" i="0">
                <a:solidFill>
                  <a:srgbClr val="898781"/>
                </a:solidFill>
                <a:latin typeface="Calibri"/>
              </a:rPr>
              <a:t>21 / 36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92608"/>
            <a:ext cx="10515600" cy="274320"/>
          </a:xfrm>
          <a:prstGeom prst="rect">
            <a:avLst/>
          </a:prstGeom>
          <a:noFill/>
        </p:spPr>
        <p:txBody>
          <a:bodyPr wrap="square" anchor="t" lIns="0" rIns="0" tIns="0" bIns="0">
            <a:spAutoFit/>
          </a:bodyPr>
          <a:lstStyle/>
          <a:p>
            <a:r>
              <a:rPr sz="1200" i="0" b="1">
                <a:solidFill>
                  <a:srgbClr val="2A78D6"/>
                </a:solidFill>
                <a:latin typeface="Calibri"/>
              </a:rPr>
              <a:t>5 · EXPERIMENTS, PART 2</a:t>
            </a:r>
          </a:p>
        </p:txBody>
      </p:sp>
      <p:sp>
        <p:nvSpPr>
          <p:cNvPr id="3" name="TextBox 2"/>
          <p:cNvSpPr txBox="1"/>
          <p:nvPr/>
        </p:nvSpPr>
        <p:spPr>
          <a:xfrm>
            <a:off x="502920" y="566928"/>
            <a:ext cx="11155680" cy="685800"/>
          </a:xfrm>
          <a:prstGeom prst="rect">
            <a:avLst/>
          </a:prstGeom>
          <a:noFill/>
        </p:spPr>
        <p:txBody>
          <a:bodyPr wrap="square" anchor="t" lIns="0" rIns="0" tIns="0" bIns="0">
            <a:spAutoFit/>
          </a:bodyPr>
          <a:lstStyle/>
          <a:p>
            <a:r>
              <a:rPr sz="2800" i="0" b="1">
                <a:solidFill>
                  <a:srgbClr val="0B0B0B"/>
                </a:solidFill>
                <a:latin typeface="Calibri"/>
              </a:rPr>
              <a:t>Why does it work? A mechanistic explanation</a:t>
            </a:r>
          </a:p>
        </p:txBody>
      </p:sp>
      <p:sp>
        <p:nvSpPr>
          <p:cNvPr id="4" name="Rectangle 3"/>
          <p:cNvSpPr/>
          <p:nvPr/>
        </p:nvSpPr>
        <p:spPr>
          <a:xfrm>
            <a:off x="502920" y="1207008"/>
            <a:ext cx="100584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1371600" y="1600200"/>
          <a:ext cx="8503920" cy="3291840"/>
        </p:xfrm>
        <a:graphic>
          <a:graphicData uri="http://schemas.openxmlformats.org/drawingml/2006/chart">
            <c:chart xmlns:c="http://schemas.openxmlformats.org/drawingml/2006/chart" r:id="rId2"/>
          </a:graphicData>
        </a:graphic>
      </p:graphicFrame>
      <p:sp>
        <p:nvSpPr>
          <p:cNvPr id="6" name="TextBox 5"/>
          <p:cNvSpPr txBox="1"/>
          <p:nvPr/>
        </p:nvSpPr>
        <p:spPr>
          <a:xfrm>
            <a:off x="1371600" y="4937760"/>
            <a:ext cx="8503920" cy="274320"/>
          </a:xfrm>
          <a:prstGeom prst="rect">
            <a:avLst/>
          </a:prstGeom>
          <a:noFill/>
        </p:spPr>
        <p:txBody>
          <a:bodyPr wrap="square" anchor="t" lIns="0" rIns="0" tIns="0" bIns="0">
            <a:spAutoFit/>
          </a:bodyPr>
          <a:lstStyle/>
          <a:p>
            <a:r>
              <a:rPr sz="1050" i="1">
                <a:solidFill>
                  <a:srgbClr val="898781"/>
                </a:solidFill>
                <a:latin typeface="Calibri"/>
              </a:rPr>
              <a:t>Pooled AUC predicting real QA-evidence relevance, across all 2,536 LoCoMo memories. 0.50 = random chance.</a:t>
            </a:r>
          </a:p>
        </p:txBody>
      </p:sp>
      <p:sp>
        <p:nvSpPr>
          <p:cNvPr id="7" name="TextBox 6"/>
          <p:cNvSpPr txBox="1"/>
          <p:nvPr/>
        </p:nvSpPr>
        <p:spPr>
          <a:xfrm>
            <a:off x="1371600" y="5349240"/>
            <a:ext cx="8503920" cy="1097280"/>
          </a:xfrm>
          <a:prstGeom prst="rect">
            <a:avLst/>
          </a:prstGeom>
          <a:noFill/>
        </p:spPr>
        <p:txBody>
          <a:bodyPr wrap="square" anchor="t" lIns="0" rIns="0" tIns="0" bIns="0">
            <a:spAutoFit/>
          </a:bodyPr>
          <a:lstStyle/>
          <a:p>
            <a:r>
              <a:rPr sz="1500" i="0">
                <a:solidFill>
                  <a:srgbClr val="0B0B0B"/>
                </a:solidFill>
                <a:latin typeface="Calibri"/>
              </a:rPr>
              <a:t>`predicted_ttl_days` scores </a:t>
            </a:r>
            <a:r>
              <a:rPr b="1" sz="1500" i="0">
                <a:solidFill>
                  <a:srgbClr val="0B0B0B"/>
                </a:solidFill>
                <a:latin typeface="Calibri"/>
              </a:rPr>
              <a:t>below 0.5 — inversely correlated</a:t>
            </a:r>
            <a:r>
              <a:rPr sz="1500" i="0">
                <a:solidFill>
                  <a:srgbClr val="0B0B0B"/>
                </a:solidFill>
                <a:latin typeface="Calibri"/>
              </a:rPr>
              <a:t> with evidence relevance. The fix works not because ranking beats thresholding in general, but because it replaces a signal that is actively backwards with one that is genuinely predictive.</a:t>
            </a:r>
          </a:p>
        </p:txBody>
      </p:sp>
      <p:sp>
        <p:nvSpPr>
          <p:cNvPr id="8" name="Rectangle 7"/>
          <p:cNvSpPr/>
          <p:nvPr/>
        </p:nvSpPr>
        <p:spPr>
          <a:xfrm>
            <a:off x="0" y="6819900"/>
            <a:ext cx="1219169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10528"/>
            <a:ext cx="5486400" cy="274320"/>
          </a:xfrm>
          <a:prstGeom prst="rect">
            <a:avLst/>
          </a:prstGeom>
          <a:noFill/>
        </p:spPr>
        <p:txBody>
          <a:bodyPr wrap="square" anchor="t" lIns="0" rIns="0" tIns="0" bIns="0">
            <a:spAutoFit/>
          </a:bodyPr>
          <a:lstStyle/>
          <a:p>
            <a:r>
              <a:rPr sz="900" i="0">
                <a:solidFill>
                  <a:srgbClr val="898781"/>
                </a:solidFill>
                <a:latin typeface="Calibri"/>
              </a:rPr>
              <a:t>MemoryLifeBench  ·  Final Project Defense</a:t>
            </a:r>
          </a:p>
        </p:txBody>
      </p:sp>
      <p:sp>
        <p:nvSpPr>
          <p:cNvPr id="10" name="TextBox 9"/>
          <p:cNvSpPr txBox="1"/>
          <p:nvPr/>
        </p:nvSpPr>
        <p:spPr>
          <a:xfrm>
            <a:off x="11002975" y="6510528"/>
            <a:ext cx="731520" cy="274320"/>
          </a:xfrm>
          <a:prstGeom prst="rect">
            <a:avLst/>
          </a:prstGeom>
          <a:noFill/>
        </p:spPr>
        <p:txBody>
          <a:bodyPr wrap="square" anchor="t" lIns="0" rIns="0" tIns="0" bIns="0">
            <a:spAutoFit/>
          </a:bodyPr>
          <a:lstStyle/>
          <a:p>
            <a:pPr algn="r"/>
            <a:r>
              <a:rPr sz="900" i="0">
                <a:solidFill>
                  <a:srgbClr val="898781"/>
                </a:solidFill>
                <a:latin typeface="Calibri"/>
              </a:rPr>
              <a:t>22 / 36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92608"/>
            <a:ext cx="10515600" cy="274320"/>
          </a:xfrm>
          <a:prstGeom prst="rect">
            <a:avLst/>
          </a:prstGeom>
          <a:noFill/>
        </p:spPr>
        <p:txBody>
          <a:bodyPr wrap="square" anchor="t" lIns="0" rIns="0" tIns="0" bIns="0">
            <a:spAutoFit/>
          </a:bodyPr>
          <a:lstStyle/>
          <a:p>
            <a:r>
              <a:rPr sz="1200" i="0" b="1">
                <a:solidFill>
                  <a:srgbClr val="2A78D6"/>
                </a:solidFill>
                <a:latin typeface="Calibri"/>
              </a:rPr>
              <a:t>5 · EXPERIMENTS, PART 2</a:t>
            </a:r>
          </a:p>
        </p:txBody>
      </p:sp>
      <p:sp>
        <p:nvSpPr>
          <p:cNvPr id="3" name="TextBox 2"/>
          <p:cNvSpPr txBox="1"/>
          <p:nvPr/>
        </p:nvSpPr>
        <p:spPr>
          <a:xfrm>
            <a:off x="502920" y="566928"/>
            <a:ext cx="11155680" cy="685800"/>
          </a:xfrm>
          <a:prstGeom prst="rect">
            <a:avLst/>
          </a:prstGeom>
          <a:noFill/>
        </p:spPr>
        <p:txBody>
          <a:bodyPr wrap="square" anchor="t" lIns="0" rIns="0" tIns="0" bIns="0">
            <a:spAutoFit/>
          </a:bodyPr>
          <a:lstStyle/>
          <a:p>
            <a:r>
              <a:rPr sz="2800" i="0" b="1">
                <a:solidFill>
                  <a:srgbClr val="0B0B0B"/>
                </a:solidFill>
                <a:latin typeface="Calibri"/>
              </a:rPr>
              <a:t>Confirming the fix, honestly</a:t>
            </a:r>
          </a:p>
        </p:txBody>
      </p:sp>
      <p:sp>
        <p:nvSpPr>
          <p:cNvPr id="4" name="Rectangle 3"/>
          <p:cNvSpPr/>
          <p:nvPr/>
        </p:nvSpPr>
        <p:spPr>
          <a:xfrm>
            <a:off x="502920" y="1207008"/>
            <a:ext cx="100584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600200"/>
          <a:ext cx="11155680" cy="2651760"/>
        </p:xfrm>
        <a:graphic>
          <a:graphicData uri="http://schemas.openxmlformats.org/drawingml/2006/table">
            <a:tbl>
              <a:tblPr firstRow="1" bandRow="1">
                <a:tableStyleId>{5C22544A-7EE6-4342-B048-85BDC9FD1C3A}</a:tableStyleId>
              </a:tblPr>
              <a:tblGrid>
                <a:gridCol w="3931920"/>
                <a:gridCol w="3931920"/>
                <a:gridCol w="3291840"/>
              </a:tblGrid>
              <a:tr h="530352">
                <a:tc>
                  <a:txBody>
                    <a:bodyPr/>
                    <a:lstStyle/>
                    <a:p>
                      <a:r>
                        <a:rPr sz="1400" i="0" b="1">
                          <a:solidFill>
                            <a:srgbClr val="FFFFFF"/>
                          </a:solidFill>
                          <a:latin typeface="Calibri"/>
                        </a:rPr>
                        <a:t>Comparison (n=120)</a:t>
                      </a:r>
                    </a:p>
                  </a:txBody>
                  <a:tcPr anchor="ctr" marL="73152" marT="27432" marB="27432">
                    <a:solidFill>
                      <a:srgbClr val="2A78D6"/>
                    </a:solidFill>
                  </a:tcPr>
                </a:tc>
                <a:tc>
                  <a:txBody>
                    <a:bodyPr/>
                    <a:lstStyle/>
                    <a:p>
                      <a:r>
                        <a:rPr sz="1400" i="0" b="1">
                          <a:solidFill>
                            <a:srgbClr val="FFFFFF"/>
                          </a:solidFill>
                          <a:latin typeface="Calibri"/>
                        </a:rPr>
                        <a:t>EM diff, 95% CI</a:t>
                      </a:r>
                    </a:p>
                  </a:txBody>
                  <a:tcPr anchor="ctr" marL="73152" marT="27432" marB="27432">
                    <a:solidFill>
                      <a:srgbClr val="2A78D6"/>
                    </a:solidFill>
                  </a:tcPr>
                </a:tc>
                <a:tc>
                  <a:txBody>
                    <a:bodyPr/>
                    <a:lstStyle/>
                    <a:p>
                      <a:r>
                        <a:rPr sz="1400" i="0" b="1">
                          <a:solidFill>
                            <a:srgbClr val="FFFFFF"/>
                          </a:solidFill>
                          <a:latin typeface="Calibri"/>
                        </a:rPr>
                        <a:t>p (fix beats other)</a:t>
                      </a:r>
                    </a:p>
                  </a:txBody>
                  <a:tcPr anchor="ctr" marL="73152" marT="27432" marB="27432">
                    <a:solidFill>
                      <a:srgbClr val="2A78D6"/>
                    </a:solidFill>
                  </a:tcPr>
                </a:tc>
              </a:tr>
              <a:tr h="530352">
                <a:tc>
                  <a:txBody>
                    <a:bodyPr/>
                    <a:lstStyle/>
                    <a:p>
                      <a:r>
                        <a:rPr sz="1400" i="0">
                          <a:solidFill>
                            <a:srgbClr val="0B0B0B"/>
                          </a:solidFill>
                          <a:latin typeface="Calibri"/>
                        </a:rPr>
                        <a:t>ours_utility vs. fifo</a:t>
                      </a:r>
                    </a:p>
                  </a:txBody>
                  <a:tcPr anchor="ctr" marL="73152" marT="18288" marB="18288">
                    <a:solidFill>
                      <a:srgbClr val="FFFFFF"/>
                    </a:solidFill>
                  </a:tcPr>
                </a:tc>
                <a:tc>
                  <a:txBody>
                    <a:bodyPr/>
                    <a:lstStyle/>
                    <a:p>
                      <a:r>
                        <a:rPr sz="1400" i="0">
                          <a:solidFill>
                            <a:srgbClr val="0B0B0B"/>
                          </a:solidFill>
                          <a:latin typeface="Calibri"/>
                        </a:rPr>
                        <a:t>+0.0499 [+0.0167, +0.0917]</a:t>
                      </a:r>
                    </a:p>
                  </a:txBody>
                  <a:tcPr anchor="ctr" marL="73152" marT="18288" marB="18288">
                    <a:solidFill>
                      <a:srgbClr val="FFFFFF"/>
                    </a:solidFill>
                  </a:tcPr>
                </a:tc>
                <a:tc>
                  <a:txBody>
                    <a:bodyPr/>
                    <a:lstStyle/>
                    <a:p>
                      <a:r>
                        <a:rPr sz="1400" i="0">
                          <a:solidFill>
                            <a:srgbClr val="0B0B0B"/>
                          </a:solidFill>
                          <a:latin typeface="Calibri"/>
                        </a:rPr>
                        <a:t>0.002 — significant</a:t>
                      </a:r>
                    </a:p>
                  </a:txBody>
                  <a:tcPr anchor="ctr" marL="73152" marT="18288" marB="18288">
                    <a:solidFill>
                      <a:srgbClr val="FFFFFF"/>
                    </a:solidFill>
                  </a:tcPr>
                </a:tc>
              </a:tr>
              <a:tr h="530352">
                <a:tc>
                  <a:txBody>
                    <a:bodyPr/>
                    <a:lstStyle/>
                    <a:p>
                      <a:r>
                        <a:rPr sz="1400" i="0">
                          <a:solidFill>
                            <a:srgbClr val="0B0B0B"/>
                          </a:solidFill>
                          <a:latin typeface="Calibri"/>
                        </a:rPr>
                        <a:t>ours_utility vs. ours (original)</a:t>
                      </a:r>
                    </a:p>
                  </a:txBody>
                  <a:tcPr anchor="ctr" marL="73152" marT="18288" marB="18288">
                    <a:solidFill>
                      <a:srgbClr val="FCFCFB"/>
                    </a:solidFill>
                  </a:tcPr>
                </a:tc>
                <a:tc>
                  <a:txBody>
                    <a:bodyPr/>
                    <a:lstStyle/>
                    <a:p>
                      <a:r>
                        <a:rPr sz="1400" i="0">
                          <a:solidFill>
                            <a:srgbClr val="0B0B0B"/>
                          </a:solidFill>
                          <a:latin typeface="Calibri"/>
                        </a:rPr>
                        <a:t>+0.0415 [+0.0083, +0.0833]</a:t>
                      </a:r>
                    </a:p>
                  </a:txBody>
                  <a:tcPr anchor="ctr" marL="73152" marT="18288" marB="18288">
                    <a:solidFill>
                      <a:srgbClr val="FCFCFB"/>
                    </a:solidFill>
                  </a:tcPr>
                </a:tc>
                <a:tc>
                  <a:txBody>
                    <a:bodyPr/>
                    <a:lstStyle/>
                    <a:p>
                      <a:r>
                        <a:rPr sz="1400" i="0">
                          <a:solidFill>
                            <a:srgbClr val="0B0B0B"/>
                          </a:solidFill>
                          <a:latin typeface="Calibri"/>
                        </a:rPr>
                        <a:t>0.006 — significant</a:t>
                      </a:r>
                    </a:p>
                  </a:txBody>
                  <a:tcPr anchor="ctr" marL="73152" marT="18288" marB="18288">
                    <a:solidFill>
                      <a:srgbClr val="FCFCFB"/>
                    </a:solidFill>
                  </a:tcPr>
                </a:tc>
              </a:tr>
              <a:tr h="530352">
                <a:tc>
                  <a:txBody>
                    <a:bodyPr/>
                    <a:lstStyle/>
                    <a:p>
                      <a:r>
                        <a:rPr sz="1400" i="0">
                          <a:solidFill>
                            <a:srgbClr val="0B0B0B"/>
                          </a:solidFill>
                          <a:latin typeface="Calibri"/>
                        </a:rPr>
                        <a:t>ours_utility vs. no_forget</a:t>
                      </a:r>
                    </a:p>
                  </a:txBody>
                  <a:tcPr anchor="ctr" marL="73152" marT="18288" marB="18288">
                    <a:solidFill>
                      <a:srgbClr val="FFFFFF"/>
                    </a:solidFill>
                  </a:tcPr>
                </a:tc>
                <a:tc>
                  <a:txBody>
                    <a:bodyPr/>
                    <a:lstStyle/>
                    <a:p>
                      <a:r>
                        <a:rPr sz="1400" i="0">
                          <a:solidFill>
                            <a:srgbClr val="0B0B0B"/>
                          </a:solidFill>
                          <a:latin typeface="Calibri"/>
                        </a:rPr>
                        <a:t>+0.0000 [+0.0000, +0.0000]</a:t>
                      </a:r>
                    </a:p>
                  </a:txBody>
                  <a:tcPr anchor="ctr" marL="73152" marT="18288" marB="18288">
                    <a:solidFill>
                      <a:srgbClr val="FFFFFF"/>
                    </a:solidFill>
                  </a:tcPr>
                </a:tc>
                <a:tc>
                  <a:txBody>
                    <a:bodyPr/>
                    <a:lstStyle/>
                    <a:p>
                      <a:r>
                        <a:rPr sz="1400" i="0">
                          <a:solidFill>
                            <a:srgbClr val="0B0B0B"/>
                          </a:solidFill>
                          <a:latin typeface="Calibri"/>
                        </a:rPr>
                        <a:t>1.000 — tied</a:t>
                      </a:r>
                    </a:p>
                  </a:txBody>
                  <a:tcPr anchor="ctr" marL="73152" marT="18288" marB="18288">
                    <a:solidFill>
                      <a:srgbClr val="FFFFFF"/>
                    </a:solidFill>
                  </a:tcPr>
                </a:tc>
              </a:tr>
              <a:tr h="530352">
                <a:tc>
                  <a:txBody>
                    <a:bodyPr/>
                    <a:lstStyle/>
                    <a:p>
                      <a:r>
                        <a:rPr sz="1400" i="0">
                          <a:solidFill>
                            <a:srgbClr val="0B0B0B"/>
                          </a:solidFill>
                          <a:latin typeface="Calibri"/>
                        </a:rPr>
                        <a:t>ours_utility vs. lru</a:t>
                      </a:r>
                    </a:p>
                  </a:txBody>
                  <a:tcPr anchor="ctr" marL="73152" marT="18288" marB="18288">
                    <a:solidFill>
                      <a:srgbClr val="FFF5D6"/>
                    </a:solidFill>
                  </a:tcPr>
                </a:tc>
                <a:tc>
                  <a:txBody>
                    <a:bodyPr/>
                    <a:lstStyle/>
                    <a:p>
                      <a:r>
                        <a:rPr sz="1400" i="0">
                          <a:solidFill>
                            <a:srgbClr val="0B0B0B"/>
                          </a:solidFill>
                          <a:latin typeface="Calibri"/>
                        </a:rPr>
                        <a:t>+0.0083 [+0.0000, +0.0250]</a:t>
                      </a:r>
                    </a:p>
                  </a:txBody>
                  <a:tcPr anchor="ctr" marL="73152" marT="18288" marB="18288">
                    <a:solidFill>
                      <a:srgbClr val="FFF5D6"/>
                    </a:solidFill>
                  </a:tcPr>
                </a:tc>
                <a:tc>
                  <a:txBody>
                    <a:bodyPr/>
                    <a:lstStyle/>
                    <a:p>
                      <a:r>
                        <a:rPr sz="1400" i="0">
                          <a:solidFill>
                            <a:srgbClr val="0B0B0B"/>
                          </a:solidFill>
                          <a:latin typeface="Calibri"/>
                        </a:rPr>
                        <a:t>0.367 — not significant</a:t>
                      </a:r>
                    </a:p>
                  </a:txBody>
                  <a:tcPr anchor="ctr" marL="73152" marT="18288" marB="18288">
                    <a:solidFill>
                      <a:srgbClr val="FFF5D6"/>
                    </a:solidFill>
                  </a:tcPr>
                </a:tc>
              </a:tr>
            </a:tbl>
          </a:graphicData>
        </a:graphic>
      </p:graphicFrame>
      <p:sp>
        <p:nvSpPr>
          <p:cNvPr id="6" name="TextBox 5"/>
          <p:cNvSpPr txBox="1"/>
          <p:nvPr/>
        </p:nvSpPr>
        <p:spPr>
          <a:xfrm>
            <a:off x="502920" y="4526280"/>
            <a:ext cx="11155680" cy="1463040"/>
          </a:xfrm>
          <a:prstGeom prst="rect">
            <a:avLst/>
          </a:prstGeom>
          <a:noFill/>
        </p:spPr>
        <p:txBody>
          <a:bodyPr wrap="square" anchor="t" lIns="0" rIns="0" tIns="0" bIns="0">
            <a:spAutoFit/>
          </a:bodyPr>
          <a:lstStyle/>
          <a:p>
            <a:r>
              <a:rPr sz="1500" i="0">
                <a:solidFill>
                  <a:srgbClr val="0B0B0B"/>
                </a:solidFill>
                <a:latin typeface="Calibri"/>
              </a:rPr>
              <a:t>Significantly beats fifo and the original policy; statistically </a:t>
            </a:r>
            <a:r>
              <a:rPr b="1" sz="1500" i="0">
                <a:solidFill>
                  <a:srgbClr val="0B0B0B"/>
                </a:solidFill>
                <a:latin typeface="Calibri"/>
              </a:rPr>
              <a:t>tied</a:t>
            </a:r>
            <a:r>
              <a:rPr sz="1500" i="0">
                <a:solidFill>
                  <a:srgbClr val="0B0B0B"/>
                </a:solidFill>
                <a:latin typeface="Calibri"/>
              </a:rPr>
              <a:t> with the no-forget ceiling; </a:t>
            </a:r>
            <a:r>
              <a:rPr b="1" sz="1500" i="0">
                <a:solidFill>
                  <a:srgbClr val="0B0B0B"/>
                </a:solidFill>
                <a:latin typeface="Calibri"/>
              </a:rPr>
              <a:t>not</a:t>
            </a:r>
            <a:r>
              <a:rPr sz="1500" i="0">
                <a:solidFill>
                  <a:srgbClr val="0B0B0B"/>
                </a:solidFill>
                <a:latin typeface="Calibri"/>
              </a:rPr>
              <a:t> significantly better than lru at this sample size — reported plainly, even though the free-diagnostic sweep and the AUC analysis both point the same direction.</a:t>
            </a:r>
          </a:p>
          <a:p>
            <a:pPr>
              <a:spcBef>
                <a:spcPts val="800"/>
              </a:spcBef>
            </a:pPr>
            <a:r>
              <a:rPr sz="1400" i="1">
                <a:solidFill>
                  <a:srgbClr val="52514E"/>
                </a:solidFill>
                <a:latin typeface="Calibri"/>
              </a:rPr>
              <a:t>Confirmed on a 4th metric (BLEU-1) and via refusal-precision/F1, following REMem's own methodology.</a:t>
            </a:r>
          </a:p>
        </p:txBody>
      </p:sp>
      <p:sp>
        <p:nvSpPr>
          <p:cNvPr id="7" name="Rectangle 6"/>
          <p:cNvSpPr/>
          <p:nvPr/>
        </p:nvSpPr>
        <p:spPr>
          <a:xfrm>
            <a:off x="0" y="6819900"/>
            <a:ext cx="1219169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5486400" cy="274320"/>
          </a:xfrm>
          <a:prstGeom prst="rect">
            <a:avLst/>
          </a:prstGeom>
          <a:noFill/>
        </p:spPr>
        <p:txBody>
          <a:bodyPr wrap="square" anchor="t" lIns="0" rIns="0" tIns="0" bIns="0">
            <a:spAutoFit/>
          </a:bodyPr>
          <a:lstStyle/>
          <a:p>
            <a:r>
              <a:rPr sz="900" i="0">
                <a:solidFill>
                  <a:srgbClr val="898781"/>
                </a:solidFill>
                <a:latin typeface="Calibri"/>
              </a:rPr>
              <a:t>MemoryLifeBench  ·  Final Project Defense</a:t>
            </a:r>
          </a:p>
        </p:txBody>
      </p:sp>
      <p:sp>
        <p:nvSpPr>
          <p:cNvPr id="9" name="TextBox 8"/>
          <p:cNvSpPr txBox="1"/>
          <p:nvPr/>
        </p:nvSpPr>
        <p:spPr>
          <a:xfrm>
            <a:off x="11002975" y="6510528"/>
            <a:ext cx="731520" cy="274320"/>
          </a:xfrm>
          <a:prstGeom prst="rect">
            <a:avLst/>
          </a:prstGeom>
          <a:noFill/>
        </p:spPr>
        <p:txBody>
          <a:bodyPr wrap="square" anchor="t" lIns="0" rIns="0" tIns="0" bIns="0">
            <a:spAutoFit/>
          </a:bodyPr>
          <a:lstStyle/>
          <a:p>
            <a:pPr algn="r"/>
            <a:r>
              <a:rPr sz="900" i="0">
                <a:solidFill>
                  <a:srgbClr val="898781"/>
                </a:solidFill>
                <a:latin typeface="Calibri"/>
              </a:rPr>
              <a:t>23 / 36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92608"/>
            <a:ext cx="10515600" cy="274320"/>
          </a:xfrm>
          <a:prstGeom prst="rect">
            <a:avLst/>
          </a:prstGeom>
          <a:noFill/>
        </p:spPr>
        <p:txBody>
          <a:bodyPr wrap="square" anchor="t" lIns="0" rIns="0" tIns="0" bIns="0">
            <a:spAutoFit/>
          </a:bodyPr>
          <a:lstStyle/>
          <a:p>
            <a:r>
              <a:rPr sz="1200" i="0" b="1">
                <a:solidFill>
                  <a:srgbClr val="2A78D6"/>
                </a:solidFill>
                <a:latin typeface="Calibri"/>
              </a:rPr>
              <a:t>5 · EXPERIMENTS, PART 2</a:t>
            </a:r>
          </a:p>
        </p:txBody>
      </p:sp>
      <p:sp>
        <p:nvSpPr>
          <p:cNvPr id="3" name="TextBox 2"/>
          <p:cNvSpPr txBox="1"/>
          <p:nvPr/>
        </p:nvSpPr>
        <p:spPr>
          <a:xfrm>
            <a:off x="502920" y="566928"/>
            <a:ext cx="11155680" cy="685800"/>
          </a:xfrm>
          <a:prstGeom prst="rect">
            <a:avLst/>
          </a:prstGeom>
          <a:noFill/>
        </p:spPr>
        <p:txBody>
          <a:bodyPr wrap="square" anchor="t" lIns="0" rIns="0" tIns="0" bIns="0">
            <a:spAutoFit/>
          </a:bodyPr>
          <a:lstStyle/>
          <a:p>
            <a:r>
              <a:rPr sz="2800" i="0" b="1">
                <a:solidFill>
                  <a:srgbClr val="0B0B0B"/>
                </a:solidFill>
                <a:latin typeface="Calibri"/>
              </a:rPr>
              <a:t>What does the model actually get wrong?</a:t>
            </a:r>
          </a:p>
        </p:txBody>
      </p:sp>
      <p:sp>
        <p:nvSpPr>
          <p:cNvPr id="4" name="Rectangle 3"/>
          <p:cNvSpPr/>
          <p:nvPr/>
        </p:nvSpPr>
        <p:spPr>
          <a:xfrm>
            <a:off x="502920" y="1207008"/>
            <a:ext cx="100584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1280160" y="1600200"/>
          <a:ext cx="8961120" cy="3566160"/>
        </p:xfrm>
        <a:graphic>
          <a:graphicData uri="http://schemas.openxmlformats.org/drawingml/2006/chart">
            <c:chart xmlns:c="http://schemas.openxmlformats.org/drawingml/2006/chart" r:id="rId2"/>
          </a:graphicData>
        </a:graphic>
      </p:graphicFrame>
      <p:sp>
        <p:nvSpPr>
          <p:cNvPr id="6" name="TextBox 5"/>
          <p:cNvSpPr txBox="1"/>
          <p:nvPr/>
        </p:nvSpPr>
        <p:spPr>
          <a:xfrm>
            <a:off x="1280160" y="5212080"/>
            <a:ext cx="8961120" cy="274320"/>
          </a:xfrm>
          <a:prstGeom prst="rect">
            <a:avLst/>
          </a:prstGeom>
          <a:noFill/>
        </p:spPr>
        <p:txBody>
          <a:bodyPr wrap="square" anchor="t" lIns="0" rIns="0" tIns="0" bIns="0">
            <a:spAutoFit/>
          </a:bodyPr>
          <a:lstStyle/>
          <a:p>
            <a:r>
              <a:rPr sz="1050" i="1">
                <a:solidFill>
                  <a:srgbClr val="898781"/>
                </a:solidFill>
                <a:latin typeface="Calibri"/>
              </a:rPr>
              <a:t>100 sampled wrong (judge-negative) predictions, pooled across all 5 policies and both benchmarks — a single-pass manual read, not independently double-rated.</a:t>
            </a:r>
          </a:p>
        </p:txBody>
      </p:sp>
      <p:sp>
        <p:nvSpPr>
          <p:cNvPr id="7" name="TextBox 6"/>
          <p:cNvSpPr txBox="1"/>
          <p:nvPr/>
        </p:nvSpPr>
        <p:spPr>
          <a:xfrm>
            <a:off x="1280160" y="5532120"/>
            <a:ext cx="8961120" cy="640080"/>
          </a:xfrm>
          <a:prstGeom prst="rect">
            <a:avLst/>
          </a:prstGeom>
          <a:noFill/>
        </p:spPr>
        <p:txBody>
          <a:bodyPr wrap="square" anchor="t" lIns="0" rIns="0" tIns="0" bIns="0">
            <a:spAutoFit/>
          </a:bodyPr>
          <a:lstStyle/>
          <a:p>
            <a:r>
              <a:rPr b="1" sz="1500" i="0">
                <a:solidFill>
                  <a:srgbClr val="0B0B0B"/>
                </a:solidFill>
                <a:latin typeface="Calibri"/>
              </a:rPr>
              <a:t>False refusal dominates</a:t>
            </a:r>
            <a:r>
              <a:rPr sz="1500" i="0">
                <a:solidFill>
                  <a:srgbClr val="0B0B0B"/>
                </a:solidFill>
                <a:latin typeface="Calibri"/>
              </a:rPr>
              <a:t> — most of what looks like “the model got it wrong” is actually “the eviction policy removed the evidence, and the model correctly said so.”</a:t>
            </a:r>
          </a:p>
        </p:txBody>
      </p:sp>
      <p:sp>
        <p:nvSpPr>
          <p:cNvPr id="8" name="Rectangle 7"/>
          <p:cNvSpPr/>
          <p:nvPr/>
        </p:nvSpPr>
        <p:spPr>
          <a:xfrm>
            <a:off x="0" y="6819900"/>
            <a:ext cx="1219169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10528"/>
            <a:ext cx="5486400" cy="274320"/>
          </a:xfrm>
          <a:prstGeom prst="rect">
            <a:avLst/>
          </a:prstGeom>
          <a:noFill/>
        </p:spPr>
        <p:txBody>
          <a:bodyPr wrap="square" anchor="t" lIns="0" rIns="0" tIns="0" bIns="0">
            <a:spAutoFit/>
          </a:bodyPr>
          <a:lstStyle/>
          <a:p>
            <a:r>
              <a:rPr sz="900" i="0">
                <a:solidFill>
                  <a:srgbClr val="898781"/>
                </a:solidFill>
                <a:latin typeface="Calibri"/>
              </a:rPr>
              <a:t>MemoryLifeBench  ·  Final Project Defense</a:t>
            </a:r>
          </a:p>
        </p:txBody>
      </p:sp>
      <p:sp>
        <p:nvSpPr>
          <p:cNvPr id="10" name="TextBox 9"/>
          <p:cNvSpPr txBox="1"/>
          <p:nvPr/>
        </p:nvSpPr>
        <p:spPr>
          <a:xfrm>
            <a:off x="11002975" y="6510528"/>
            <a:ext cx="731520" cy="274320"/>
          </a:xfrm>
          <a:prstGeom prst="rect">
            <a:avLst/>
          </a:prstGeom>
          <a:noFill/>
        </p:spPr>
        <p:txBody>
          <a:bodyPr wrap="square" anchor="t" lIns="0" rIns="0" tIns="0" bIns="0">
            <a:spAutoFit/>
          </a:bodyPr>
          <a:lstStyle/>
          <a:p>
            <a:pPr algn="r"/>
            <a:r>
              <a:rPr sz="900" i="0">
                <a:solidFill>
                  <a:srgbClr val="898781"/>
                </a:solidFill>
                <a:latin typeface="Calibri"/>
              </a:rPr>
              <a:t>24 / 36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92608"/>
            <a:ext cx="10515600" cy="274320"/>
          </a:xfrm>
          <a:prstGeom prst="rect">
            <a:avLst/>
          </a:prstGeom>
          <a:noFill/>
        </p:spPr>
        <p:txBody>
          <a:bodyPr wrap="square" anchor="t" lIns="0" rIns="0" tIns="0" bIns="0">
            <a:spAutoFit/>
          </a:bodyPr>
          <a:lstStyle/>
          <a:p>
            <a:r>
              <a:rPr sz="1200" i="0" b="1">
                <a:solidFill>
                  <a:srgbClr val="2A78D6"/>
                </a:solidFill>
                <a:latin typeface="Calibri"/>
              </a:rPr>
              <a:t>5 · EXPERIMENTS, PART 2</a:t>
            </a:r>
          </a:p>
        </p:txBody>
      </p:sp>
      <p:sp>
        <p:nvSpPr>
          <p:cNvPr id="3" name="TextBox 2"/>
          <p:cNvSpPr txBox="1"/>
          <p:nvPr/>
        </p:nvSpPr>
        <p:spPr>
          <a:xfrm>
            <a:off x="502920" y="566928"/>
            <a:ext cx="11155680" cy="685800"/>
          </a:xfrm>
          <a:prstGeom prst="rect">
            <a:avLst/>
          </a:prstGeom>
          <a:noFill/>
        </p:spPr>
        <p:txBody>
          <a:bodyPr wrap="square" anchor="t" lIns="0" rIns="0" tIns="0" bIns="0">
            <a:spAutoFit/>
          </a:bodyPr>
          <a:lstStyle/>
          <a:p>
            <a:r>
              <a:rPr sz="2800" i="0" b="1">
                <a:solidFill>
                  <a:srgbClr val="0B0B0B"/>
                </a:solidFill>
                <a:latin typeface="Calibri"/>
              </a:rPr>
              <a:t>Does the fix help every question type equally?</a:t>
            </a:r>
          </a:p>
        </p:txBody>
      </p:sp>
      <p:sp>
        <p:nvSpPr>
          <p:cNvPr id="4" name="Rectangle 3"/>
          <p:cNvSpPr/>
          <p:nvPr/>
        </p:nvSpPr>
        <p:spPr>
          <a:xfrm>
            <a:off x="502920" y="1207008"/>
            <a:ext cx="100584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914400" y="1600200"/>
          <a:ext cx="10332720" cy="3566160"/>
        </p:xfrm>
        <a:graphic>
          <a:graphicData uri="http://schemas.openxmlformats.org/drawingml/2006/chart">
            <c:chart xmlns:c="http://schemas.openxmlformats.org/drawingml/2006/chart" r:id="rId2"/>
          </a:graphicData>
        </a:graphic>
      </p:graphicFrame>
      <p:sp>
        <p:nvSpPr>
          <p:cNvPr id="6" name="TextBox 5"/>
          <p:cNvSpPr txBox="1"/>
          <p:nvPr/>
        </p:nvSpPr>
        <p:spPr>
          <a:xfrm>
            <a:off x="914400" y="5440680"/>
            <a:ext cx="10332720" cy="914400"/>
          </a:xfrm>
          <a:prstGeom prst="rect">
            <a:avLst/>
          </a:prstGeom>
          <a:noFill/>
        </p:spPr>
        <p:txBody>
          <a:bodyPr wrap="square" anchor="t" lIns="0" rIns="0" tIns="0" bIns="0">
            <a:spAutoFit/>
          </a:bodyPr>
          <a:lstStyle/>
          <a:p>
            <a:r>
              <a:rPr sz="1450" i="0">
                <a:solidFill>
                  <a:srgbClr val="0B0B0B"/>
                </a:solidFill>
                <a:latin typeface="Calibri"/>
              </a:rPr>
              <a:t>The effect is </a:t>
            </a:r>
            <a:r>
              <a:rPr b="1" sz="1450" i="0">
                <a:solidFill>
                  <a:srgbClr val="0B0B0B"/>
                </a:solidFill>
                <a:latin typeface="Calibri"/>
              </a:rPr>
              <a:t>concentrated, not uniform</a:t>
            </a:r>
            <a:r>
              <a:rPr sz="1450" i="0">
                <a:solidFill>
                  <a:srgbClr val="0B0B0B"/>
                </a:solidFill>
                <a:latin typeface="Calibri"/>
              </a:rPr>
              <a:t>: a clear win on Single-Hop and Multi-Hop; </a:t>
            </a:r>
            <a:r>
              <a:rPr b="1" sz="1450" i="0">
                <a:solidFill>
                  <a:srgbClr val="0B0B0B"/>
                </a:solidFill>
                <a:latin typeface="Calibri"/>
              </a:rPr>
              <a:t>zero measured effect on Temporal questions</a:t>
            </a:r>
            <a:r>
              <a:rPr sz="1450" i="0">
                <a:solidFill>
                  <a:srgbClr val="0B0B0B"/>
                </a:solidFill>
                <a:latin typeface="Calibri"/>
              </a:rPr>
              <a:t> (identical 0.1875 across all 5 policies). Sample sizes here are small — flagged, not hidden.</a:t>
            </a:r>
          </a:p>
        </p:txBody>
      </p:sp>
      <p:sp>
        <p:nvSpPr>
          <p:cNvPr id="7" name="Rectangle 6"/>
          <p:cNvSpPr/>
          <p:nvPr/>
        </p:nvSpPr>
        <p:spPr>
          <a:xfrm>
            <a:off x="0" y="6819900"/>
            <a:ext cx="1219169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5486400" cy="274320"/>
          </a:xfrm>
          <a:prstGeom prst="rect">
            <a:avLst/>
          </a:prstGeom>
          <a:noFill/>
        </p:spPr>
        <p:txBody>
          <a:bodyPr wrap="square" anchor="t" lIns="0" rIns="0" tIns="0" bIns="0">
            <a:spAutoFit/>
          </a:bodyPr>
          <a:lstStyle/>
          <a:p>
            <a:r>
              <a:rPr sz="900" i="0">
                <a:solidFill>
                  <a:srgbClr val="898781"/>
                </a:solidFill>
                <a:latin typeface="Calibri"/>
              </a:rPr>
              <a:t>MemoryLifeBench  ·  Final Project Defense</a:t>
            </a:r>
          </a:p>
        </p:txBody>
      </p:sp>
      <p:sp>
        <p:nvSpPr>
          <p:cNvPr id="9" name="TextBox 8"/>
          <p:cNvSpPr txBox="1"/>
          <p:nvPr/>
        </p:nvSpPr>
        <p:spPr>
          <a:xfrm>
            <a:off x="11002975" y="6510528"/>
            <a:ext cx="731520" cy="274320"/>
          </a:xfrm>
          <a:prstGeom prst="rect">
            <a:avLst/>
          </a:prstGeom>
          <a:noFill/>
        </p:spPr>
        <p:txBody>
          <a:bodyPr wrap="square" anchor="t" lIns="0" rIns="0" tIns="0" bIns="0">
            <a:spAutoFit/>
          </a:bodyPr>
          <a:lstStyle/>
          <a:p>
            <a:pPr algn="r"/>
            <a:r>
              <a:rPr sz="900" i="0">
                <a:solidFill>
                  <a:srgbClr val="898781"/>
                </a:solidFill>
                <a:latin typeface="Calibri"/>
              </a:rPr>
              <a:t>25 / 36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92608"/>
            <a:ext cx="10515600" cy="274320"/>
          </a:xfrm>
          <a:prstGeom prst="rect">
            <a:avLst/>
          </a:prstGeom>
          <a:noFill/>
        </p:spPr>
        <p:txBody>
          <a:bodyPr wrap="square" anchor="t" lIns="0" rIns="0" tIns="0" bIns="0">
            <a:spAutoFit/>
          </a:bodyPr>
          <a:lstStyle/>
          <a:p>
            <a:r>
              <a:rPr sz="1200" i="0" b="1">
                <a:solidFill>
                  <a:srgbClr val="2A78D6"/>
                </a:solidFill>
                <a:latin typeface="Calibri"/>
              </a:rPr>
              <a:t>6 · HONESTY CHECKS</a:t>
            </a:r>
          </a:p>
        </p:txBody>
      </p:sp>
      <p:sp>
        <p:nvSpPr>
          <p:cNvPr id="3" name="TextBox 2"/>
          <p:cNvSpPr txBox="1"/>
          <p:nvPr/>
        </p:nvSpPr>
        <p:spPr>
          <a:xfrm>
            <a:off x="502920" y="566928"/>
            <a:ext cx="11155680" cy="685800"/>
          </a:xfrm>
          <a:prstGeom prst="rect">
            <a:avLst/>
          </a:prstGeom>
          <a:noFill/>
        </p:spPr>
        <p:txBody>
          <a:bodyPr wrap="square" anchor="t" lIns="0" rIns="0" tIns="0" bIns="0">
            <a:spAutoFit/>
          </a:bodyPr>
          <a:lstStyle/>
          <a:p>
            <a:r>
              <a:rPr sz="2800" i="0" b="1">
                <a:solidFill>
                  <a:srgbClr val="0B0B0B"/>
                </a:solidFill>
                <a:latin typeface="Calibri"/>
              </a:rPr>
              <a:t>Is “no-forget” really the ceiling?</a:t>
            </a:r>
          </a:p>
        </p:txBody>
      </p:sp>
      <p:sp>
        <p:nvSpPr>
          <p:cNvPr id="4" name="Rectangle 3"/>
          <p:cNvSpPr/>
          <p:nvPr/>
        </p:nvSpPr>
        <p:spPr>
          <a:xfrm>
            <a:off x="502920" y="1207008"/>
            <a:ext cx="100584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914400" y="1554480"/>
          <a:ext cx="10332720" cy="3566160"/>
        </p:xfrm>
        <a:graphic>
          <a:graphicData uri="http://schemas.openxmlformats.org/drawingml/2006/chart">
            <c:chart xmlns:c="http://schemas.openxmlformats.org/drawingml/2006/chart" r:id="rId2"/>
          </a:graphicData>
        </a:graphic>
      </p:graphicFrame>
      <p:sp>
        <p:nvSpPr>
          <p:cNvPr id="6" name="TextBox 5"/>
          <p:cNvSpPr txBox="1"/>
          <p:nvPr/>
        </p:nvSpPr>
        <p:spPr>
          <a:xfrm>
            <a:off x="914400" y="5394960"/>
            <a:ext cx="10332720" cy="1005840"/>
          </a:xfrm>
          <a:prstGeom prst="rect">
            <a:avLst/>
          </a:prstGeom>
          <a:noFill/>
        </p:spPr>
        <p:txBody>
          <a:bodyPr wrap="square" anchor="t" lIns="0" rIns="0" tIns="0" bIns="0">
            <a:spAutoFit/>
          </a:bodyPr>
          <a:lstStyle/>
          <a:p>
            <a:r>
              <a:rPr sz="1500" i="0">
                <a:solidFill>
                  <a:srgbClr val="0B0B0B"/>
                </a:solidFill>
                <a:latin typeface="Calibri"/>
              </a:rPr>
              <a:t>LoCoMo, N=107 (matched). </a:t>
            </a:r>
            <a:r>
              <a:rPr b="1" sz="1500" i="0">
                <a:solidFill>
                  <a:srgbClr val="0B0B0B"/>
                </a:solidFill>
                <a:latin typeface="Calibri"/>
              </a:rPr>
              <a:t>Oracle significantly beats no_forget</a:t>
            </a:r>
            <a:r>
              <a:rPr sz="1500" i="0">
                <a:solidFill>
                  <a:srgbClr val="0B0B0B"/>
                </a:solidFill>
                <a:latin typeface="Calibri"/>
              </a:rPr>
              <a:t>: F1 +0.1416, p&lt;0.0001. Retrieval quality — not eviction policy — is a real, independent bottleneck this paper does not fix.</a:t>
            </a:r>
          </a:p>
        </p:txBody>
      </p:sp>
      <p:sp>
        <p:nvSpPr>
          <p:cNvPr id="7" name="Rectangle 6"/>
          <p:cNvSpPr/>
          <p:nvPr/>
        </p:nvSpPr>
        <p:spPr>
          <a:xfrm>
            <a:off x="0" y="6819900"/>
            <a:ext cx="1219169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5486400" cy="274320"/>
          </a:xfrm>
          <a:prstGeom prst="rect">
            <a:avLst/>
          </a:prstGeom>
          <a:noFill/>
        </p:spPr>
        <p:txBody>
          <a:bodyPr wrap="square" anchor="t" lIns="0" rIns="0" tIns="0" bIns="0">
            <a:spAutoFit/>
          </a:bodyPr>
          <a:lstStyle/>
          <a:p>
            <a:r>
              <a:rPr sz="900" i="0">
                <a:solidFill>
                  <a:srgbClr val="898781"/>
                </a:solidFill>
                <a:latin typeface="Calibri"/>
              </a:rPr>
              <a:t>MemoryLifeBench  ·  Final Project Defense</a:t>
            </a:r>
          </a:p>
        </p:txBody>
      </p:sp>
      <p:sp>
        <p:nvSpPr>
          <p:cNvPr id="9" name="TextBox 8"/>
          <p:cNvSpPr txBox="1"/>
          <p:nvPr/>
        </p:nvSpPr>
        <p:spPr>
          <a:xfrm>
            <a:off x="11002975" y="6510528"/>
            <a:ext cx="731520" cy="274320"/>
          </a:xfrm>
          <a:prstGeom prst="rect">
            <a:avLst/>
          </a:prstGeom>
          <a:noFill/>
        </p:spPr>
        <p:txBody>
          <a:bodyPr wrap="square" anchor="t" lIns="0" rIns="0" tIns="0" bIns="0">
            <a:spAutoFit/>
          </a:bodyPr>
          <a:lstStyle/>
          <a:p>
            <a:pPr algn="r"/>
            <a:r>
              <a:rPr sz="900" i="0">
                <a:solidFill>
                  <a:srgbClr val="898781"/>
                </a:solidFill>
                <a:latin typeface="Calibri"/>
              </a:rPr>
              <a:t>26 / 36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92608"/>
            <a:ext cx="10515600" cy="274320"/>
          </a:xfrm>
          <a:prstGeom prst="rect">
            <a:avLst/>
          </a:prstGeom>
          <a:noFill/>
        </p:spPr>
        <p:txBody>
          <a:bodyPr wrap="square" anchor="t" lIns="0" rIns="0" tIns="0" bIns="0">
            <a:spAutoFit/>
          </a:bodyPr>
          <a:lstStyle/>
          <a:p>
            <a:r>
              <a:rPr sz="1200" i="0" b="1">
                <a:solidFill>
                  <a:srgbClr val="2A78D6"/>
                </a:solidFill>
                <a:latin typeface="Calibri"/>
              </a:rPr>
              <a:t>6 · HONESTY CHECKS</a:t>
            </a:r>
          </a:p>
        </p:txBody>
      </p:sp>
      <p:sp>
        <p:nvSpPr>
          <p:cNvPr id="3" name="TextBox 2"/>
          <p:cNvSpPr txBox="1"/>
          <p:nvPr/>
        </p:nvSpPr>
        <p:spPr>
          <a:xfrm>
            <a:off x="502920" y="566928"/>
            <a:ext cx="11155680" cy="685800"/>
          </a:xfrm>
          <a:prstGeom prst="rect">
            <a:avLst/>
          </a:prstGeom>
          <a:noFill/>
        </p:spPr>
        <p:txBody>
          <a:bodyPr wrap="square" anchor="t" lIns="0" rIns="0" tIns="0" bIns="0">
            <a:spAutoFit/>
          </a:bodyPr>
          <a:lstStyle/>
          <a:p>
            <a:r>
              <a:rPr sz="2800" i="0" b="1">
                <a:solidFill>
                  <a:srgbClr val="0B0B0B"/>
                </a:solidFill>
                <a:latin typeface="Calibri"/>
              </a:rPr>
              <a:t>A real, independent memory system: Mem0</a:t>
            </a:r>
          </a:p>
        </p:txBody>
      </p:sp>
      <p:sp>
        <p:nvSpPr>
          <p:cNvPr id="4" name="Rectangle 3"/>
          <p:cNvSpPr/>
          <p:nvPr/>
        </p:nvSpPr>
        <p:spPr>
          <a:xfrm>
            <a:off x="502920" y="1207008"/>
            <a:ext cx="100584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822960" y="1554480"/>
          <a:ext cx="10515600" cy="3200400"/>
        </p:xfrm>
        <a:graphic>
          <a:graphicData uri="http://schemas.openxmlformats.org/drawingml/2006/chart">
            <c:chart xmlns:c="http://schemas.openxmlformats.org/drawingml/2006/chart" r:id="rId2"/>
          </a:graphicData>
        </a:graphic>
      </p:graphicFrame>
      <p:sp>
        <p:nvSpPr>
          <p:cNvPr id="6" name="TextBox 5"/>
          <p:cNvSpPr txBox="1"/>
          <p:nvPr/>
        </p:nvSpPr>
        <p:spPr>
          <a:xfrm>
            <a:off x="822960" y="4800600"/>
            <a:ext cx="10515600" cy="274320"/>
          </a:xfrm>
          <a:prstGeom prst="rect">
            <a:avLst/>
          </a:prstGeom>
          <a:noFill/>
        </p:spPr>
        <p:txBody>
          <a:bodyPr wrap="square" anchor="t" lIns="0" rIns="0" tIns="0" bIns="0">
            <a:spAutoFit/>
          </a:bodyPr>
          <a:lstStyle/>
          <a:p>
            <a:r>
              <a:rPr sz="1050" i="1">
                <a:solidFill>
                  <a:srgbClr val="898781"/>
                </a:solidFill>
                <a:latin typeface="Calibri"/>
              </a:rPr>
              <a:t>Mean F1, N=120 LoCoMo questions, real GPT-4o-scored answers.</a:t>
            </a:r>
          </a:p>
        </p:txBody>
      </p:sp>
      <p:sp>
        <p:nvSpPr>
          <p:cNvPr id="7" name="TextBox 6"/>
          <p:cNvSpPr txBox="1"/>
          <p:nvPr/>
        </p:nvSpPr>
        <p:spPr>
          <a:xfrm>
            <a:off x="822960" y="5074920"/>
            <a:ext cx="10515600" cy="1371600"/>
          </a:xfrm>
          <a:prstGeom prst="rect">
            <a:avLst/>
          </a:prstGeom>
          <a:noFill/>
        </p:spPr>
        <p:txBody>
          <a:bodyPr wrap="square" anchor="t" lIns="0" rIns="0" tIns="0" bIns="0">
            <a:spAutoFit/>
          </a:bodyPr>
          <a:lstStyle/>
          <a:p>
            <a:r>
              <a:rPr sz="1500" i="0">
                <a:solidFill>
                  <a:srgbClr val="0B0B0B"/>
                </a:solidFill>
                <a:latin typeface="Calibri"/>
              </a:rPr>
              <a:t>Bootstrap significance: mem0 is </a:t>
            </a:r>
            <a:r>
              <a:rPr b="1" sz="1500" i="0">
                <a:solidFill>
                  <a:srgbClr val="0B0B0B"/>
                </a:solidFill>
                <a:latin typeface="Calibri"/>
              </a:rPr>
              <a:t>statistically tied</a:t>
            </a:r>
            <a:r>
              <a:rPr sz="1500" i="0">
                <a:solidFill>
                  <a:srgbClr val="0B0B0B"/>
                </a:solidFill>
                <a:latin typeface="Calibri"/>
              </a:rPr>
              <a:t> with no_forget, ours_utility, and lru (all p&gt;0.13) — not proven superior. It significantly beats fifo (p&lt;0.001) and the original ours policy (p=0.005).</a:t>
            </a:r>
          </a:p>
          <a:p>
            <a:pPr>
              <a:spcBef>
                <a:spcPts val="600"/>
              </a:spcBef>
            </a:pPr>
            <a:r>
              <a:rPr sz="1400" i="1">
                <a:solidFill>
                  <a:srgbClr val="52514E"/>
                </a:solidFill>
                <a:latin typeface="Calibri"/>
              </a:rPr>
              <a:t>Reported as measured — including that Mem0 used a weaker local extraction model, a budget-forced handicap in Mem0's favor to correct for, not against.</a:t>
            </a:r>
          </a:p>
        </p:txBody>
      </p:sp>
      <p:sp>
        <p:nvSpPr>
          <p:cNvPr id="8" name="Rectangle 7"/>
          <p:cNvSpPr/>
          <p:nvPr/>
        </p:nvSpPr>
        <p:spPr>
          <a:xfrm>
            <a:off x="0" y="6819900"/>
            <a:ext cx="1219169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10528"/>
            <a:ext cx="5486400" cy="274320"/>
          </a:xfrm>
          <a:prstGeom prst="rect">
            <a:avLst/>
          </a:prstGeom>
          <a:noFill/>
        </p:spPr>
        <p:txBody>
          <a:bodyPr wrap="square" anchor="t" lIns="0" rIns="0" tIns="0" bIns="0">
            <a:spAutoFit/>
          </a:bodyPr>
          <a:lstStyle/>
          <a:p>
            <a:r>
              <a:rPr sz="900" i="0">
                <a:solidFill>
                  <a:srgbClr val="898781"/>
                </a:solidFill>
                <a:latin typeface="Calibri"/>
              </a:rPr>
              <a:t>MemoryLifeBench  ·  Final Project Defense</a:t>
            </a:r>
          </a:p>
        </p:txBody>
      </p:sp>
      <p:sp>
        <p:nvSpPr>
          <p:cNvPr id="10" name="TextBox 9"/>
          <p:cNvSpPr txBox="1"/>
          <p:nvPr/>
        </p:nvSpPr>
        <p:spPr>
          <a:xfrm>
            <a:off x="11002975" y="6510528"/>
            <a:ext cx="731520" cy="274320"/>
          </a:xfrm>
          <a:prstGeom prst="rect">
            <a:avLst/>
          </a:prstGeom>
          <a:noFill/>
        </p:spPr>
        <p:txBody>
          <a:bodyPr wrap="square" anchor="t" lIns="0" rIns="0" tIns="0" bIns="0">
            <a:spAutoFit/>
          </a:bodyPr>
          <a:lstStyle/>
          <a:p>
            <a:pPr algn="r"/>
            <a:r>
              <a:rPr sz="900" i="0">
                <a:solidFill>
                  <a:srgbClr val="898781"/>
                </a:solidFill>
                <a:latin typeface="Calibri"/>
              </a:rPr>
              <a:t>27 / 36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92608"/>
            <a:ext cx="10515600" cy="274320"/>
          </a:xfrm>
          <a:prstGeom prst="rect">
            <a:avLst/>
          </a:prstGeom>
          <a:noFill/>
        </p:spPr>
        <p:txBody>
          <a:bodyPr wrap="square" anchor="t" lIns="0" rIns="0" tIns="0" bIns="0">
            <a:spAutoFit/>
          </a:bodyPr>
          <a:lstStyle/>
          <a:p>
            <a:r>
              <a:rPr sz="1200" i="0" b="1">
                <a:solidFill>
                  <a:srgbClr val="2A78D6"/>
                </a:solidFill>
                <a:latin typeface="Calibri"/>
              </a:rPr>
              <a:t>7 · LIMITATIONS</a:t>
            </a:r>
          </a:p>
        </p:txBody>
      </p:sp>
      <p:sp>
        <p:nvSpPr>
          <p:cNvPr id="3" name="TextBox 2"/>
          <p:cNvSpPr txBox="1"/>
          <p:nvPr/>
        </p:nvSpPr>
        <p:spPr>
          <a:xfrm>
            <a:off x="502920" y="566928"/>
            <a:ext cx="11155680" cy="685800"/>
          </a:xfrm>
          <a:prstGeom prst="rect">
            <a:avLst/>
          </a:prstGeom>
          <a:noFill/>
        </p:spPr>
        <p:txBody>
          <a:bodyPr wrap="square" anchor="t" lIns="0" rIns="0" tIns="0" bIns="0">
            <a:spAutoFit/>
          </a:bodyPr>
          <a:lstStyle/>
          <a:p>
            <a:r>
              <a:rPr sz="2800" i="0" b="1">
                <a:solidFill>
                  <a:srgbClr val="0B0B0B"/>
                </a:solidFill>
                <a:latin typeface="Calibri"/>
              </a:rPr>
              <a:t>Stated directly, not deferred to an appendix</a:t>
            </a:r>
          </a:p>
        </p:txBody>
      </p:sp>
      <p:sp>
        <p:nvSpPr>
          <p:cNvPr id="4" name="Rectangle 3"/>
          <p:cNvSpPr/>
          <p:nvPr/>
        </p:nvSpPr>
        <p:spPr>
          <a:xfrm>
            <a:off x="502920" y="1207008"/>
            <a:ext cx="100584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10607040" cy="4389120"/>
          </a:xfrm>
          <a:prstGeom prst="rect">
            <a:avLst/>
          </a:prstGeom>
          <a:noFill/>
        </p:spPr>
        <p:txBody>
          <a:bodyPr wrap="square" anchor="t" lIns="0" rIns="0" tIns="0" bIns="0">
            <a:spAutoFit/>
          </a:bodyPr>
          <a:lstStyle/>
          <a:p>
            <a:pPr>
              <a:spcAft>
                <a:spcPts val="1600"/>
              </a:spcAft>
            </a:pPr>
            <a:r>
              <a:rPr sz="1650" i="0">
                <a:solidFill>
                  <a:srgbClr val="0B0B0B"/>
                </a:solidFill>
                <a:latin typeface="Calibri"/>
              </a:rPr>
              <a:t>▪  Mem0 comparison used a weaker local LLM for its own extraction, forced by budget — not a fairness advantage</a:t>
            </a:r>
          </a:p>
          <a:p>
            <a:pPr>
              <a:spcAft>
                <a:spcPts val="1600"/>
              </a:spcAft>
            </a:pPr>
            <a:r>
              <a:rPr sz="1650" i="0">
                <a:solidFill>
                  <a:srgbClr val="0B0B0B"/>
                </a:solidFill>
                <a:latin typeface="Calibri"/>
              </a:rPr>
              <a:t>▪  Retrieval quality, not just eviction policy, is a real, unaddressed bottleneck (the Oracle result)</a:t>
            </a:r>
          </a:p>
          <a:p>
            <a:pPr>
              <a:spcAft>
                <a:spcPts val="1600"/>
              </a:spcAft>
            </a:pPr>
            <a:r>
              <a:rPr sz="1650" i="0">
                <a:solidFill>
                  <a:srgbClr val="0B0B0B"/>
                </a:solidFill>
                <a:latin typeface="Calibri"/>
              </a:rPr>
              <a:t>▪  The censoring convention for real conversations is a judgment call with no ground-truth alternative</a:t>
            </a:r>
          </a:p>
          <a:p>
            <a:pPr>
              <a:spcAft>
                <a:spcPts val="1600"/>
              </a:spcAft>
            </a:pPr>
            <a:r>
              <a:rPr sz="1650" i="0">
                <a:solidFill>
                  <a:srgbClr val="0B0B0B"/>
                </a:solidFill>
                <a:latin typeface="Calibri"/>
              </a:rPr>
              <a:t>▪  `ours_utility` vs. `lru` is not statistically significant at n=120 real LLM-scored questions</a:t>
            </a:r>
          </a:p>
          <a:p>
            <a:pPr>
              <a:spcAft>
                <a:spcPts val="1600"/>
              </a:spcAft>
            </a:pPr>
            <a:r>
              <a:rPr sz="1650" i="0">
                <a:solidFill>
                  <a:srgbClr val="0B0B0B"/>
                </a:solidFill>
                <a:latin typeface="Calibri"/>
              </a:rPr>
              <a:t>▪  The Importance head is a documented heuristic, not learned — no ground-truth label exists</a:t>
            </a:r>
          </a:p>
          <a:p>
            <a:pPr>
              <a:spcAft>
                <a:spcPts val="1600"/>
              </a:spcAft>
            </a:pPr>
            <a:r>
              <a:rPr sz="1650" i="0">
                <a:solidFill>
                  <a:srgbClr val="0B0B0B"/>
                </a:solidFill>
                <a:latin typeface="Calibri"/>
              </a:rPr>
              <a:t>▪  No human validation of extracted labels has been performed; all labels are programmatically derived</a:t>
            </a:r>
          </a:p>
        </p:txBody>
      </p:sp>
      <p:sp>
        <p:nvSpPr>
          <p:cNvPr id="6" name="Rectangle 5"/>
          <p:cNvSpPr/>
          <p:nvPr/>
        </p:nvSpPr>
        <p:spPr>
          <a:xfrm>
            <a:off x="0" y="6819900"/>
            <a:ext cx="1219169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486400" cy="274320"/>
          </a:xfrm>
          <a:prstGeom prst="rect">
            <a:avLst/>
          </a:prstGeom>
          <a:noFill/>
        </p:spPr>
        <p:txBody>
          <a:bodyPr wrap="square" anchor="t" lIns="0" rIns="0" tIns="0" bIns="0">
            <a:spAutoFit/>
          </a:bodyPr>
          <a:lstStyle/>
          <a:p>
            <a:r>
              <a:rPr sz="900" i="0">
                <a:solidFill>
                  <a:srgbClr val="898781"/>
                </a:solidFill>
                <a:latin typeface="Calibri"/>
              </a:rPr>
              <a:t>MemoryLifeBench  ·  Final Project Defense</a:t>
            </a:r>
          </a:p>
        </p:txBody>
      </p:sp>
      <p:sp>
        <p:nvSpPr>
          <p:cNvPr id="8" name="TextBox 7"/>
          <p:cNvSpPr txBox="1"/>
          <p:nvPr/>
        </p:nvSpPr>
        <p:spPr>
          <a:xfrm>
            <a:off x="11002975" y="6510528"/>
            <a:ext cx="731520" cy="274320"/>
          </a:xfrm>
          <a:prstGeom prst="rect">
            <a:avLst/>
          </a:prstGeom>
          <a:noFill/>
        </p:spPr>
        <p:txBody>
          <a:bodyPr wrap="square" anchor="t" lIns="0" rIns="0" tIns="0" bIns="0">
            <a:spAutoFit/>
          </a:bodyPr>
          <a:lstStyle/>
          <a:p>
            <a:pPr algn="r"/>
            <a:r>
              <a:rPr sz="900" i="0">
                <a:solidFill>
                  <a:srgbClr val="898781"/>
                </a:solidFill>
                <a:latin typeface="Calibri"/>
              </a:rPr>
              <a:t>28 / 36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A78D6"/>
        </a:solidFill>
        <a:effectLst/>
      </p:bgPr>
    </p:bg>
    <p:spTree>
      <p:nvGrpSpPr>
        <p:cNvPr id="1" name=""/>
        <p:cNvGrpSpPr/>
        <p:nvPr/>
      </p:nvGrpSpPr>
      <p:grpSpPr/>
      <p:sp>
        <p:nvSpPr>
          <p:cNvPr id="2" name="TextBox 1"/>
          <p:cNvSpPr txBox="1"/>
          <p:nvPr/>
        </p:nvSpPr>
        <p:spPr>
          <a:xfrm>
            <a:off x="914400" y="914400"/>
            <a:ext cx="10332720" cy="548640"/>
          </a:xfrm>
          <a:prstGeom prst="rect">
            <a:avLst/>
          </a:prstGeom>
          <a:noFill/>
        </p:spPr>
        <p:txBody>
          <a:bodyPr wrap="square" anchor="t" lIns="0" rIns="0" tIns="0" bIns="0">
            <a:spAutoFit/>
          </a:bodyPr>
          <a:lstStyle/>
          <a:p>
            <a:r>
              <a:rPr sz="1400" i="0" b="1">
                <a:solidFill>
                  <a:srgbClr val="CDE2FB"/>
                </a:solidFill>
                <a:latin typeface="Calibri"/>
              </a:rPr>
              <a:t>CONCLUSION</a:t>
            </a:r>
          </a:p>
        </p:txBody>
      </p:sp>
      <p:sp>
        <p:nvSpPr>
          <p:cNvPr id="3" name="TextBox 2"/>
          <p:cNvSpPr txBox="1"/>
          <p:nvPr/>
        </p:nvSpPr>
        <p:spPr>
          <a:xfrm>
            <a:off x="914400" y="1371600"/>
            <a:ext cx="10332720" cy="4389120"/>
          </a:xfrm>
          <a:prstGeom prst="rect">
            <a:avLst/>
          </a:prstGeom>
          <a:noFill/>
        </p:spPr>
        <p:txBody>
          <a:bodyPr wrap="square" anchor="t" lIns="0" rIns="0" tIns="0" bIns="0">
            <a:spAutoFit/>
          </a:bodyPr>
          <a:lstStyle/>
          <a:p>
            <a:r>
              <a:rPr sz="2700" i="0" b="1">
                <a:solidFill>
                  <a:srgbClr val="FFFFFF"/>
                </a:solidFill>
                <a:latin typeface="Calibri"/>
              </a:rPr>
              <a:t>Ranking quality alone did not guarantee a good deployed policy.</a:t>
            </a:r>
          </a:p>
          <a:p>
            <a:pPr>
              <a:spcBef>
                <a:spcPts val="1600"/>
              </a:spcBef>
            </a:pPr>
            <a:r>
              <a:rPr sz="1700" i="0">
                <a:solidFill>
                  <a:srgbClr val="E3EEFB"/>
                </a:solidFill>
                <a:latin typeface="Calibri"/>
              </a:rPr>
              <a:t>A downstream test caught what the ranking metric structurally could not. The fix that worked was not a bigger model — it was validating the actual deployed decision, not just the metric the model was trained on.</a:t>
            </a:r>
          </a:p>
          <a:p>
            <a:pPr>
              <a:spcBef>
                <a:spcPts val="1000"/>
              </a:spcBef>
            </a:pPr>
            <a:r>
              <a:rPr sz="1700" i="0">
                <a:solidFill>
                  <a:srgbClr val="E3EEFB"/>
                </a:solidFill>
                <a:latin typeface="Calibri"/>
              </a:rPr>
              <a:t>Two honesty checks — an Oracle ceiling and a real Mem0 comparison — kept this conclusion from overselling itself.</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92608"/>
            <a:ext cx="10515600" cy="274320"/>
          </a:xfrm>
          <a:prstGeom prst="rect">
            <a:avLst/>
          </a:prstGeom>
          <a:noFill/>
        </p:spPr>
        <p:txBody>
          <a:bodyPr wrap="square" anchor="t" lIns="0" rIns="0" tIns="0" bIns="0">
            <a:spAutoFit/>
          </a:bodyPr>
          <a:lstStyle/>
          <a:p>
            <a:r>
              <a:rPr sz="1200" i="0" b="1">
                <a:solidFill>
                  <a:srgbClr val="2A78D6"/>
                </a:solidFill>
                <a:latin typeface="Calibri"/>
              </a:rPr>
              <a:t>REFERENCES</a:t>
            </a:r>
          </a:p>
        </p:txBody>
      </p:sp>
      <p:sp>
        <p:nvSpPr>
          <p:cNvPr id="3" name="TextBox 2"/>
          <p:cNvSpPr txBox="1"/>
          <p:nvPr/>
        </p:nvSpPr>
        <p:spPr>
          <a:xfrm>
            <a:off x="502920" y="566928"/>
            <a:ext cx="11155680" cy="685800"/>
          </a:xfrm>
          <a:prstGeom prst="rect">
            <a:avLst/>
          </a:prstGeom>
          <a:noFill/>
        </p:spPr>
        <p:txBody>
          <a:bodyPr wrap="square" anchor="t" lIns="0" rIns="0" tIns="0" bIns="0">
            <a:spAutoFit/>
          </a:bodyPr>
          <a:lstStyle/>
          <a:p>
            <a:r>
              <a:rPr sz="2600" i="0" b="1">
                <a:solidFill>
                  <a:srgbClr val="0B0B0B"/>
                </a:solidFill>
                <a:latin typeface="Calibri"/>
              </a:rPr>
              <a:t>Key references</a:t>
            </a:r>
          </a:p>
        </p:txBody>
      </p:sp>
      <p:sp>
        <p:nvSpPr>
          <p:cNvPr id="4" name="Rectangle 3"/>
          <p:cNvSpPr/>
          <p:nvPr/>
        </p:nvSpPr>
        <p:spPr>
          <a:xfrm>
            <a:off x="502920" y="1207008"/>
            <a:ext cx="100584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10607040" cy="4389120"/>
          </a:xfrm>
          <a:prstGeom prst="rect">
            <a:avLst/>
          </a:prstGeom>
          <a:noFill/>
        </p:spPr>
        <p:txBody>
          <a:bodyPr wrap="square" anchor="t" lIns="0" rIns="0" tIns="0" bIns="0">
            <a:spAutoFit/>
          </a:bodyPr>
          <a:lstStyle/>
          <a:p>
            <a:pPr>
              <a:spcAft>
                <a:spcPts val="1200"/>
              </a:spcAft>
            </a:pPr>
            <a:r>
              <a:rPr sz="1350" i="0">
                <a:solidFill>
                  <a:srgbClr val="0B0B0B"/>
                </a:solidFill>
                <a:latin typeface="Calibri"/>
              </a:rPr>
              <a:t>▪  Chhikara, P. et al. (2025). Mem0: Building Production-Ready AI Agents with Scalable Long-Term Memory. arXiv:2504.19413.</a:t>
            </a:r>
          </a:p>
          <a:p>
            <a:pPr>
              <a:spcAft>
                <a:spcPts val="1200"/>
              </a:spcAft>
            </a:pPr>
            <a:r>
              <a:rPr sz="1350" i="0">
                <a:solidFill>
                  <a:srgbClr val="0B0B0B"/>
                </a:solidFill>
                <a:latin typeface="Calibri"/>
              </a:rPr>
              <a:t>▪  Cox, D. R. (1972). Regression Models and Life-Tables. JRSS Series B, 34(2), 187-220.</a:t>
            </a:r>
          </a:p>
          <a:p>
            <a:pPr>
              <a:spcAft>
                <a:spcPts val="1200"/>
              </a:spcAft>
            </a:pPr>
            <a:r>
              <a:rPr sz="1350" i="0">
                <a:solidFill>
                  <a:srgbClr val="0B0B0B"/>
                </a:solidFill>
                <a:latin typeface="Calibri"/>
              </a:rPr>
              <a:t>▪  Maharana, A. et al. (2024). Evaluating Very Long-Term Conversational Memory of LLM Agents (LoCoMo). arXiv:2402.17753.</a:t>
            </a:r>
          </a:p>
          <a:p>
            <a:pPr>
              <a:spcAft>
                <a:spcPts val="1200"/>
              </a:spcAft>
            </a:pPr>
            <a:r>
              <a:rPr sz="1350" i="0">
                <a:solidFill>
                  <a:srgbClr val="0B0B0B"/>
                </a:solidFill>
                <a:latin typeface="Calibri"/>
              </a:rPr>
              <a:t>▪  Packer, C. et al. (2023). MemGPT: Towards LLMs as Operating Systems. arXiv:2310.08560.</a:t>
            </a:r>
          </a:p>
          <a:p>
            <a:pPr>
              <a:spcAft>
                <a:spcPts val="1200"/>
              </a:spcAft>
            </a:pPr>
            <a:r>
              <a:rPr sz="1350" i="0">
                <a:solidFill>
                  <a:srgbClr val="0B0B0B"/>
                </a:solidFill>
                <a:latin typeface="Calibri"/>
              </a:rPr>
              <a:t>▪  Park, J. S. et al. (2023). Generative Agents: Interactive Simulacra of Human Behavior.</a:t>
            </a:r>
          </a:p>
          <a:p>
            <a:pPr>
              <a:spcAft>
                <a:spcPts val="1200"/>
              </a:spcAft>
            </a:pPr>
            <a:r>
              <a:rPr sz="1350" i="0">
                <a:solidFill>
                  <a:srgbClr val="0B0B0B"/>
                </a:solidFill>
                <a:latin typeface="Calibri"/>
              </a:rPr>
              <a:t>▪  Shu, Y. et al. (2026). REMem: Reasoning with Episodic Memory in Language Agents. ICLR 2026, arXiv:2602.13530.</a:t>
            </a:r>
          </a:p>
          <a:p>
            <a:pPr>
              <a:spcAft>
                <a:spcPts val="1200"/>
              </a:spcAft>
            </a:pPr>
            <a:r>
              <a:rPr sz="1350" i="0">
                <a:solidFill>
                  <a:srgbClr val="0B0B0B"/>
                </a:solidFill>
                <a:latin typeface="Calibri"/>
              </a:rPr>
              <a:t>▪  Wu, D. et al. (2024). LongMemEval: Benchmarking Chat Assistants on Long-Term Interactive Memory. arXiv:2410.10813.</a:t>
            </a:r>
          </a:p>
          <a:p>
            <a:pPr>
              <a:spcAft>
                <a:spcPts val="1200"/>
              </a:spcAft>
            </a:pPr>
            <a:r>
              <a:rPr sz="1350" i="0">
                <a:solidFill>
                  <a:srgbClr val="0B0B0B"/>
                </a:solidFill>
                <a:latin typeface="Calibri"/>
              </a:rPr>
              <a:t>▪  Full reference list (14 entries) in the accompanying manuscript.</a:t>
            </a:r>
          </a:p>
        </p:txBody>
      </p:sp>
      <p:sp>
        <p:nvSpPr>
          <p:cNvPr id="6" name="Rectangle 5"/>
          <p:cNvSpPr/>
          <p:nvPr/>
        </p:nvSpPr>
        <p:spPr>
          <a:xfrm>
            <a:off x="0" y="6819900"/>
            <a:ext cx="1219169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486400" cy="274320"/>
          </a:xfrm>
          <a:prstGeom prst="rect">
            <a:avLst/>
          </a:prstGeom>
          <a:noFill/>
        </p:spPr>
        <p:txBody>
          <a:bodyPr wrap="square" anchor="t" lIns="0" rIns="0" tIns="0" bIns="0">
            <a:spAutoFit/>
          </a:bodyPr>
          <a:lstStyle/>
          <a:p>
            <a:r>
              <a:rPr sz="900" i="0">
                <a:solidFill>
                  <a:srgbClr val="898781"/>
                </a:solidFill>
                <a:latin typeface="Calibri"/>
              </a:rPr>
              <a:t>MemoryLifeBench  ·  Final Project Defense</a:t>
            </a:r>
          </a:p>
        </p:txBody>
      </p:sp>
      <p:sp>
        <p:nvSpPr>
          <p:cNvPr id="8" name="TextBox 7"/>
          <p:cNvSpPr txBox="1"/>
          <p:nvPr/>
        </p:nvSpPr>
        <p:spPr>
          <a:xfrm>
            <a:off x="11002975" y="6510528"/>
            <a:ext cx="731520" cy="274320"/>
          </a:xfrm>
          <a:prstGeom prst="rect">
            <a:avLst/>
          </a:prstGeom>
          <a:noFill/>
        </p:spPr>
        <p:txBody>
          <a:bodyPr wrap="square" anchor="t" lIns="0" rIns="0" tIns="0" bIns="0">
            <a:spAutoFit/>
          </a:bodyPr>
          <a:lstStyle/>
          <a:p>
            <a:pPr algn="r"/>
            <a:r>
              <a:rPr sz="900" i="0">
                <a:solidFill>
                  <a:srgbClr val="898781"/>
                </a:solidFill>
                <a:latin typeface="Calibri"/>
              </a:rPr>
              <a:t>30 / 36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9984"/>
            <a:ext cx="12191695" cy="12801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651760"/>
            <a:ext cx="10332720" cy="1097280"/>
          </a:xfrm>
          <a:prstGeom prst="rect">
            <a:avLst/>
          </a:prstGeom>
          <a:noFill/>
        </p:spPr>
        <p:txBody>
          <a:bodyPr wrap="square" anchor="t" lIns="0" rIns="0" tIns="0" bIns="0">
            <a:spAutoFit/>
          </a:bodyPr>
          <a:lstStyle/>
          <a:p>
            <a:r>
              <a:rPr sz="4000" i="0" b="1">
                <a:solidFill>
                  <a:srgbClr val="0B0B0B"/>
                </a:solidFill>
                <a:latin typeface="Calibri"/>
              </a:rPr>
              <a:t>Thank you.</a:t>
            </a:r>
          </a:p>
          <a:p>
            <a:pPr>
              <a:spcBef>
                <a:spcPts val="1000"/>
              </a:spcBef>
            </a:pPr>
            <a:r>
              <a:rPr sz="2200" i="0">
                <a:solidFill>
                  <a:srgbClr val="52514E"/>
                </a:solidFill>
                <a:latin typeface="Calibri"/>
              </a:rPr>
              <a:t>Questions?</a:t>
            </a:r>
          </a:p>
        </p:txBody>
      </p:sp>
      <p:sp>
        <p:nvSpPr>
          <p:cNvPr id="5" name="TextBox 4"/>
          <p:cNvSpPr txBox="1"/>
          <p:nvPr/>
        </p:nvSpPr>
        <p:spPr>
          <a:xfrm>
            <a:off x="914400" y="4206240"/>
            <a:ext cx="10332720" cy="548640"/>
          </a:xfrm>
          <a:prstGeom prst="rect">
            <a:avLst/>
          </a:prstGeom>
          <a:noFill/>
        </p:spPr>
        <p:txBody>
          <a:bodyPr wrap="square" anchor="t" lIns="0" rIns="0" tIns="0" bIns="0">
            <a:spAutoFit/>
          </a:bodyPr>
          <a:lstStyle/>
          <a:p>
            <a:r>
              <a:rPr sz="1300" i="0">
                <a:solidFill>
                  <a:srgbClr val="898781"/>
                </a:solidFill>
                <a:latin typeface="Calibri"/>
              </a:rPr>
              <a:t>Code, data, and full paper: github.com/frustratedengineer-gif/pgp</a:t>
            </a:r>
          </a:p>
        </p:txBody>
      </p:sp>
      <p:sp>
        <p:nvSpPr>
          <p:cNvPr id="6" name="Rectangle 5"/>
          <p:cNvSpPr/>
          <p:nvPr/>
        </p:nvSpPr>
        <p:spPr>
          <a:xfrm>
            <a:off x="0" y="6819900"/>
            <a:ext cx="1219169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486400" cy="274320"/>
          </a:xfrm>
          <a:prstGeom prst="rect">
            <a:avLst/>
          </a:prstGeom>
          <a:noFill/>
        </p:spPr>
        <p:txBody>
          <a:bodyPr wrap="square" anchor="t" lIns="0" rIns="0" tIns="0" bIns="0">
            <a:spAutoFit/>
          </a:bodyPr>
          <a:lstStyle/>
          <a:p>
            <a:r>
              <a:rPr sz="900" i="0">
                <a:solidFill>
                  <a:srgbClr val="898781"/>
                </a:solidFill>
                <a:latin typeface="Calibri"/>
              </a:rPr>
              <a:t>MemoryLifeBench  ·  Final Project Defense</a:t>
            </a:r>
          </a:p>
        </p:txBody>
      </p:sp>
      <p:sp>
        <p:nvSpPr>
          <p:cNvPr id="8" name="TextBox 7"/>
          <p:cNvSpPr txBox="1"/>
          <p:nvPr/>
        </p:nvSpPr>
        <p:spPr>
          <a:xfrm>
            <a:off x="11002975" y="6510528"/>
            <a:ext cx="731520" cy="274320"/>
          </a:xfrm>
          <a:prstGeom prst="rect">
            <a:avLst/>
          </a:prstGeom>
          <a:noFill/>
        </p:spPr>
        <p:txBody>
          <a:bodyPr wrap="square" anchor="t" lIns="0" rIns="0" tIns="0" bIns="0">
            <a:spAutoFit/>
          </a:bodyPr>
          <a:lstStyle/>
          <a:p>
            <a:pPr algn="r"/>
            <a:r>
              <a:rPr sz="900" i="0">
                <a:solidFill>
                  <a:srgbClr val="898781"/>
                </a:solidFill>
                <a:latin typeface="Calibri"/>
              </a:rPr>
              <a:t>31 / 36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B0B0B"/>
        </a:solidFill>
        <a:effectLst/>
      </p:bgPr>
    </p:bg>
    <p:spTree>
      <p:nvGrpSpPr>
        <p:cNvPr id="1" name=""/>
        <p:cNvGrpSpPr/>
        <p:nvPr/>
      </p:nvGrpSpPr>
      <p:grpSpPr/>
      <p:sp>
        <p:nvSpPr>
          <p:cNvPr id="2" name="TextBox 1"/>
          <p:cNvSpPr txBox="1"/>
          <p:nvPr/>
        </p:nvSpPr>
        <p:spPr>
          <a:xfrm>
            <a:off x="914400" y="2926080"/>
            <a:ext cx="10332720" cy="1097280"/>
          </a:xfrm>
          <a:prstGeom prst="rect">
            <a:avLst/>
          </a:prstGeom>
          <a:noFill/>
        </p:spPr>
        <p:txBody>
          <a:bodyPr wrap="square" anchor="ctr" lIns="0" rIns="0" tIns="0" bIns="0">
            <a:spAutoFit/>
          </a:bodyPr>
          <a:lstStyle/>
          <a:p>
            <a:r>
              <a:rPr sz="3000" i="0" b="1">
                <a:solidFill>
                  <a:srgbClr val="FFFFFF"/>
                </a:solidFill>
                <a:latin typeface="Calibri"/>
              </a:rPr>
              <a:t>Backup slides</a:t>
            </a:r>
          </a:p>
          <a:p>
            <a:r>
              <a:rPr sz="1600" i="0">
                <a:solidFill>
                  <a:srgbClr val="C3C2B7"/>
                </a:solidFill>
                <a:latin typeface="Calibri"/>
              </a:rPr>
              <a:t>For anticipated questions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92608"/>
            <a:ext cx="10515600" cy="274320"/>
          </a:xfrm>
          <a:prstGeom prst="rect">
            <a:avLst/>
          </a:prstGeom>
          <a:noFill/>
        </p:spPr>
        <p:txBody>
          <a:bodyPr wrap="square" anchor="t" lIns="0" rIns="0" tIns="0" bIns="0">
            <a:spAutoFit/>
          </a:bodyPr>
          <a:lstStyle/>
          <a:p>
            <a:r>
              <a:rPr sz="1200" i="0" b="1">
                <a:solidFill>
                  <a:srgbClr val="2A78D6"/>
                </a:solidFill>
                <a:latin typeface="Calibri"/>
              </a:rPr>
              <a:t>BACKUP</a:t>
            </a:r>
          </a:p>
        </p:txBody>
      </p:sp>
      <p:sp>
        <p:nvSpPr>
          <p:cNvPr id="3" name="TextBox 2"/>
          <p:cNvSpPr txBox="1"/>
          <p:nvPr/>
        </p:nvSpPr>
        <p:spPr>
          <a:xfrm>
            <a:off x="502920" y="566928"/>
            <a:ext cx="11155680" cy="685800"/>
          </a:xfrm>
          <a:prstGeom prst="rect">
            <a:avLst/>
          </a:prstGeom>
          <a:noFill/>
        </p:spPr>
        <p:txBody>
          <a:bodyPr wrap="square" anchor="t" lIns="0" rIns="0" tIns="0" bIns="0">
            <a:spAutoFit/>
          </a:bodyPr>
          <a:lstStyle/>
          <a:p>
            <a:r>
              <a:rPr sz="2600" i="0" b="1">
                <a:solidFill>
                  <a:srgbClr val="0B0B0B"/>
                </a:solidFill>
                <a:latin typeface="Calibri"/>
              </a:rPr>
              <a:t>Formal notation</a:t>
            </a:r>
          </a:p>
        </p:txBody>
      </p:sp>
      <p:sp>
        <p:nvSpPr>
          <p:cNvPr id="4" name="Rectangle 3"/>
          <p:cNvSpPr/>
          <p:nvPr/>
        </p:nvSpPr>
        <p:spPr>
          <a:xfrm>
            <a:off x="502920" y="1207008"/>
            <a:ext cx="100584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10607040" cy="4114800"/>
          </a:xfrm>
          <a:prstGeom prst="rect">
            <a:avLst/>
          </a:prstGeom>
          <a:noFill/>
        </p:spPr>
        <p:txBody>
          <a:bodyPr wrap="square" anchor="t" lIns="0" rIns="0" tIns="0" bIns="0">
            <a:spAutoFit/>
          </a:bodyPr>
          <a:lstStyle/>
          <a:p>
            <a:pPr>
              <a:spcAft>
                <a:spcPts val="1400"/>
              </a:spcAft>
            </a:pPr>
            <a:r>
              <a:rPr sz="1600" i="0">
                <a:solidFill>
                  <a:srgbClr val="0B0B0B"/>
                </a:solidFill>
                <a:latin typeface="Calibri"/>
              </a:rPr>
              <a:t>▪  Hazard:  h(t | z_i) = h_0(t) · exp(f(z_i))</a:t>
            </a:r>
          </a:p>
          <a:p>
            <a:pPr>
              <a:spcAft>
                <a:spcPts val="1400"/>
              </a:spcAft>
            </a:pPr>
            <a:r>
              <a:rPr sz="1600" i="0">
                <a:solidFill>
                  <a:srgbClr val="0B0B0B"/>
                </a:solidFill>
                <a:latin typeface="Calibri"/>
              </a:rPr>
              <a:t>▪  Survival:  S(t | z_i) = S_0(t) ^ exp(f(z_i))</a:t>
            </a:r>
          </a:p>
          <a:p>
            <a:pPr>
              <a:spcAft>
                <a:spcPts val="1400"/>
              </a:spcAft>
            </a:pPr>
            <a:r>
              <a:rPr sz="1600" i="0">
                <a:solidFill>
                  <a:srgbClr val="0B0B0B"/>
                </a:solidFill>
                <a:latin typeface="Calibri"/>
              </a:rPr>
              <a:t>▪  Cox partial log-likelihood over uncensored set D = {i : δ_i = 1}:</a:t>
            </a:r>
          </a:p>
          <a:p>
            <a:pPr lvl="1">
              <a:spcAft>
                <a:spcPts val="1400"/>
              </a:spcAft>
            </a:pPr>
            <a:r>
              <a:rPr sz="1500" i="0">
                <a:solidFill>
                  <a:srgbClr val="0B0B0B"/>
                </a:solidFill>
                <a:latin typeface="Calibri"/>
              </a:rPr>
              <a:t>–  L(θ) = Σᵢ [ f(z_i) − log( Σⱼ∈R(T_i) exp(f(z_j)) ) ],  R(t) = {j : T_j ≥ t}</a:t>
            </a:r>
          </a:p>
          <a:p>
            <a:pPr>
              <a:spcAft>
                <a:spcPts val="1400"/>
              </a:spcAft>
            </a:pPr>
            <a:r>
              <a:rPr sz="1600" i="0">
                <a:solidFill>
                  <a:srgbClr val="0B0B0B"/>
                </a:solidFill>
                <a:latin typeface="Calibri"/>
              </a:rPr>
              <a:t>▪  C-index over comparable pairs E = {(i,j): T_i&lt;T_j, δ_i=1}: fraction correctly ordered</a:t>
            </a:r>
          </a:p>
          <a:p>
            <a:pPr>
              <a:spcAft>
                <a:spcPts val="1400"/>
              </a:spcAft>
            </a:pPr>
            <a:r>
              <a:rPr sz="1600" i="0">
                <a:solidFill>
                  <a:srgbClr val="0B0B0B"/>
                </a:solidFill>
                <a:latin typeface="Calibri"/>
              </a:rPr>
              <a:t>▪  Quantile TTL:  TTL_q(z_i) = sup{t : S(t | z_i) ≥ q}, capped at 3,650 days</a:t>
            </a:r>
          </a:p>
        </p:txBody>
      </p:sp>
      <p:sp>
        <p:nvSpPr>
          <p:cNvPr id="6" name="Rectangle 5"/>
          <p:cNvSpPr/>
          <p:nvPr/>
        </p:nvSpPr>
        <p:spPr>
          <a:xfrm>
            <a:off x="0" y="6819900"/>
            <a:ext cx="1219169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486400" cy="274320"/>
          </a:xfrm>
          <a:prstGeom prst="rect">
            <a:avLst/>
          </a:prstGeom>
          <a:noFill/>
        </p:spPr>
        <p:txBody>
          <a:bodyPr wrap="square" anchor="t" lIns="0" rIns="0" tIns="0" bIns="0">
            <a:spAutoFit/>
          </a:bodyPr>
          <a:lstStyle/>
          <a:p>
            <a:r>
              <a:rPr sz="900" i="0">
                <a:solidFill>
                  <a:srgbClr val="898781"/>
                </a:solidFill>
                <a:latin typeface="Calibri"/>
              </a:rPr>
              <a:t>MemoryLifeBench  ·  Final Project Defense</a:t>
            </a:r>
          </a:p>
        </p:txBody>
      </p:sp>
      <p:sp>
        <p:nvSpPr>
          <p:cNvPr id="8" name="TextBox 7"/>
          <p:cNvSpPr txBox="1"/>
          <p:nvPr/>
        </p:nvSpPr>
        <p:spPr>
          <a:xfrm>
            <a:off x="11002975" y="6510528"/>
            <a:ext cx="731520" cy="274320"/>
          </a:xfrm>
          <a:prstGeom prst="rect">
            <a:avLst/>
          </a:prstGeom>
          <a:noFill/>
        </p:spPr>
        <p:txBody>
          <a:bodyPr wrap="square" anchor="t" lIns="0" rIns="0" tIns="0" bIns="0">
            <a:spAutoFit/>
          </a:bodyPr>
          <a:lstStyle/>
          <a:p>
            <a:pPr algn="r"/>
            <a:r>
              <a:rPr sz="900" i="0">
                <a:solidFill>
                  <a:srgbClr val="898781"/>
                </a:solidFill>
                <a:latin typeface="Calibri"/>
              </a:rPr>
              <a:t>33 / 36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92608"/>
            <a:ext cx="10515600" cy="274320"/>
          </a:xfrm>
          <a:prstGeom prst="rect">
            <a:avLst/>
          </a:prstGeom>
          <a:noFill/>
        </p:spPr>
        <p:txBody>
          <a:bodyPr wrap="square" anchor="t" lIns="0" rIns="0" tIns="0" bIns="0">
            <a:spAutoFit/>
          </a:bodyPr>
          <a:lstStyle/>
          <a:p>
            <a:r>
              <a:rPr sz="1200" i="0" b="1">
                <a:solidFill>
                  <a:srgbClr val="2A78D6"/>
                </a:solidFill>
                <a:latin typeface="Calibri"/>
              </a:rPr>
              <a:t>BACKUP</a:t>
            </a:r>
          </a:p>
        </p:txBody>
      </p:sp>
      <p:sp>
        <p:nvSpPr>
          <p:cNvPr id="3" name="TextBox 2"/>
          <p:cNvSpPr txBox="1"/>
          <p:nvPr/>
        </p:nvSpPr>
        <p:spPr>
          <a:xfrm>
            <a:off x="502920" y="566928"/>
            <a:ext cx="11155680" cy="685800"/>
          </a:xfrm>
          <a:prstGeom prst="rect">
            <a:avLst/>
          </a:prstGeom>
          <a:noFill/>
        </p:spPr>
        <p:txBody>
          <a:bodyPr wrap="square" anchor="t" lIns="0" rIns="0" tIns="0" bIns="0">
            <a:spAutoFit/>
          </a:bodyPr>
          <a:lstStyle/>
          <a:p>
            <a:r>
              <a:rPr sz="2600" i="0" b="1">
                <a:solidFill>
                  <a:srgbClr val="0B0B0B"/>
                </a:solidFill>
                <a:latin typeface="Calibri"/>
              </a:rPr>
              <a:t>All six eviction policies, formally</a:t>
            </a:r>
          </a:p>
        </p:txBody>
      </p:sp>
      <p:sp>
        <p:nvSpPr>
          <p:cNvPr id="4" name="Rectangle 3"/>
          <p:cNvSpPr/>
          <p:nvPr/>
        </p:nvSpPr>
        <p:spPr>
          <a:xfrm>
            <a:off x="502920" y="1207008"/>
            <a:ext cx="100584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02920" y="1600200"/>
          <a:ext cx="11155680" cy="3657600"/>
        </p:xfrm>
        <a:graphic>
          <a:graphicData uri="http://schemas.openxmlformats.org/drawingml/2006/table">
            <a:tbl>
              <a:tblPr firstRow="1" bandRow="1">
                <a:tableStyleId>{5C22544A-7EE6-4342-B048-85BDC9FD1C3A}</a:tableStyleId>
              </a:tblPr>
              <a:tblGrid>
                <a:gridCol w="2743200"/>
                <a:gridCol w="8412480"/>
              </a:tblGrid>
              <a:tr h="522514">
                <a:tc>
                  <a:txBody>
                    <a:bodyPr/>
                    <a:lstStyle/>
                    <a:p>
                      <a:r>
                        <a:rPr sz="1350" i="0" b="1">
                          <a:solidFill>
                            <a:srgbClr val="FFFFFF"/>
                          </a:solidFill>
                          <a:latin typeface="Calibri"/>
                        </a:rPr>
                        <a:t>Policy</a:t>
                      </a:r>
                    </a:p>
                  </a:txBody>
                  <a:tcPr anchor="ctr" marL="73152" marT="27432" marB="27432">
                    <a:solidFill>
                      <a:srgbClr val="2A78D6"/>
                    </a:solidFill>
                  </a:tcPr>
                </a:tc>
                <a:tc>
                  <a:txBody>
                    <a:bodyPr/>
                    <a:lstStyle/>
                    <a:p>
                      <a:r>
                        <a:rPr sz="1350" i="0" b="1">
                          <a:solidFill>
                            <a:srgbClr val="FFFFFF"/>
                          </a:solidFill>
                          <a:latin typeface="Calibri"/>
                        </a:rPr>
                        <a:t>Score / rule</a:t>
                      </a:r>
                    </a:p>
                  </a:txBody>
                  <a:tcPr anchor="ctr" marL="73152" marT="27432" marB="27432">
                    <a:solidFill>
                      <a:srgbClr val="2A78D6"/>
                    </a:solidFill>
                  </a:tcPr>
                </a:tc>
              </a:tr>
              <a:tr h="522514">
                <a:tc>
                  <a:txBody>
                    <a:bodyPr/>
                    <a:lstStyle/>
                    <a:p>
                      <a:r>
                        <a:rPr sz="1350" i="0">
                          <a:solidFill>
                            <a:srgbClr val="0B0B0B"/>
                          </a:solidFill>
                          <a:latin typeface="Calibri"/>
                        </a:rPr>
                        <a:t>no_forget</a:t>
                      </a:r>
                    </a:p>
                  </a:txBody>
                  <a:tcPr anchor="ctr" marL="73152" marT="18288" marB="18288">
                    <a:solidFill>
                      <a:srgbClr val="FFFFFF"/>
                    </a:solidFill>
                  </a:tcPr>
                </a:tc>
                <a:tc>
                  <a:txBody>
                    <a:bodyPr/>
                    <a:lstStyle/>
                    <a:p>
                      <a:r>
                        <a:rPr sz="1350" i="0">
                          <a:solidFill>
                            <a:srgbClr val="0B0B0B"/>
                          </a:solidFill>
                          <a:latin typeface="Calibri"/>
                        </a:rPr>
                        <a:t>Retain everything</a:t>
                      </a:r>
                    </a:p>
                  </a:txBody>
                  <a:tcPr anchor="ctr" marL="73152" marT="18288" marB="18288">
                    <a:solidFill>
                      <a:srgbClr val="FFFFFF"/>
                    </a:solidFill>
                  </a:tcPr>
                </a:tc>
              </a:tr>
              <a:tr h="522514">
                <a:tc>
                  <a:txBody>
                    <a:bodyPr/>
                    <a:lstStyle/>
                    <a:p>
                      <a:r>
                        <a:rPr sz="1350" i="0">
                          <a:solidFill>
                            <a:srgbClr val="0B0B0B"/>
                          </a:solidFill>
                          <a:latin typeface="Calibri"/>
                        </a:rPr>
                        <a:t>fifo</a:t>
                      </a:r>
                    </a:p>
                  </a:txBody>
                  <a:tcPr anchor="ctr" marL="73152" marT="18288" marB="18288">
                    <a:solidFill>
                      <a:srgbClr val="FCFCFB"/>
                    </a:solidFill>
                  </a:tcPr>
                </a:tc>
                <a:tc>
                  <a:txBody>
                    <a:bodyPr/>
                    <a:lstStyle/>
                    <a:p>
                      <a:r>
                        <a:rPr sz="1350" i="0">
                          <a:solidFill>
                            <a:srgbClr val="0B0B0B"/>
                          </a:solidFill>
                          <a:latin typeface="Calibri"/>
                        </a:rPr>
                        <a:t>top-N by created_at(o)</a:t>
                      </a:r>
                    </a:p>
                  </a:txBody>
                  <a:tcPr anchor="ctr" marL="73152" marT="18288" marB="18288">
                    <a:solidFill>
                      <a:srgbClr val="FCFCFB"/>
                    </a:solidFill>
                  </a:tcPr>
                </a:tc>
              </a:tr>
              <a:tr h="522514">
                <a:tc>
                  <a:txBody>
                    <a:bodyPr/>
                    <a:lstStyle/>
                    <a:p>
                      <a:r>
                        <a:rPr sz="1350" i="0">
                          <a:solidFill>
                            <a:srgbClr val="0B0B0B"/>
                          </a:solidFill>
                          <a:latin typeface="Calibri"/>
                        </a:rPr>
                        <a:t>lru</a:t>
                      </a:r>
                    </a:p>
                  </a:txBody>
                  <a:tcPr anchor="ctr" marL="73152" marT="18288" marB="18288">
                    <a:solidFill>
                      <a:srgbClr val="FFFFFF"/>
                    </a:solidFill>
                  </a:tcPr>
                </a:tc>
                <a:tc>
                  <a:txBody>
                    <a:bodyPr/>
                    <a:lstStyle/>
                    <a:p>
                      <a:r>
                        <a:rPr sz="1350" i="0">
                          <a:solidFill>
                            <a:srgbClr val="0B0B0B"/>
                          </a:solidFill>
                          <a:latin typeface="Calibri"/>
                        </a:rPr>
                        <a:t>top-N by last_referenced(o), −∞ if never referenced</a:t>
                      </a:r>
                    </a:p>
                  </a:txBody>
                  <a:tcPr anchor="ctr" marL="73152" marT="18288" marB="18288">
                    <a:solidFill>
                      <a:srgbClr val="FFFFFF"/>
                    </a:solidFill>
                  </a:tcPr>
                </a:tc>
              </a:tr>
              <a:tr h="522514">
                <a:tc>
                  <a:txBody>
                    <a:bodyPr/>
                    <a:lstStyle/>
                    <a:p>
                      <a:r>
                        <a:rPr sz="1350" i="0">
                          <a:solidFill>
                            <a:srgbClr val="0B0B0B"/>
                          </a:solidFill>
                          <a:latin typeface="Calibri"/>
                        </a:rPr>
                        <a:t>ours (original)</a:t>
                      </a:r>
                    </a:p>
                  </a:txBody>
                  <a:tcPr anchor="ctr" marL="73152" marT="18288" marB="18288">
                    <a:solidFill>
                      <a:srgbClr val="FCFCFB"/>
                    </a:solidFill>
                  </a:tcPr>
                </a:tc>
                <a:tc>
                  <a:txBody>
                    <a:bodyPr/>
                    <a:lstStyle/>
                    <a:p>
                      <a:r>
                        <a:rPr sz="1350" i="0">
                          <a:solidFill>
                            <a:srgbClr val="0B0B0B"/>
                          </a:solidFill>
                          <a:latin typeface="Calibri"/>
                        </a:rPr>
                        <a:t>action(o) ≠ forget AND age(o,t) ≤ predicted_ttl(o) — independent per-memory threshold</a:t>
                      </a:r>
                    </a:p>
                  </a:txBody>
                  <a:tcPr anchor="ctr" marL="73152" marT="18288" marB="18288">
                    <a:solidFill>
                      <a:srgbClr val="FCFCFB"/>
                    </a:solidFill>
                  </a:tcPr>
                </a:tc>
              </a:tr>
              <a:tr h="522514">
                <a:tc>
                  <a:txBody>
                    <a:bodyPr/>
                    <a:lstStyle/>
                    <a:p>
                      <a:r>
                        <a:rPr sz="1350" i="0">
                          <a:solidFill>
                            <a:srgbClr val="0B0B0B"/>
                          </a:solidFill>
                          <a:latin typeface="Calibri"/>
                        </a:rPr>
                        <a:t>ours_utility (the fix)</a:t>
                      </a:r>
                    </a:p>
                  </a:txBody>
                  <a:tcPr anchor="ctr" marL="73152" marT="18288" marB="18288">
                    <a:solidFill>
                      <a:srgbClr val="FFFFFF"/>
                    </a:solidFill>
                  </a:tcPr>
                </a:tc>
                <a:tc>
                  <a:txBody>
                    <a:bodyPr/>
                    <a:lstStyle/>
                    <a:p>
                      <a:r>
                        <a:rPr sz="1350" i="0">
                          <a:solidFill>
                            <a:srgbClr val="0B0B0B"/>
                          </a:solidFill>
                          <a:latin typeface="Calibri"/>
                        </a:rPr>
                        <a:t>top-N by utility_prob(o)</a:t>
                      </a:r>
                    </a:p>
                  </a:txBody>
                  <a:tcPr anchor="ctr" marL="73152" marT="18288" marB="18288">
                    <a:solidFill>
                      <a:srgbClr val="FFFFFF"/>
                    </a:solidFill>
                  </a:tcPr>
                </a:tc>
              </a:tr>
              <a:tr h="522516">
                <a:tc>
                  <a:txBody>
                    <a:bodyPr/>
                    <a:lstStyle/>
                    <a:p>
                      <a:r>
                        <a:rPr sz="1350" i="0">
                          <a:solidFill>
                            <a:srgbClr val="0B0B0B"/>
                          </a:solidFill>
                          <a:latin typeface="Calibri"/>
                        </a:rPr>
                        <a:t>ours_combo</a:t>
                      </a:r>
                    </a:p>
                  </a:txBody>
                  <a:tcPr anchor="ctr" marL="73152" marT="18288" marB="18288">
                    <a:solidFill>
                      <a:srgbClr val="FCFCFB"/>
                    </a:solidFill>
                  </a:tcPr>
                </a:tc>
                <a:tc>
                  <a:txBody>
                    <a:bodyPr/>
                    <a:lstStyle/>
                    <a:p>
                      <a:r>
                        <a:rPr sz="1350" i="0">
                          <a:solidFill>
                            <a:srgbClr val="0B0B0B"/>
                          </a:solidFill>
                          <a:latin typeface="Calibri"/>
                        </a:rPr>
                        <a:t>top-N by 0.5·utility_prob(o) + 0.5·remaining_life_fraction(o,t) — underperforms pure utility</a:t>
                      </a:r>
                    </a:p>
                  </a:txBody>
                  <a:tcPr anchor="ctr" marL="73152" marT="18288" marB="18288">
                    <a:solidFill>
                      <a:srgbClr val="FCFCFB"/>
                    </a:solidFill>
                  </a:tcPr>
                </a:tc>
              </a:tr>
            </a:tbl>
          </a:graphicData>
        </a:graphic>
      </p:graphicFrame>
      <p:sp>
        <p:nvSpPr>
          <p:cNvPr id="6" name="Rectangle 5"/>
          <p:cNvSpPr/>
          <p:nvPr/>
        </p:nvSpPr>
        <p:spPr>
          <a:xfrm>
            <a:off x="0" y="6819900"/>
            <a:ext cx="1219169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486400" cy="274320"/>
          </a:xfrm>
          <a:prstGeom prst="rect">
            <a:avLst/>
          </a:prstGeom>
          <a:noFill/>
        </p:spPr>
        <p:txBody>
          <a:bodyPr wrap="square" anchor="t" lIns="0" rIns="0" tIns="0" bIns="0">
            <a:spAutoFit/>
          </a:bodyPr>
          <a:lstStyle/>
          <a:p>
            <a:r>
              <a:rPr sz="900" i="0">
                <a:solidFill>
                  <a:srgbClr val="898781"/>
                </a:solidFill>
                <a:latin typeface="Calibri"/>
              </a:rPr>
              <a:t>MemoryLifeBench  ·  Final Project Defense</a:t>
            </a:r>
          </a:p>
        </p:txBody>
      </p:sp>
      <p:sp>
        <p:nvSpPr>
          <p:cNvPr id="8" name="TextBox 7"/>
          <p:cNvSpPr txBox="1"/>
          <p:nvPr/>
        </p:nvSpPr>
        <p:spPr>
          <a:xfrm>
            <a:off x="11002975" y="6510528"/>
            <a:ext cx="731520" cy="274320"/>
          </a:xfrm>
          <a:prstGeom prst="rect">
            <a:avLst/>
          </a:prstGeom>
          <a:noFill/>
        </p:spPr>
        <p:txBody>
          <a:bodyPr wrap="square" anchor="t" lIns="0" rIns="0" tIns="0" bIns="0">
            <a:spAutoFit/>
          </a:bodyPr>
          <a:lstStyle/>
          <a:p>
            <a:pPr algn="r"/>
            <a:r>
              <a:rPr sz="900" i="0">
                <a:solidFill>
                  <a:srgbClr val="898781"/>
                </a:solidFill>
                <a:latin typeface="Calibri"/>
              </a:rPr>
              <a:t>34 / 36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92608"/>
            <a:ext cx="10515600" cy="274320"/>
          </a:xfrm>
          <a:prstGeom prst="rect">
            <a:avLst/>
          </a:prstGeom>
          <a:noFill/>
        </p:spPr>
        <p:txBody>
          <a:bodyPr wrap="square" anchor="t" lIns="0" rIns="0" tIns="0" bIns="0">
            <a:spAutoFit/>
          </a:bodyPr>
          <a:lstStyle/>
          <a:p>
            <a:r>
              <a:rPr sz="1200" i="0" b="1">
                <a:solidFill>
                  <a:srgbClr val="2A78D6"/>
                </a:solidFill>
                <a:latin typeface="Calibri"/>
              </a:rPr>
              <a:t>BACKUP</a:t>
            </a:r>
          </a:p>
        </p:txBody>
      </p:sp>
      <p:sp>
        <p:nvSpPr>
          <p:cNvPr id="3" name="TextBox 2"/>
          <p:cNvSpPr txBox="1"/>
          <p:nvPr/>
        </p:nvSpPr>
        <p:spPr>
          <a:xfrm>
            <a:off x="502920" y="566928"/>
            <a:ext cx="11155680" cy="685800"/>
          </a:xfrm>
          <a:prstGeom prst="rect">
            <a:avLst/>
          </a:prstGeom>
          <a:noFill/>
        </p:spPr>
        <p:txBody>
          <a:bodyPr wrap="square" anchor="t" lIns="0" rIns="0" tIns="0" bIns="0">
            <a:spAutoFit/>
          </a:bodyPr>
          <a:lstStyle/>
          <a:p>
            <a:r>
              <a:rPr sz="2600" i="0" b="1">
                <a:solidFill>
                  <a:srgbClr val="0B0B0B"/>
                </a:solidFill>
                <a:latin typeface="Calibri"/>
              </a:rPr>
              <a:t>Mem0 integration: cost &amp; confounds</a:t>
            </a:r>
          </a:p>
        </p:txBody>
      </p:sp>
      <p:sp>
        <p:nvSpPr>
          <p:cNvPr id="4" name="Rectangle 3"/>
          <p:cNvSpPr/>
          <p:nvPr/>
        </p:nvSpPr>
        <p:spPr>
          <a:xfrm>
            <a:off x="502920" y="1207008"/>
            <a:ext cx="100584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10607040" cy="4572000"/>
          </a:xfrm>
          <a:prstGeom prst="rect">
            <a:avLst/>
          </a:prstGeom>
          <a:noFill/>
        </p:spPr>
        <p:txBody>
          <a:bodyPr wrap="square" anchor="t" lIns="0" rIns="0" tIns="0" bIns="0">
            <a:spAutoFit/>
          </a:bodyPr>
          <a:lstStyle/>
          <a:p>
            <a:pPr>
              <a:spcAft>
                <a:spcPts val="1000"/>
              </a:spcAft>
            </a:pPr>
            <a:r>
              <a:rPr sz="1550" i="0">
                <a:solidFill>
                  <a:srgbClr val="0B0B0B"/>
                </a:solidFill>
                <a:latin typeface="Calibri"/>
              </a:rPr>
              <a:t>▪  Real calibration: 60 turns, $0.6381 spent → $0.01063/turn → </a:t>
            </a:r>
            <a:r>
              <a:rPr b="1" sz="1550" i="0">
                <a:solidFill>
                  <a:srgbClr val="0B0B0B"/>
                </a:solidFill>
                <a:latin typeface="Calibri"/>
              </a:rPr>
              <a:t>$62.55 extrapolated</a:t>
            </a:r>
            <a:r>
              <a:rPr sz="1550" i="0">
                <a:solidFill>
                  <a:srgbClr val="0B0B0B"/>
                </a:solidFill>
                <a:latin typeface="Calibri"/>
              </a:rPr>
              <a:t> for full GPT-4o indexing of all 5,882 turns</a:t>
            </a:r>
          </a:p>
          <a:p>
            <a:pPr>
              <a:spcAft>
                <a:spcPts val="1000"/>
              </a:spcAft>
            </a:pPr>
            <a:r>
              <a:rPr sz="1550" i="0">
                <a:solidFill>
                  <a:srgbClr val="0B0B0B"/>
                </a:solidFill>
                <a:latin typeface="Calibri"/>
              </a:rPr>
              <a:t>▪  Budget-infeasible for a self-funded project — substituted a free, self-hosted local Qwen2.5-7B for Mem0's own extraction calls only</a:t>
            </a:r>
          </a:p>
          <a:p>
            <a:pPr>
              <a:spcAft>
                <a:spcPts val="1000"/>
              </a:spcAft>
            </a:pPr>
            <a:r>
              <a:rPr sz="1550" i="0">
                <a:solidFill>
                  <a:srgbClr val="0B0B0B"/>
                </a:solidFill>
                <a:latin typeface="Calibri"/>
              </a:rPr>
              <a:t>▪  QA-answering step stayed on real GPT-4o throughout, for a fair comparison basis</a:t>
            </a:r>
          </a:p>
          <a:p>
            <a:pPr>
              <a:spcAft>
                <a:spcPts val="1000"/>
              </a:spcAft>
            </a:pPr>
            <a:r>
              <a:rPr sz="1550" i="0">
                <a:solidFill>
                  <a:srgbClr val="0B0B0B"/>
                </a:solidFill>
                <a:latin typeface="Calibri"/>
              </a:rPr>
              <a:t>▪  Two disclosed confounds:</a:t>
            </a:r>
          </a:p>
          <a:p>
            <a:pPr lvl="1">
              <a:spcAft>
                <a:spcPts val="1000"/>
              </a:spcAft>
            </a:pPr>
            <a:r>
              <a:rPr sz="1450" i="0">
                <a:solidFill>
                  <a:srgbClr val="0B0B0B"/>
                </a:solidFill>
                <a:latin typeface="Calibri"/>
              </a:rPr>
              <a:t>–  No working timestamp parameter in Mem0's open-source release — local model once resolved “yesterday” to 2026 instead of the conversation's true 2023</a:t>
            </a:r>
          </a:p>
          <a:p>
            <a:pPr lvl="1">
              <a:spcAft>
                <a:spcPts val="1000"/>
              </a:spcAft>
            </a:pPr>
            <a:r>
              <a:rPr sz="1450" i="0">
                <a:solidFill>
                  <a:srgbClr val="0B0B0B"/>
                </a:solidFill>
                <a:latin typeface="Calibri"/>
              </a:rPr>
              <a:t>–  195 of 5,882 indexing calls (3.3%) produced malformed JSON, silently contributing zero memories for that turn</a:t>
            </a:r>
          </a:p>
        </p:txBody>
      </p:sp>
      <p:sp>
        <p:nvSpPr>
          <p:cNvPr id="6" name="Rectangle 5"/>
          <p:cNvSpPr/>
          <p:nvPr/>
        </p:nvSpPr>
        <p:spPr>
          <a:xfrm>
            <a:off x="0" y="6819900"/>
            <a:ext cx="1219169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486400" cy="274320"/>
          </a:xfrm>
          <a:prstGeom prst="rect">
            <a:avLst/>
          </a:prstGeom>
          <a:noFill/>
        </p:spPr>
        <p:txBody>
          <a:bodyPr wrap="square" anchor="t" lIns="0" rIns="0" tIns="0" bIns="0">
            <a:spAutoFit/>
          </a:bodyPr>
          <a:lstStyle/>
          <a:p>
            <a:r>
              <a:rPr sz="900" i="0">
                <a:solidFill>
                  <a:srgbClr val="898781"/>
                </a:solidFill>
                <a:latin typeface="Calibri"/>
              </a:rPr>
              <a:t>MemoryLifeBench  ·  Final Project Defense</a:t>
            </a:r>
          </a:p>
        </p:txBody>
      </p:sp>
      <p:sp>
        <p:nvSpPr>
          <p:cNvPr id="8" name="TextBox 7"/>
          <p:cNvSpPr txBox="1"/>
          <p:nvPr/>
        </p:nvSpPr>
        <p:spPr>
          <a:xfrm>
            <a:off x="11002975" y="6510528"/>
            <a:ext cx="731520" cy="274320"/>
          </a:xfrm>
          <a:prstGeom prst="rect">
            <a:avLst/>
          </a:prstGeom>
          <a:noFill/>
        </p:spPr>
        <p:txBody>
          <a:bodyPr wrap="square" anchor="t" lIns="0" rIns="0" tIns="0" bIns="0">
            <a:spAutoFit/>
          </a:bodyPr>
          <a:lstStyle/>
          <a:p>
            <a:pPr algn="r"/>
            <a:r>
              <a:rPr sz="900" i="0">
                <a:solidFill>
                  <a:srgbClr val="898781"/>
                </a:solidFill>
                <a:latin typeface="Calibri"/>
              </a:rPr>
              <a:t>35 / 36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9F9F7"/>
        </a:solidFill>
        <a:effectLst/>
      </p:bgPr>
    </p:bg>
    <p:spTree>
      <p:nvGrpSpPr>
        <p:cNvPr id="1" name=""/>
        <p:cNvGrpSpPr/>
        <p:nvPr/>
      </p:nvGrpSpPr>
      <p:grpSpPr/>
      <p:sp>
        <p:nvSpPr>
          <p:cNvPr id="2" name="TextBox 1"/>
          <p:cNvSpPr txBox="1"/>
          <p:nvPr/>
        </p:nvSpPr>
        <p:spPr>
          <a:xfrm>
            <a:off x="502920" y="292608"/>
            <a:ext cx="10515600" cy="274320"/>
          </a:xfrm>
          <a:prstGeom prst="rect">
            <a:avLst/>
          </a:prstGeom>
          <a:noFill/>
        </p:spPr>
        <p:txBody>
          <a:bodyPr wrap="square" anchor="t" lIns="0" rIns="0" tIns="0" bIns="0">
            <a:spAutoFit/>
          </a:bodyPr>
          <a:lstStyle/>
          <a:p>
            <a:r>
              <a:rPr sz="1200" i="0" b="1">
                <a:solidFill>
                  <a:srgbClr val="2A78D6"/>
                </a:solidFill>
                <a:latin typeface="Calibri"/>
              </a:rPr>
              <a:t>BACKUP</a:t>
            </a:r>
          </a:p>
        </p:txBody>
      </p:sp>
      <p:sp>
        <p:nvSpPr>
          <p:cNvPr id="3" name="TextBox 2"/>
          <p:cNvSpPr txBox="1"/>
          <p:nvPr/>
        </p:nvSpPr>
        <p:spPr>
          <a:xfrm>
            <a:off x="502920" y="566928"/>
            <a:ext cx="11155680" cy="685800"/>
          </a:xfrm>
          <a:prstGeom prst="rect">
            <a:avLst/>
          </a:prstGeom>
          <a:noFill/>
        </p:spPr>
        <p:txBody>
          <a:bodyPr wrap="square" anchor="t" lIns="0" rIns="0" tIns="0" bIns="0">
            <a:spAutoFit/>
          </a:bodyPr>
          <a:lstStyle/>
          <a:p>
            <a:r>
              <a:rPr sz="2600" i="0" b="1">
                <a:solidFill>
                  <a:srgbClr val="0B0B0B"/>
                </a:solidFill>
                <a:latin typeface="Calibri"/>
              </a:rPr>
              <a:t>Reproducibility</a:t>
            </a:r>
          </a:p>
        </p:txBody>
      </p:sp>
      <p:sp>
        <p:nvSpPr>
          <p:cNvPr id="4" name="Rectangle 3"/>
          <p:cNvSpPr/>
          <p:nvPr/>
        </p:nvSpPr>
        <p:spPr>
          <a:xfrm>
            <a:off x="502920" y="1207008"/>
            <a:ext cx="1005840"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10607040" cy="3840480"/>
          </a:xfrm>
          <a:prstGeom prst="rect">
            <a:avLst/>
          </a:prstGeom>
          <a:noFill/>
        </p:spPr>
        <p:txBody>
          <a:bodyPr wrap="square" anchor="t" lIns="0" rIns="0" tIns="0" bIns="0">
            <a:spAutoFit/>
          </a:bodyPr>
          <a:lstStyle/>
          <a:p>
            <a:pPr>
              <a:spcAft>
                <a:spcPts val="1800"/>
              </a:spcAft>
            </a:pPr>
            <a:r>
              <a:rPr sz="1700" i="0">
                <a:solidFill>
                  <a:srgbClr val="0B0B0B"/>
                </a:solidFill>
                <a:latin typeface="Calibri"/>
              </a:rPr>
              <a:t>▪  5 seeds (survival model) / 3 seeds (joint model) — all reported means include standard deviation</a:t>
            </a:r>
          </a:p>
          <a:p>
            <a:pPr>
              <a:spcAft>
                <a:spcPts val="1800"/>
              </a:spcAft>
            </a:pPr>
            <a:r>
              <a:rPr sz="1700" i="0">
                <a:solidFill>
                  <a:srgbClr val="0B0B0B"/>
                </a:solidFill>
                <a:latin typeface="Calibri"/>
              </a:rPr>
              <a:t>▪  51 unit tests (31 added during the downstream-evaluation phase)</a:t>
            </a:r>
          </a:p>
          <a:p>
            <a:pPr>
              <a:spcAft>
                <a:spcPts val="1800"/>
              </a:spcAft>
            </a:pPr>
            <a:r>
              <a:rPr sz="1700" i="0">
                <a:solidFill>
                  <a:srgbClr val="0B0B0B"/>
                </a:solidFill>
                <a:latin typeface="Calibri"/>
              </a:rPr>
              <a:t>▪  Every prompt used in this work reproduced verbatim in the manuscript's Appendix C</a:t>
            </a:r>
          </a:p>
          <a:p>
            <a:pPr>
              <a:spcAft>
                <a:spcPts val="1800"/>
              </a:spcAft>
            </a:pPr>
            <a:r>
              <a:rPr sz="1700" i="0">
                <a:solidFill>
                  <a:srgbClr val="0B0B0B"/>
                </a:solidFill>
                <a:latin typeface="Calibri"/>
              </a:rPr>
              <a:t>▪  Code released under the MIT license; data under CC BY-NC 4.0 (attribution to LoCoMo and LongMemEval required)</a:t>
            </a:r>
          </a:p>
        </p:txBody>
      </p:sp>
      <p:sp>
        <p:nvSpPr>
          <p:cNvPr id="6" name="Rectangle 5"/>
          <p:cNvSpPr/>
          <p:nvPr/>
        </p:nvSpPr>
        <p:spPr>
          <a:xfrm>
            <a:off x="0" y="6819900"/>
            <a:ext cx="12191695" cy="381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486400" cy="274320"/>
          </a:xfrm>
          <a:prstGeom prst="rect">
            <a:avLst/>
          </a:prstGeom>
          <a:noFill/>
        </p:spPr>
        <p:txBody>
          <a:bodyPr wrap="square" anchor="t" lIns="0" rIns="0" tIns="0" bIns="0">
            <a:spAutoFit/>
          </a:bodyPr>
          <a:lstStyle/>
          <a:p>
            <a:r>
              <a:rPr sz="900" i="0">
                <a:solidFill>
                  <a:srgbClr val="898781"/>
                </a:solidFill>
                <a:latin typeface="Calibri"/>
              </a:rPr>
              <a:t>MemoryLifeBench  ·  Final Project Defense</a:t>
            </a:r>
          </a:p>
        </p:txBody>
      </p:sp>
      <p:sp>
        <p:nvSpPr>
          <p:cNvPr id="8" name="TextBox 7"/>
          <p:cNvSpPr txBox="1"/>
          <p:nvPr/>
        </p:nvSpPr>
        <p:spPr>
          <a:xfrm>
            <a:off x="11002975" y="6510528"/>
            <a:ext cx="731520" cy="274320"/>
          </a:xfrm>
          <a:prstGeom prst="rect">
            <a:avLst/>
          </a:prstGeom>
          <a:noFill/>
        </p:spPr>
        <p:txBody>
          <a:bodyPr wrap="square" anchor="t" lIns="0" rIns="0" tIns="0" bIns="0">
            <a:spAutoFit/>
          </a:bodyPr>
          <a:lstStyle/>
          <a:p>
            <a:pPr algn="r"/>
            <a:r>
              <a:rPr sz="900" i="0">
                <a:solidFill>
                  <a:srgbClr val="898781"/>
                </a:solidFill>
                <a:latin typeface="Calibri"/>
              </a:rPr>
              <a:t>36 / 36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